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handoutMasterIdLst>
    <p:handoutMasterId r:id="rId21"/>
  </p:handoutMasterIdLst>
  <p:sldIdLst>
    <p:sldId id="468" r:id="rId2"/>
    <p:sldId id="547" r:id="rId3"/>
    <p:sldId id="548" r:id="rId4"/>
    <p:sldId id="549" r:id="rId5"/>
    <p:sldId id="550" r:id="rId6"/>
    <p:sldId id="552" r:id="rId7"/>
    <p:sldId id="551" r:id="rId8"/>
    <p:sldId id="553" r:id="rId9"/>
    <p:sldId id="554" r:id="rId10"/>
    <p:sldId id="555" r:id="rId11"/>
    <p:sldId id="556" r:id="rId12"/>
    <p:sldId id="557" r:id="rId13"/>
    <p:sldId id="558" r:id="rId14"/>
    <p:sldId id="559" r:id="rId15"/>
    <p:sldId id="560" r:id="rId16"/>
    <p:sldId id="561" r:id="rId17"/>
    <p:sldId id="562" r:id="rId18"/>
    <p:sldId id="563" r:id="rId1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AE376DE7-BB25-4CB8-BE6D-2E17615FF690}">
          <p14:sldIdLst>
            <p14:sldId id="468"/>
            <p14:sldId id="547"/>
            <p14:sldId id="548"/>
            <p14:sldId id="549"/>
            <p14:sldId id="550"/>
            <p14:sldId id="552"/>
            <p14:sldId id="551"/>
            <p14:sldId id="553"/>
            <p14:sldId id="554"/>
            <p14:sldId id="555"/>
            <p14:sldId id="556"/>
            <p14:sldId id="557"/>
            <p14:sldId id="558"/>
            <p14:sldId id="559"/>
            <p14:sldId id="560"/>
            <p14:sldId id="561"/>
            <p14:sldId id="562"/>
            <p14:sldId id="56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IEL DAVID BENAVIDES SANCHEZ" initials="DDBS" lastIdx="1" clrIdx="0">
    <p:extLst>
      <p:ext uri="{19B8F6BF-5375-455C-9EA6-DF929625EA0E}">
        <p15:presenceInfo xmlns:p15="http://schemas.microsoft.com/office/powerpoint/2012/main" userId="DANIEL DAVID BENAVIDES SANCHE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5EA"/>
    <a:srgbClr val="38AA00"/>
    <a:srgbClr val="FFFFFF"/>
    <a:srgbClr val="766363"/>
    <a:srgbClr val="00324D"/>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A0472C-E42D-409B-8C27-DB2E802EEC81}" v="33" dt="2022-10-19T17:09:15.35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p:restoredTop sz="86369"/>
  </p:normalViewPr>
  <p:slideViewPr>
    <p:cSldViewPr snapToGrid="0">
      <p:cViewPr varScale="1">
        <p:scale>
          <a:sx n="71" d="100"/>
          <a:sy n="71" d="100"/>
        </p:scale>
        <p:origin x="1032" y="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2/07/2024</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2/07/2024</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extLst>
      <p:ext uri="{BB962C8B-B14F-4D97-AF65-F5344CB8AC3E}">
        <p14:creationId xmlns:p14="http://schemas.microsoft.com/office/powerpoint/2010/main" val="117892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7</a:t>
            </a:fld>
            <a:endParaRPr lang="es-CO"/>
          </a:p>
        </p:txBody>
      </p:sp>
    </p:spTree>
    <p:extLst>
      <p:ext uri="{BB962C8B-B14F-4D97-AF65-F5344CB8AC3E}">
        <p14:creationId xmlns:p14="http://schemas.microsoft.com/office/powerpoint/2010/main" val="1453394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8</a:t>
            </a:fld>
            <a:endParaRPr lang="es-CO"/>
          </a:p>
        </p:txBody>
      </p:sp>
    </p:spTree>
    <p:extLst>
      <p:ext uri="{BB962C8B-B14F-4D97-AF65-F5344CB8AC3E}">
        <p14:creationId xmlns:p14="http://schemas.microsoft.com/office/powerpoint/2010/main" val="1461651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9</a:t>
            </a:fld>
            <a:endParaRPr lang="es-CO"/>
          </a:p>
        </p:txBody>
      </p:sp>
    </p:spTree>
    <p:extLst>
      <p:ext uri="{BB962C8B-B14F-4D97-AF65-F5344CB8AC3E}">
        <p14:creationId xmlns:p14="http://schemas.microsoft.com/office/powerpoint/2010/main" val="496319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10</a:t>
            </a:fld>
            <a:endParaRPr lang="es-CO"/>
          </a:p>
        </p:txBody>
      </p:sp>
    </p:spTree>
    <p:extLst>
      <p:ext uri="{BB962C8B-B14F-4D97-AF65-F5344CB8AC3E}">
        <p14:creationId xmlns:p14="http://schemas.microsoft.com/office/powerpoint/2010/main" val="2923700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11</a:t>
            </a:fld>
            <a:endParaRPr lang="es-CO"/>
          </a:p>
        </p:txBody>
      </p:sp>
    </p:spTree>
    <p:extLst>
      <p:ext uri="{BB962C8B-B14F-4D97-AF65-F5344CB8AC3E}">
        <p14:creationId xmlns:p14="http://schemas.microsoft.com/office/powerpoint/2010/main" val="4009008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12</a:t>
            </a:fld>
            <a:endParaRPr lang="es-CO"/>
          </a:p>
        </p:txBody>
      </p:sp>
    </p:spTree>
    <p:extLst>
      <p:ext uri="{BB962C8B-B14F-4D97-AF65-F5344CB8AC3E}">
        <p14:creationId xmlns:p14="http://schemas.microsoft.com/office/powerpoint/2010/main" val="3269050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13</a:t>
            </a:fld>
            <a:endParaRPr lang="es-CO"/>
          </a:p>
        </p:txBody>
      </p:sp>
    </p:spTree>
    <p:extLst>
      <p:ext uri="{BB962C8B-B14F-4D97-AF65-F5344CB8AC3E}">
        <p14:creationId xmlns:p14="http://schemas.microsoft.com/office/powerpoint/2010/main" val="447488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14</a:t>
            </a:fld>
            <a:endParaRPr lang="es-CO"/>
          </a:p>
        </p:txBody>
      </p:sp>
    </p:spTree>
    <p:extLst>
      <p:ext uri="{BB962C8B-B14F-4D97-AF65-F5344CB8AC3E}">
        <p14:creationId xmlns:p14="http://schemas.microsoft.com/office/powerpoint/2010/main" val="596602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15</a:t>
            </a:fld>
            <a:endParaRPr lang="es-CO"/>
          </a:p>
        </p:txBody>
      </p:sp>
    </p:spTree>
    <p:extLst>
      <p:ext uri="{BB962C8B-B14F-4D97-AF65-F5344CB8AC3E}">
        <p14:creationId xmlns:p14="http://schemas.microsoft.com/office/powerpoint/2010/main" val="10947620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16</a:t>
            </a:fld>
            <a:endParaRPr lang="es-CO"/>
          </a:p>
        </p:txBody>
      </p:sp>
    </p:spTree>
    <p:extLst>
      <p:ext uri="{BB962C8B-B14F-4D97-AF65-F5344CB8AC3E}">
        <p14:creationId xmlns:p14="http://schemas.microsoft.com/office/powerpoint/2010/main" val="1115808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17</a:t>
            </a:fld>
            <a:endParaRPr lang="es-CO"/>
          </a:p>
        </p:txBody>
      </p:sp>
    </p:spTree>
    <p:extLst>
      <p:ext uri="{BB962C8B-B14F-4D97-AF65-F5344CB8AC3E}">
        <p14:creationId xmlns:p14="http://schemas.microsoft.com/office/powerpoint/2010/main" val="2424361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18</a:t>
            </a:fld>
            <a:endParaRPr lang="es-CO"/>
          </a:p>
        </p:txBody>
      </p:sp>
    </p:spTree>
    <p:extLst>
      <p:ext uri="{BB962C8B-B14F-4D97-AF65-F5344CB8AC3E}">
        <p14:creationId xmlns:p14="http://schemas.microsoft.com/office/powerpoint/2010/main" val="3196574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2/07/2024</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2/07/2024</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2/07/2024</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2/07/2024</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2/07/2024</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2/07/2024</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2/07/2024</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2/07/2024</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2/07/2024</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2/07/2024</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2/07/2024</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2/07/2024</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3" name="Imagen 2" descr="Interfaz de usuario gráfica, Texto, Aplicación&#10;&#10;Descripción generada automáticamente">
            <a:extLst>
              <a:ext uri="{FF2B5EF4-FFF2-40B4-BE49-F238E27FC236}">
                <a16:creationId xmlns:a16="http://schemas.microsoft.com/office/drawing/2014/main" id="{7DFF890D-F3AC-9928-32A3-F179DB21A0E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494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2/07/2024</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2286781" y="2003197"/>
            <a:ext cx="7620000" cy="646331"/>
          </a:xfrm>
          <a:prstGeom prst="rect">
            <a:avLst/>
          </a:prstGeom>
          <a:noFill/>
        </p:spPr>
        <p:txBody>
          <a:bodyPr wrap="square" rtlCol="0">
            <a:spAutoFit/>
          </a:bodyPr>
          <a:lstStyle/>
          <a:p>
            <a:pPr algn="ctr"/>
            <a:r>
              <a:rPr lang="en-US" sz="3600" b="1" dirty="0">
                <a:solidFill>
                  <a:schemeClr val="tx1">
                    <a:lumMod val="75000"/>
                    <a:lumOff val="25000"/>
                  </a:schemeClr>
                </a:solidFill>
                <a:latin typeface="Work Sans" pitchFamily="2" charset="77"/>
              </a:rPr>
              <a:t>Repaso de JavaScript</a:t>
            </a:r>
            <a:endParaRPr lang="en-001" sz="3600" b="1" dirty="0">
              <a:solidFill>
                <a:schemeClr val="tx1">
                  <a:lumMod val="75000"/>
                  <a:lumOff val="25000"/>
                </a:schemeClr>
              </a:solidFill>
              <a:latin typeface="Work Sans" pitchFamily="2" charset="77"/>
            </a:endParaRPr>
          </a:p>
        </p:txBody>
      </p:sp>
      <p:sp>
        <p:nvSpPr>
          <p:cNvPr id="2" name="Rectángulo 1"/>
          <p:cNvSpPr/>
          <p:nvPr/>
        </p:nvSpPr>
        <p:spPr>
          <a:xfrm>
            <a:off x="3064021" y="3578275"/>
            <a:ext cx="6065520" cy="1200329"/>
          </a:xfrm>
          <a:prstGeom prst="rect">
            <a:avLst/>
          </a:prstGeom>
        </p:spPr>
        <p:txBody>
          <a:bodyPr wrap="square">
            <a:spAutoFit/>
          </a:bodyPr>
          <a:lstStyle/>
          <a:p>
            <a:pPr algn="ctr"/>
            <a:r>
              <a:rPr lang="en-001" sz="3600" b="1" dirty="0">
                <a:solidFill>
                  <a:srgbClr val="38AA00"/>
                </a:solidFill>
                <a:latin typeface="Work Sans" pitchFamily="2" charset="77"/>
              </a:rPr>
              <a:t>Instructor:</a:t>
            </a:r>
          </a:p>
          <a:p>
            <a:pPr algn="ctr"/>
            <a:r>
              <a:rPr lang="en-001" sz="3600" b="1" dirty="0">
                <a:solidFill>
                  <a:srgbClr val="00324D"/>
                </a:solidFill>
                <a:latin typeface="Work Sans" pitchFamily="2" charset="77"/>
              </a:rPr>
              <a:t>Carlos Daniel Gomez Daza</a:t>
            </a:r>
            <a:endParaRPr lang="es-ES" sz="3600" b="1" dirty="0">
              <a:solidFill>
                <a:srgbClr val="00324D"/>
              </a:solidFill>
              <a:latin typeface="Work Sans" pitchFamily="2" charset="77"/>
            </a:endParaRPr>
          </a:p>
        </p:txBody>
      </p:sp>
    </p:spTree>
    <p:extLst>
      <p:ext uri="{BB962C8B-B14F-4D97-AF65-F5344CB8AC3E}">
        <p14:creationId xmlns:p14="http://schemas.microsoft.com/office/powerpoint/2010/main" val="3079616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5"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s-ES" spc="-42" dirty="0">
                <a:solidFill>
                  <a:srgbClr val="FFF5EA"/>
                </a:solidFill>
                <a:latin typeface="Georgia"/>
                <a:cs typeface="Georgia"/>
              </a:rPr>
              <a:t>¿Qué es un </a:t>
            </a:r>
            <a:r>
              <a:rPr lang="es-ES" spc="-42" dirty="0" err="1">
                <a:solidFill>
                  <a:srgbClr val="FFF5EA"/>
                </a:solidFill>
                <a:latin typeface="Georgia"/>
                <a:cs typeface="Georgia"/>
              </a:rPr>
              <a:t>sístema</a:t>
            </a:r>
            <a:r>
              <a:rPr lang="es-ES" spc="-42" dirty="0">
                <a:solidFill>
                  <a:srgbClr val="FFF5EA"/>
                </a:solidFill>
                <a:latin typeface="Georgia"/>
                <a:cs typeface="Georgia"/>
              </a:rPr>
              <a:t> síncrono?</a:t>
            </a:r>
            <a:r>
              <a:rPr lang="en-001" spc="-42" dirty="0">
                <a:solidFill>
                  <a:srgbClr val="FFF5EA"/>
                </a:solidFill>
                <a:latin typeface="Georgia"/>
                <a:cs typeface="Georgia"/>
              </a:rPr>
              <a:t>(Sync)</a:t>
            </a:r>
            <a:endParaRPr spc="-42" dirty="0">
              <a:solidFill>
                <a:srgbClr val="FFF5EA"/>
              </a:solidFill>
              <a:latin typeface="Georgia"/>
              <a:cs typeface="Georgia"/>
            </a:endParaRPr>
          </a:p>
        </p:txBody>
      </p:sp>
      <p:sp>
        <p:nvSpPr>
          <p:cNvPr id="2" name="Rectángulo 1"/>
          <p:cNvSpPr/>
          <p:nvPr/>
        </p:nvSpPr>
        <p:spPr>
          <a:xfrm>
            <a:off x="455613" y="1885295"/>
            <a:ext cx="3887787" cy="1200329"/>
          </a:xfrm>
          <a:prstGeom prst="rect">
            <a:avLst/>
          </a:prstGeom>
        </p:spPr>
        <p:txBody>
          <a:bodyPr wrap="square">
            <a:spAutoFit/>
          </a:bodyPr>
          <a:lstStyle/>
          <a:p>
            <a:pPr algn="just"/>
            <a:r>
              <a:rPr lang="es-ES" dirty="0"/>
              <a:t>En un </a:t>
            </a:r>
            <a:r>
              <a:rPr lang="es-ES" dirty="0" err="1"/>
              <a:t>sístema</a:t>
            </a:r>
            <a:r>
              <a:rPr lang="es-ES" dirty="0"/>
              <a:t> síncrono una tarea es terminada después de otra. Pensemos que tienes </a:t>
            </a:r>
            <a:r>
              <a:rPr lang="en-001" dirty="0"/>
              <a:t>3</a:t>
            </a:r>
            <a:r>
              <a:rPr lang="es-ES" dirty="0"/>
              <a:t> tareas por completar, Debemos completar una tarea a la vez.</a:t>
            </a:r>
            <a:endParaRPr lang="es-CO" dirty="0"/>
          </a:p>
        </p:txBody>
      </p:sp>
      <p:pic>
        <p:nvPicPr>
          <p:cNvPr id="3" name="Imagen 2"/>
          <p:cNvPicPr>
            <a:picLocks noChangeAspect="1"/>
          </p:cNvPicPr>
          <p:nvPr/>
        </p:nvPicPr>
        <p:blipFill>
          <a:blip r:embed="rId2"/>
          <a:stretch>
            <a:fillRect/>
          </a:stretch>
        </p:blipFill>
        <p:spPr>
          <a:xfrm>
            <a:off x="5239648" y="2485459"/>
            <a:ext cx="6676445" cy="3550920"/>
          </a:xfrm>
          <a:prstGeom prst="rect">
            <a:avLst/>
          </a:prstGeom>
        </p:spPr>
      </p:pic>
    </p:spTree>
    <p:extLst>
      <p:ext uri="{BB962C8B-B14F-4D97-AF65-F5344CB8AC3E}">
        <p14:creationId xmlns:p14="http://schemas.microsoft.com/office/powerpoint/2010/main" val="1869659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5"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s-ES" spc="-42" dirty="0">
                <a:solidFill>
                  <a:srgbClr val="FFF5EA"/>
                </a:solidFill>
                <a:latin typeface="Georgia"/>
                <a:cs typeface="Georgia"/>
              </a:rPr>
              <a:t>¿Qué es un </a:t>
            </a:r>
            <a:r>
              <a:rPr lang="es-ES" spc="-42" dirty="0" err="1">
                <a:solidFill>
                  <a:srgbClr val="FFF5EA"/>
                </a:solidFill>
                <a:latin typeface="Georgia"/>
                <a:cs typeface="Georgia"/>
              </a:rPr>
              <a:t>sístema</a:t>
            </a:r>
            <a:r>
              <a:rPr lang="es-ES" spc="-42" dirty="0">
                <a:solidFill>
                  <a:srgbClr val="FFF5EA"/>
                </a:solidFill>
                <a:latin typeface="Georgia"/>
                <a:cs typeface="Georgia"/>
              </a:rPr>
              <a:t> </a:t>
            </a:r>
            <a:r>
              <a:rPr lang="en-001" spc="-42" dirty="0">
                <a:solidFill>
                  <a:srgbClr val="FFF5EA"/>
                </a:solidFill>
                <a:latin typeface="Georgia"/>
                <a:cs typeface="Georgia"/>
              </a:rPr>
              <a:t>a</a:t>
            </a:r>
            <a:r>
              <a:rPr lang="es-ES" spc="-42" dirty="0">
                <a:solidFill>
                  <a:srgbClr val="FFF5EA"/>
                </a:solidFill>
                <a:latin typeface="Georgia"/>
                <a:cs typeface="Georgia"/>
              </a:rPr>
              <a:t>síncrono?</a:t>
            </a:r>
            <a:r>
              <a:rPr lang="en-001" spc="-42" dirty="0">
                <a:solidFill>
                  <a:srgbClr val="FFF5EA"/>
                </a:solidFill>
                <a:latin typeface="Georgia"/>
                <a:cs typeface="Georgia"/>
              </a:rPr>
              <a:t>(Async)</a:t>
            </a:r>
            <a:endParaRPr spc="-42" dirty="0">
              <a:solidFill>
                <a:srgbClr val="FFF5EA"/>
              </a:solidFill>
              <a:latin typeface="Georgia"/>
              <a:cs typeface="Georgia"/>
            </a:endParaRPr>
          </a:p>
        </p:txBody>
      </p:sp>
      <p:sp>
        <p:nvSpPr>
          <p:cNvPr id="6" name="Rectángulo 5"/>
          <p:cNvSpPr/>
          <p:nvPr/>
        </p:nvSpPr>
        <p:spPr>
          <a:xfrm>
            <a:off x="348933" y="1951672"/>
            <a:ext cx="5167947" cy="1477328"/>
          </a:xfrm>
          <a:prstGeom prst="rect">
            <a:avLst/>
          </a:prstGeom>
        </p:spPr>
        <p:txBody>
          <a:bodyPr wrap="square">
            <a:spAutoFit/>
          </a:bodyPr>
          <a:lstStyle/>
          <a:p>
            <a:pPr algn="just"/>
            <a:r>
              <a:rPr lang="es-ES" dirty="0"/>
              <a:t>En este sistema, las tareas son completadas independientemente.</a:t>
            </a:r>
          </a:p>
          <a:p>
            <a:pPr algn="just"/>
            <a:r>
              <a:rPr lang="es-ES" dirty="0"/>
              <a:t>Aquí, imagina que </a:t>
            </a:r>
            <a:r>
              <a:rPr lang="en-001" dirty="0"/>
              <a:t>3 </a:t>
            </a:r>
            <a:r>
              <a:rPr lang="es-ES" dirty="0"/>
              <a:t>tareas, tú tienes </a:t>
            </a:r>
            <a:r>
              <a:rPr lang="en-001" dirty="0"/>
              <a:t>3</a:t>
            </a:r>
            <a:r>
              <a:rPr lang="es-ES" dirty="0"/>
              <a:t>manos. Entonces, cada mano puede hacer una tarea independientemente de las otras manos.</a:t>
            </a:r>
            <a:endParaRPr lang="es-CO" dirty="0"/>
          </a:p>
        </p:txBody>
      </p:sp>
      <p:pic>
        <p:nvPicPr>
          <p:cNvPr id="7" name="Imagen 6"/>
          <p:cNvPicPr>
            <a:picLocks noChangeAspect="1"/>
          </p:cNvPicPr>
          <p:nvPr/>
        </p:nvPicPr>
        <p:blipFill>
          <a:blip r:embed="rId2"/>
          <a:stretch>
            <a:fillRect/>
          </a:stretch>
        </p:blipFill>
        <p:spPr>
          <a:xfrm>
            <a:off x="5867400" y="2348746"/>
            <a:ext cx="6004560" cy="3377684"/>
          </a:xfrm>
          <a:prstGeom prst="rect">
            <a:avLst/>
          </a:prstGeom>
        </p:spPr>
      </p:pic>
    </p:spTree>
    <p:extLst>
      <p:ext uri="{BB962C8B-B14F-4D97-AF65-F5344CB8AC3E}">
        <p14:creationId xmlns:p14="http://schemas.microsoft.com/office/powerpoint/2010/main" val="3914593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a:solidFill>
                  <a:srgbClr val="FFF5EA"/>
                </a:solidFill>
                <a:latin typeface="Georgia"/>
                <a:cs typeface="Georgia"/>
              </a:rPr>
              <a:t>Descargar code runner</a:t>
            </a:r>
            <a:endParaRPr spc="-42" dirty="0">
              <a:solidFill>
                <a:srgbClr val="FFF5EA"/>
              </a:solidFill>
              <a:latin typeface="Georgia"/>
              <a:cs typeface="Georgia"/>
            </a:endParaRPr>
          </a:p>
        </p:txBody>
      </p:sp>
      <p:pic>
        <p:nvPicPr>
          <p:cNvPr id="2" name="Imagen 1"/>
          <p:cNvPicPr>
            <a:picLocks noChangeAspect="1"/>
          </p:cNvPicPr>
          <p:nvPr/>
        </p:nvPicPr>
        <p:blipFill>
          <a:blip r:embed="rId2"/>
          <a:stretch>
            <a:fillRect/>
          </a:stretch>
        </p:blipFill>
        <p:spPr>
          <a:xfrm>
            <a:off x="655319" y="1629662"/>
            <a:ext cx="8772843" cy="4895915"/>
          </a:xfrm>
          <a:prstGeom prst="rect">
            <a:avLst/>
          </a:prstGeom>
        </p:spPr>
      </p:pic>
    </p:spTree>
    <p:extLst>
      <p:ext uri="{BB962C8B-B14F-4D97-AF65-F5344CB8AC3E}">
        <p14:creationId xmlns:p14="http://schemas.microsoft.com/office/powerpoint/2010/main" val="3965721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a:solidFill>
                  <a:srgbClr val="FFF5EA"/>
                </a:solidFill>
                <a:latin typeface="Georgia"/>
                <a:cs typeface="Georgia"/>
              </a:rPr>
              <a:t>Ejemplo con Sync</a:t>
            </a:r>
            <a:endParaRPr spc="-42" dirty="0">
              <a:solidFill>
                <a:srgbClr val="FFF5EA"/>
              </a:solidFill>
              <a:latin typeface="Georgia"/>
              <a:cs typeface="Georgia"/>
            </a:endParaRPr>
          </a:p>
        </p:txBody>
      </p:sp>
      <p:sp>
        <p:nvSpPr>
          <p:cNvPr id="2" name="Rectángulo 1"/>
          <p:cNvSpPr/>
          <p:nvPr/>
        </p:nvSpPr>
        <p:spPr>
          <a:xfrm>
            <a:off x="1036320" y="2413337"/>
            <a:ext cx="6096000" cy="2031325"/>
          </a:xfrm>
          <a:prstGeom prst="rect">
            <a:avLst/>
          </a:prstGeom>
        </p:spPr>
        <p:txBody>
          <a:bodyPr>
            <a:spAutoFit/>
          </a:bodyPr>
          <a:lstStyle/>
          <a:p>
            <a:r>
              <a:rPr lang="es-ES" dirty="0"/>
              <a:t>console.log("Yo");</a:t>
            </a:r>
          </a:p>
          <a:p>
            <a:endParaRPr lang="es-ES" dirty="0"/>
          </a:p>
          <a:p>
            <a:r>
              <a:rPr lang="es-ES" dirty="0"/>
              <a:t>// Veremos esto en 2 segundos</a:t>
            </a:r>
          </a:p>
          <a:p>
            <a:r>
              <a:rPr lang="es-ES" dirty="0"/>
              <a:t>console.log("como");</a:t>
            </a:r>
          </a:p>
          <a:p>
            <a:endParaRPr lang="es-ES" dirty="0"/>
          </a:p>
          <a:p>
            <a:endParaRPr lang="es-ES" dirty="0"/>
          </a:p>
          <a:p>
            <a:r>
              <a:rPr lang="es-ES" dirty="0"/>
              <a:t>console.log("Helado")</a:t>
            </a:r>
            <a:endParaRPr lang="es-CO" dirty="0"/>
          </a:p>
        </p:txBody>
      </p:sp>
      <p:pic>
        <p:nvPicPr>
          <p:cNvPr id="3" name="Imagen 2"/>
          <p:cNvPicPr>
            <a:picLocks noChangeAspect="1"/>
          </p:cNvPicPr>
          <p:nvPr/>
        </p:nvPicPr>
        <p:blipFill>
          <a:blip r:embed="rId2"/>
          <a:stretch>
            <a:fillRect/>
          </a:stretch>
        </p:blipFill>
        <p:spPr>
          <a:xfrm>
            <a:off x="5513070" y="2071568"/>
            <a:ext cx="5235356" cy="3084195"/>
          </a:xfrm>
          <a:prstGeom prst="rect">
            <a:avLst/>
          </a:prstGeom>
        </p:spPr>
      </p:pic>
    </p:spTree>
    <p:extLst>
      <p:ext uri="{BB962C8B-B14F-4D97-AF65-F5344CB8AC3E}">
        <p14:creationId xmlns:p14="http://schemas.microsoft.com/office/powerpoint/2010/main" val="3142534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a:solidFill>
                  <a:srgbClr val="FFF5EA"/>
                </a:solidFill>
                <a:latin typeface="Georgia"/>
                <a:cs typeface="Georgia"/>
              </a:rPr>
              <a:t>Ejemplo con Async</a:t>
            </a:r>
            <a:endParaRPr spc="-42" dirty="0">
              <a:solidFill>
                <a:srgbClr val="FFF5EA"/>
              </a:solidFill>
              <a:latin typeface="Georgia"/>
              <a:cs typeface="Georgia"/>
            </a:endParaRPr>
          </a:p>
        </p:txBody>
      </p:sp>
      <p:sp>
        <p:nvSpPr>
          <p:cNvPr id="2" name="Rectángulo 1"/>
          <p:cNvSpPr/>
          <p:nvPr/>
        </p:nvSpPr>
        <p:spPr>
          <a:xfrm>
            <a:off x="1051560" y="2136338"/>
            <a:ext cx="6096000" cy="2585323"/>
          </a:xfrm>
          <a:prstGeom prst="rect">
            <a:avLst/>
          </a:prstGeom>
        </p:spPr>
        <p:txBody>
          <a:bodyPr>
            <a:spAutoFit/>
          </a:bodyPr>
          <a:lstStyle/>
          <a:p>
            <a:r>
              <a:rPr lang="es-ES" dirty="0"/>
              <a:t>console.log("Yo");</a:t>
            </a:r>
          </a:p>
          <a:p>
            <a:endParaRPr lang="es-ES" dirty="0"/>
          </a:p>
          <a:p>
            <a:r>
              <a:rPr lang="es-ES" dirty="0"/>
              <a:t>// Veremos esto en 2 segundos</a:t>
            </a:r>
          </a:p>
          <a:p>
            <a:endParaRPr lang="es-ES" dirty="0"/>
          </a:p>
          <a:p>
            <a:r>
              <a:rPr lang="es-ES" dirty="0" err="1"/>
              <a:t>setTimeout</a:t>
            </a:r>
            <a:r>
              <a:rPr lang="es-ES" dirty="0"/>
              <a:t>(()=&gt;{</a:t>
            </a:r>
          </a:p>
          <a:p>
            <a:r>
              <a:rPr lang="es-ES" dirty="0"/>
              <a:t>  console.log("como");</a:t>
            </a:r>
          </a:p>
          <a:p>
            <a:r>
              <a:rPr lang="es-ES" dirty="0"/>
              <a:t>},2000)</a:t>
            </a:r>
          </a:p>
          <a:p>
            <a:endParaRPr lang="es-ES" dirty="0"/>
          </a:p>
          <a:p>
            <a:r>
              <a:rPr lang="es-ES" dirty="0"/>
              <a:t>console.log("Helado")</a:t>
            </a:r>
            <a:endParaRPr lang="es-CO" dirty="0"/>
          </a:p>
        </p:txBody>
      </p:sp>
      <p:pic>
        <p:nvPicPr>
          <p:cNvPr id="5" name="Imagen 4"/>
          <p:cNvPicPr>
            <a:picLocks noChangeAspect="1"/>
          </p:cNvPicPr>
          <p:nvPr/>
        </p:nvPicPr>
        <p:blipFill>
          <a:blip r:embed="rId2"/>
          <a:stretch>
            <a:fillRect/>
          </a:stretch>
        </p:blipFill>
        <p:spPr>
          <a:xfrm>
            <a:off x="6214783" y="2136338"/>
            <a:ext cx="4231333" cy="3109914"/>
          </a:xfrm>
          <a:prstGeom prst="rect">
            <a:avLst/>
          </a:prstGeom>
        </p:spPr>
      </p:pic>
    </p:spTree>
    <p:extLst>
      <p:ext uri="{BB962C8B-B14F-4D97-AF65-F5344CB8AC3E}">
        <p14:creationId xmlns:p14="http://schemas.microsoft.com/office/powerpoint/2010/main" val="534349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a:solidFill>
                  <a:srgbClr val="FFF5EA"/>
                </a:solidFill>
                <a:latin typeface="Georgia"/>
                <a:cs typeface="Georgia"/>
              </a:rPr>
              <a:t>Callback</a:t>
            </a:r>
            <a:endParaRPr spc="-42" dirty="0">
              <a:solidFill>
                <a:srgbClr val="FFF5EA"/>
              </a:solidFill>
              <a:latin typeface="Georgia"/>
              <a:cs typeface="Georgia"/>
            </a:endParaRPr>
          </a:p>
        </p:txBody>
      </p:sp>
      <p:sp>
        <p:nvSpPr>
          <p:cNvPr id="3" name="Rectángulo 2"/>
          <p:cNvSpPr/>
          <p:nvPr/>
        </p:nvSpPr>
        <p:spPr>
          <a:xfrm>
            <a:off x="579120" y="1719727"/>
            <a:ext cx="6096000" cy="923330"/>
          </a:xfrm>
          <a:prstGeom prst="rect">
            <a:avLst/>
          </a:prstGeom>
        </p:spPr>
        <p:txBody>
          <a:bodyPr>
            <a:spAutoFit/>
          </a:bodyPr>
          <a:lstStyle/>
          <a:p>
            <a:r>
              <a:rPr lang="es-ES" dirty="0"/>
              <a:t>Cuando pasamos una función a otra función como un argumento, esto lo llamamos </a:t>
            </a:r>
            <a:r>
              <a:rPr lang="es-ES" dirty="0" err="1"/>
              <a:t>callback</a:t>
            </a:r>
            <a:r>
              <a:rPr lang="es-ES" dirty="0"/>
              <a:t>.</a:t>
            </a:r>
          </a:p>
          <a:p>
            <a:r>
              <a:rPr lang="es-ES" dirty="0"/>
              <a:t>Aquí podemos ver un ejemplo de una función </a:t>
            </a:r>
            <a:r>
              <a:rPr lang="es-ES" dirty="0" err="1"/>
              <a:t>callback</a:t>
            </a:r>
            <a:r>
              <a:rPr lang="es-ES" dirty="0"/>
              <a:t>:</a:t>
            </a:r>
            <a:endParaRPr lang="es-CO" dirty="0"/>
          </a:p>
        </p:txBody>
      </p:sp>
      <p:pic>
        <p:nvPicPr>
          <p:cNvPr id="6" name="Imagen 5"/>
          <p:cNvPicPr>
            <a:picLocks noChangeAspect="1"/>
          </p:cNvPicPr>
          <p:nvPr/>
        </p:nvPicPr>
        <p:blipFill>
          <a:blip r:embed="rId3"/>
          <a:stretch>
            <a:fillRect/>
          </a:stretch>
        </p:blipFill>
        <p:spPr>
          <a:xfrm>
            <a:off x="455613" y="2914650"/>
            <a:ext cx="6000750" cy="3467100"/>
          </a:xfrm>
          <a:prstGeom prst="rect">
            <a:avLst/>
          </a:prstGeom>
        </p:spPr>
      </p:pic>
    </p:spTree>
    <p:extLst>
      <p:ext uri="{BB962C8B-B14F-4D97-AF65-F5344CB8AC3E}">
        <p14:creationId xmlns:p14="http://schemas.microsoft.com/office/powerpoint/2010/main" val="520275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a:solidFill>
                  <a:srgbClr val="FFF5EA"/>
                </a:solidFill>
                <a:latin typeface="Georgia"/>
                <a:cs typeface="Georgia"/>
              </a:rPr>
              <a:t>Callback: Ejemplo paso 1 </a:t>
            </a:r>
            <a:endParaRPr spc="-42" dirty="0">
              <a:solidFill>
                <a:srgbClr val="FFF5EA"/>
              </a:solidFill>
              <a:latin typeface="Georgia"/>
              <a:cs typeface="Georgia"/>
            </a:endParaRPr>
          </a:p>
        </p:txBody>
      </p:sp>
      <p:sp>
        <p:nvSpPr>
          <p:cNvPr id="2" name="Rectángulo 1"/>
          <p:cNvSpPr/>
          <p:nvPr/>
        </p:nvSpPr>
        <p:spPr>
          <a:xfrm>
            <a:off x="990600" y="1840081"/>
            <a:ext cx="6096000" cy="3970318"/>
          </a:xfrm>
          <a:prstGeom prst="rect">
            <a:avLst/>
          </a:prstGeom>
        </p:spPr>
        <p:txBody>
          <a:bodyPr>
            <a:spAutoFit/>
          </a:bodyPr>
          <a:lstStyle/>
          <a:p>
            <a:r>
              <a:rPr lang="es-CO"/>
              <a:t>const articles = [</a:t>
            </a:r>
          </a:p>
          <a:p>
            <a:r>
              <a:rPr lang="es-CO"/>
              <a:t>   {title:'First article'},</a:t>
            </a:r>
          </a:p>
          <a:p>
            <a:r>
              <a:rPr lang="es-CO"/>
              <a:t>   {title:'Second article'}</a:t>
            </a:r>
          </a:p>
          <a:p>
            <a:r>
              <a:rPr lang="es-CO"/>
              <a:t>];</a:t>
            </a:r>
          </a:p>
          <a:p>
            <a:r>
              <a:rPr lang="es-CO"/>
              <a:t>function getArticles(){</a:t>
            </a:r>
          </a:p>
          <a:p>
            <a:r>
              <a:rPr lang="es-CO"/>
              <a:t>   setTimeout(()=&gt;{</a:t>
            </a:r>
          </a:p>
          <a:p>
            <a:r>
              <a:rPr lang="es-CO"/>
              <a:t>      let articleContent='';</a:t>
            </a:r>
          </a:p>
          <a:p>
            <a:r>
              <a:rPr lang="es-CO"/>
              <a:t>      articles.forEach((article,index)=&gt;{</a:t>
            </a:r>
          </a:p>
          <a:p>
            <a:r>
              <a:rPr lang="es-CO"/>
              <a:t>         articleContent+=`${article.title}`+` `;</a:t>
            </a:r>
          </a:p>
          <a:p>
            <a:r>
              <a:rPr lang="es-CO"/>
              <a:t>         });</a:t>
            </a:r>
          </a:p>
          <a:p>
            <a:r>
              <a:rPr lang="es-CO"/>
              <a:t>         console.log(articleContent);</a:t>
            </a:r>
          </a:p>
          <a:p>
            <a:r>
              <a:rPr lang="es-CO"/>
              <a:t>      },1000);</a:t>
            </a:r>
          </a:p>
          <a:p>
            <a:r>
              <a:rPr lang="es-CO"/>
              <a:t>   };</a:t>
            </a:r>
          </a:p>
          <a:p>
            <a:r>
              <a:rPr lang="es-CO"/>
              <a:t>getArticles();</a:t>
            </a:r>
            <a:endParaRPr lang="es-CO" dirty="0"/>
          </a:p>
        </p:txBody>
      </p:sp>
      <p:sp>
        <p:nvSpPr>
          <p:cNvPr id="5" name="Rectángulo 4"/>
          <p:cNvSpPr/>
          <p:nvPr/>
        </p:nvSpPr>
        <p:spPr>
          <a:xfrm>
            <a:off x="5501640" y="1840081"/>
            <a:ext cx="6096000" cy="2308324"/>
          </a:xfrm>
          <a:prstGeom prst="rect">
            <a:avLst/>
          </a:prstGeom>
        </p:spPr>
        <p:txBody>
          <a:bodyPr>
            <a:spAutoFit/>
          </a:bodyPr>
          <a:lstStyle/>
          <a:p>
            <a:r>
              <a:rPr lang="es-ES" dirty="0"/>
              <a:t>Aquí, simplemente creamos una matriz de artículos y se imprime en la consola después de 1 segundo.</a:t>
            </a:r>
          </a:p>
          <a:p>
            <a:endParaRPr lang="es-ES" dirty="0"/>
          </a:p>
          <a:p>
            <a:r>
              <a:rPr lang="es-ES" dirty="0"/>
              <a:t>El uso de la función </a:t>
            </a:r>
            <a:r>
              <a:rPr lang="es-ES" dirty="0" err="1"/>
              <a:t>setTimeout</a:t>
            </a:r>
            <a:r>
              <a:rPr lang="es-ES" dirty="0"/>
              <a:t> con 1 segundo de tiempo es solo para mostrar un comportamiento como desde el servidor.</a:t>
            </a:r>
          </a:p>
          <a:p>
            <a:endParaRPr lang="es-ES" dirty="0"/>
          </a:p>
          <a:p>
            <a:r>
              <a:rPr lang="es-ES" dirty="0"/>
              <a:t>Ahora, ¿qué pasa si agregamos un nuevo artículo a la lista anterior a través de otra función?</a:t>
            </a:r>
            <a:endParaRPr lang="es-CO" dirty="0"/>
          </a:p>
        </p:txBody>
      </p:sp>
      <p:sp>
        <p:nvSpPr>
          <p:cNvPr id="7" name="Rectángulo 6"/>
          <p:cNvSpPr/>
          <p:nvPr/>
        </p:nvSpPr>
        <p:spPr>
          <a:xfrm>
            <a:off x="5713413" y="4443769"/>
            <a:ext cx="6096000" cy="1477328"/>
          </a:xfrm>
          <a:prstGeom prst="rect">
            <a:avLst/>
          </a:prstGeom>
        </p:spPr>
        <p:txBody>
          <a:bodyPr>
            <a:spAutoFit/>
          </a:bodyPr>
          <a:lstStyle/>
          <a:p>
            <a:r>
              <a:rPr lang="en-US" dirty="0"/>
              <a:t>function </a:t>
            </a:r>
            <a:r>
              <a:rPr lang="en-US" dirty="0" err="1"/>
              <a:t>createArticle</a:t>
            </a:r>
            <a:r>
              <a:rPr lang="en-US" dirty="0"/>
              <a:t>(article){</a:t>
            </a:r>
          </a:p>
          <a:p>
            <a:r>
              <a:rPr lang="en-US" dirty="0"/>
              <a:t>   </a:t>
            </a:r>
            <a:r>
              <a:rPr lang="en-US" dirty="0" err="1"/>
              <a:t>setTimeout</a:t>
            </a:r>
            <a:r>
              <a:rPr lang="en-US" dirty="0"/>
              <a:t>(()=&gt;{</a:t>
            </a:r>
          </a:p>
          <a:p>
            <a:r>
              <a:rPr lang="en-US" dirty="0"/>
              <a:t>      </a:t>
            </a:r>
            <a:r>
              <a:rPr lang="en-US" dirty="0" err="1"/>
              <a:t>articles.push</a:t>
            </a:r>
            <a:r>
              <a:rPr lang="en-US" dirty="0"/>
              <a:t>(article);</a:t>
            </a:r>
          </a:p>
          <a:p>
            <a:r>
              <a:rPr lang="en-US" dirty="0"/>
              <a:t>   },2000);</a:t>
            </a:r>
          </a:p>
          <a:p>
            <a:r>
              <a:rPr lang="en-US" dirty="0"/>
              <a:t>}</a:t>
            </a:r>
            <a:endParaRPr lang="es-CO" dirty="0"/>
          </a:p>
        </p:txBody>
      </p:sp>
    </p:spTree>
    <p:extLst>
      <p:ext uri="{BB962C8B-B14F-4D97-AF65-F5344CB8AC3E}">
        <p14:creationId xmlns:p14="http://schemas.microsoft.com/office/powerpoint/2010/main" val="161204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a:solidFill>
                  <a:srgbClr val="FFF5EA"/>
                </a:solidFill>
                <a:latin typeface="Georgia"/>
                <a:cs typeface="Georgia"/>
              </a:rPr>
              <a:t>Callback: Ejemplo paso 2 </a:t>
            </a:r>
            <a:endParaRPr spc="-42" dirty="0">
              <a:solidFill>
                <a:srgbClr val="FFF5EA"/>
              </a:solidFill>
              <a:latin typeface="Georgia"/>
              <a:cs typeface="Georgia"/>
            </a:endParaRPr>
          </a:p>
        </p:txBody>
      </p:sp>
      <p:sp>
        <p:nvSpPr>
          <p:cNvPr id="3" name="Rectángulo 2"/>
          <p:cNvSpPr/>
          <p:nvPr/>
        </p:nvSpPr>
        <p:spPr>
          <a:xfrm>
            <a:off x="455613" y="1582824"/>
            <a:ext cx="7956867" cy="646331"/>
          </a:xfrm>
          <a:prstGeom prst="rect">
            <a:avLst/>
          </a:prstGeom>
        </p:spPr>
        <p:txBody>
          <a:bodyPr wrap="square">
            <a:spAutoFit/>
          </a:bodyPr>
          <a:lstStyle/>
          <a:p>
            <a:r>
              <a:rPr lang="es-ES" dirty="0"/>
              <a:t>Si ahora llamamos a </a:t>
            </a:r>
            <a:r>
              <a:rPr lang="es-ES" dirty="0" err="1"/>
              <a:t>createArticle</a:t>
            </a:r>
            <a:r>
              <a:rPr lang="es-ES" dirty="0"/>
              <a:t> con new </a:t>
            </a:r>
            <a:r>
              <a:rPr lang="es-ES" dirty="0" err="1"/>
              <a:t>article</a:t>
            </a:r>
            <a:r>
              <a:rPr lang="es-ES" dirty="0"/>
              <a:t> y luego </a:t>
            </a:r>
            <a:r>
              <a:rPr lang="es-ES" dirty="0" err="1"/>
              <a:t>getArticle</a:t>
            </a:r>
            <a:r>
              <a:rPr lang="es-ES" dirty="0"/>
              <a:t>, deberíamos obtener tres artículos, pero solo obtenemos los dos primeros artículos</a:t>
            </a:r>
            <a:endParaRPr lang="es-CO" dirty="0"/>
          </a:p>
        </p:txBody>
      </p:sp>
      <p:sp>
        <p:nvSpPr>
          <p:cNvPr id="6" name="Rectángulo 5"/>
          <p:cNvSpPr/>
          <p:nvPr/>
        </p:nvSpPr>
        <p:spPr>
          <a:xfrm>
            <a:off x="640080" y="2350115"/>
            <a:ext cx="6096000" cy="4401205"/>
          </a:xfrm>
          <a:prstGeom prst="rect">
            <a:avLst/>
          </a:prstGeom>
        </p:spPr>
        <p:txBody>
          <a:bodyPr>
            <a:spAutoFit/>
          </a:bodyPr>
          <a:lstStyle/>
          <a:p>
            <a:r>
              <a:rPr lang="es-CO" sz="1400" dirty="0" err="1"/>
              <a:t>const</a:t>
            </a:r>
            <a:r>
              <a:rPr lang="es-CO" sz="1400" dirty="0"/>
              <a:t> </a:t>
            </a:r>
            <a:r>
              <a:rPr lang="es-CO" sz="1400" dirty="0" err="1"/>
              <a:t>articles</a:t>
            </a:r>
            <a:r>
              <a:rPr lang="es-CO" sz="1400" dirty="0"/>
              <a:t> = [</a:t>
            </a:r>
          </a:p>
          <a:p>
            <a:r>
              <a:rPr lang="es-CO" sz="1400" dirty="0"/>
              <a:t>   {</a:t>
            </a:r>
            <a:r>
              <a:rPr lang="es-CO" sz="1400" dirty="0" err="1"/>
              <a:t>title</a:t>
            </a:r>
            <a:r>
              <a:rPr lang="es-CO" sz="1400" dirty="0"/>
              <a:t>:'</a:t>
            </a:r>
            <a:r>
              <a:rPr lang="es-CO" sz="1400" dirty="0" err="1"/>
              <a:t>First</a:t>
            </a:r>
            <a:r>
              <a:rPr lang="es-CO" sz="1400" dirty="0"/>
              <a:t> </a:t>
            </a:r>
            <a:r>
              <a:rPr lang="es-CO" sz="1400" dirty="0" err="1"/>
              <a:t>article</a:t>
            </a:r>
            <a:r>
              <a:rPr lang="es-CO" sz="1400" dirty="0"/>
              <a:t>'},</a:t>
            </a:r>
          </a:p>
          <a:p>
            <a:r>
              <a:rPr lang="es-CO" sz="1400" dirty="0"/>
              <a:t>   {</a:t>
            </a:r>
            <a:r>
              <a:rPr lang="es-CO" sz="1400" dirty="0" err="1"/>
              <a:t>title</a:t>
            </a:r>
            <a:r>
              <a:rPr lang="es-CO" sz="1400" dirty="0"/>
              <a:t>:'</a:t>
            </a:r>
            <a:r>
              <a:rPr lang="es-CO" sz="1400" dirty="0" err="1"/>
              <a:t>Second</a:t>
            </a:r>
            <a:r>
              <a:rPr lang="es-CO" sz="1400" dirty="0"/>
              <a:t> </a:t>
            </a:r>
            <a:r>
              <a:rPr lang="es-CO" sz="1400" dirty="0" err="1"/>
              <a:t>article</a:t>
            </a:r>
            <a:r>
              <a:rPr lang="es-CO" sz="1400" dirty="0"/>
              <a:t>'}</a:t>
            </a:r>
          </a:p>
          <a:p>
            <a:r>
              <a:rPr lang="es-CO" sz="1400" dirty="0"/>
              <a:t>];</a:t>
            </a:r>
          </a:p>
          <a:p>
            <a:r>
              <a:rPr lang="es-CO" sz="1400" dirty="0" err="1"/>
              <a:t>function</a:t>
            </a:r>
            <a:r>
              <a:rPr lang="es-CO" sz="1400" dirty="0"/>
              <a:t> </a:t>
            </a:r>
            <a:r>
              <a:rPr lang="es-CO" sz="1400" dirty="0" err="1"/>
              <a:t>getArticles</a:t>
            </a:r>
            <a:r>
              <a:rPr lang="es-CO" sz="1400" dirty="0"/>
              <a:t>(){</a:t>
            </a:r>
          </a:p>
          <a:p>
            <a:r>
              <a:rPr lang="es-CO" sz="1400" dirty="0"/>
              <a:t>   </a:t>
            </a:r>
            <a:r>
              <a:rPr lang="es-CO" sz="1400" dirty="0" err="1"/>
              <a:t>setTimeout</a:t>
            </a:r>
            <a:r>
              <a:rPr lang="es-CO" sz="1400" dirty="0"/>
              <a:t>(()=&gt;{</a:t>
            </a:r>
          </a:p>
          <a:p>
            <a:r>
              <a:rPr lang="es-CO" sz="1400" dirty="0"/>
              <a:t>      </a:t>
            </a:r>
            <a:r>
              <a:rPr lang="es-CO" sz="1400" dirty="0" err="1"/>
              <a:t>let</a:t>
            </a:r>
            <a:r>
              <a:rPr lang="es-CO" sz="1400" dirty="0"/>
              <a:t> </a:t>
            </a:r>
            <a:r>
              <a:rPr lang="es-CO" sz="1400" dirty="0" err="1"/>
              <a:t>articleContent</a:t>
            </a:r>
            <a:r>
              <a:rPr lang="es-CO" sz="1400" dirty="0"/>
              <a:t>='';</a:t>
            </a:r>
          </a:p>
          <a:p>
            <a:r>
              <a:rPr lang="es-CO" sz="1400" dirty="0"/>
              <a:t>      </a:t>
            </a:r>
            <a:r>
              <a:rPr lang="es-CO" sz="1400" dirty="0" err="1"/>
              <a:t>articles.forEach</a:t>
            </a:r>
            <a:r>
              <a:rPr lang="es-CO" sz="1400" dirty="0"/>
              <a:t>((</a:t>
            </a:r>
            <a:r>
              <a:rPr lang="es-CO" sz="1400" dirty="0" err="1"/>
              <a:t>article,index</a:t>
            </a:r>
            <a:r>
              <a:rPr lang="es-CO" sz="1400" dirty="0"/>
              <a:t>)=&gt;{</a:t>
            </a:r>
          </a:p>
          <a:p>
            <a:r>
              <a:rPr lang="es-CO" sz="1400" dirty="0"/>
              <a:t>         </a:t>
            </a:r>
            <a:r>
              <a:rPr lang="es-CO" sz="1400" dirty="0" err="1"/>
              <a:t>articleContent</a:t>
            </a:r>
            <a:r>
              <a:rPr lang="es-CO" sz="1400" dirty="0"/>
              <a:t>+=`${</a:t>
            </a:r>
            <a:r>
              <a:rPr lang="es-CO" sz="1400" dirty="0" err="1"/>
              <a:t>article.title</a:t>
            </a:r>
            <a:r>
              <a:rPr lang="es-CO" sz="1400" dirty="0"/>
              <a:t>}`+` `;</a:t>
            </a:r>
          </a:p>
          <a:p>
            <a:r>
              <a:rPr lang="es-CO" sz="1400" dirty="0"/>
              <a:t>         });</a:t>
            </a:r>
          </a:p>
          <a:p>
            <a:r>
              <a:rPr lang="es-CO" sz="1400" dirty="0"/>
              <a:t>         console.log(</a:t>
            </a:r>
            <a:r>
              <a:rPr lang="es-CO" sz="1400" dirty="0" err="1"/>
              <a:t>articleContent</a:t>
            </a:r>
            <a:r>
              <a:rPr lang="es-CO" sz="1400" dirty="0"/>
              <a:t>);</a:t>
            </a:r>
          </a:p>
          <a:p>
            <a:r>
              <a:rPr lang="es-CO" sz="1400" dirty="0"/>
              <a:t>      },1000);  </a:t>
            </a:r>
          </a:p>
          <a:p>
            <a:r>
              <a:rPr lang="es-CO" sz="1400" dirty="0"/>
              <a:t>   };</a:t>
            </a:r>
          </a:p>
          <a:p>
            <a:r>
              <a:rPr lang="es-CO" sz="1400" dirty="0"/>
              <a:t>   </a:t>
            </a:r>
            <a:r>
              <a:rPr lang="es-CO" sz="1400" dirty="0" err="1"/>
              <a:t>function</a:t>
            </a:r>
            <a:r>
              <a:rPr lang="es-CO" sz="1400" dirty="0"/>
              <a:t> </a:t>
            </a:r>
            <a:r>
              <a:rPr lang="es-CO" sz="1400" dirty="0" err="1"/>
              <a:t>createArticle</a:t>
            </a:r>
            <a:r>
              <a:rPr lang="es-CO" sz="1400" dirty="0"/>
              <a:t>(</a:t>
            </a:r>
            <a:r>
              <a:rPr lang="es-CO" sz="1400" dirty="0" err="1"/>
              <a:t>article</a:t>
            </a:r>
            <a:r>
              <a:rPr lang="es-CO" sz="1400" dirty="0"/>
              <a:t>){</a:t>
            </a:r>
          </a:p>
          <a:p>
            <a:r>
              <a:rPr lang="es-CO" sz="1400" dirty="0"/>
              <a:t>      </a:t>
            </a:r>
            <a:r>
              <a:rPr lang="es-CO" sz="1400" dirty="0" err="1"/>
              <a:t>setTimeout</a:t>
            </a:r>
            <a:r>
              <a:rPr lang="es-CO" sz="1400" dirty="0"/>
              <a:t>(()=&gt;{</a:t>
            </a:r>
          </a:p>
          <a:p>
            <a:r>
              <a:rPr lang="es-CO" sz="1400" dirty="0"/>
              <a:t>         </a:t>
            </a:r>
            <a:r>
              <a:rPr lang="es-CO" sz="1400" dirty="0" err="1"/>
              <a:t>articles.push</a:t>
            </a:r>
            <a:r>
              <a:rPr lang="es-CO" sz="1400" dirty="0"/>
              <a:t>(</a:t>
            </a:r>
            <a:r>
              <a:rPr lang="es-CO" sz="1400" dirty="0" err="1"/>
              <a:t>article</a:t>
            </a:r>
            <a:r>
              <a:rPr lang="es-CO" sz="1400" dirty="0"/>
              <a:t>);</a:t>
            </a:r>
          </a:p>
          <a:p>
            <a:r>
              <a:rPr lang="es-CO" sz="1400" dirty="0"/>
              <a:t>      },2000);</a:t>
            </a:r>
          </a:p>
          <a:p>
            <a:r>
              <a:rPr lang="es-CO" sz="1400" dirty="0"/>
              <a:t>   }</a:t>
            </a:r>
          </a:p>
          <a:p>
            <a:r>
              <a:rPr lang="es-CO" sz="1400" dirty="0" err="1"/>
              <a:t>createArticle</a:t>
            </a:r>
            <a:r>
              <a:rPr lang="es-CO" sz="1400" dirty="0"/>
              <a:t>({</a:t>
            </a:r>
            <a:r>
              <a:rPr lang="es-CO" sz="1400" dirty="0" err="1"/>
              <a:t>title</a:t>
            </a:r>
            <a:r>
              <a:rPr lang="es-CO" sz="1400" dirty="0"/>
              <a:t>:'</a:t>
            </a:r>
            <a:r>
              <a:rPr lang="es-CO" sz="1400" dirty="0" err="1"/>
              <a:t>Third</a:t>
            </a:r>
            <a:r>
              <a:rPr lang="es-CO" sz="1400" dirty="0"/>
              <a:t> </a:t>
            </a:r>
            <a:r>
              <a:rPr lang="es-CO" sz="1400" dirty="0" err="1"/>
              <a:t>article</a:t>
            </a:r>
            <a:r>
              <a:rPr lang="es-CO" sz="1400" dirty="0"/>
              <a:t>'});</a:t>
            </a:r>
          </a:p>
          <a:p>
            <a:r>
              <a:rPr lang="es-CO" sz="1400" dirty="0" err="1"/>
              <a:t>getArticles</a:t>
            </a:r>
            <a:r>
              <a:rPr lang="es-CO" sz="1400" dirty="0"/>
              <a:t>();</a:t>
            </a:r>
          </a:p>
        </p:txBody>
      </p:sp>
      <p:sp>
        <p:nvSpPr>
          <p:cNvPr id="9" name="Rectángulo 8"/>
          <p:cNvSpPr/>
          <p:nvPr/>
        </p:nvSpPr>
        <p:spPr>
          <a:xfrm>
            <a:off x="5713413" y="3073389"/>
            <a:ext cx="6096000" cy="1477328"/>
          </a:xfrm>
          <a:prstGeom prst="rect">
            <a:avLst/>
          </a:prstGeom>
        </p:spPr>
        <p:txBody>
          <a:bodyPr>
            <a:spAutoFit/>
          </a:bodyPr>
          <a:lstStyle/>
          <a:p>
            <a:r>
              <a:rPr lang="es-ES" dirty="0"/>
              <a:t>¿Por qué es así?</a:t>
            </a:r>
          </a:p>
          <a:p>
            <a:endParaRPr lang="es-ES" dirty="0"/>
          </a:p>
          <a:p>
            <a:r>
              <a:rPr lang="es-ES" dirty="0"/>
              <a:t>Debido a que la ejecución de </a:t>
            </a:r>
            <a:r>
              <a:rPr lang="es-ES" dirty="0" err="1"/>
              <a:t>createArticle</a:t>
            </a:r>
            <a:r>
              <a:rPr lang="es-ES" dirty="0"/>
              <a:t> tiene un tiempo de espera de 2 segundos y, mientras tanto, </a:t>
            </a:r>
            <a:r>
              <a:rPr lang="es-ES" dirty="0" err="1"/>
              <a:t>getArticle</a:t>
            </a:r>
            <a:r>
              <a:rPr lang="es-ES" dirty="0"/>
              <a:t> completa su ejecución</a:t>
            </a:r>
            <a:endParaRPr lang="es-CO" dirty="0"/>
          </a:p>
        </p:txBody>
      </p:sp>
    </p:spTree>
    <p:extLst>
      <p:ext uri="{BB962C8B-B14F-4D97-AF65-F5344CB8AC3E}">
        <p14:creationId xmlns:p14="http://schemas.microsoft.com/office/powerpoint/2010/main" val="2217654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a:solidFill>
                  <a:srgbClr val="FFF5EA"/>
                </a:solidFill>
                <a:latin typeface="Georgia"/>
                <a:cs typeface="Georgia"/>
              </a:rPr>
              <a:t>Callback: Ejemplo paso 3 </a:t>
            </a:r>
            <a:endParaRPr spc="-42" dirty="0">
              <a:solidFill>
                <a:srgbClr val="FFF5EA"/>
              </a:solidFill>
              <a:latin typeface="Georgia"/>
              <a:cs typeface="Georgia"/>
            </a:endParaRPr>
          </a:p>
        </p:txBody>
      </p:sp>
      <p:sp>
        <p:nvSpPr>
          <p:cNvPr id="2" name="Rectángulo 1"/>
          <p:cNvSpPr/>
          <p:nvPr/>
        </p:nvSpPr>
        <p:spPr>
          <a:xfrm>
            <a:off x="838200" y="1484769"/>
            <a:ext cx="6096000" cy="5016758"/>
          </a:xfrm>
          <a:prstGeom prst="rect">
            <a:avLst/>
          </a:prstGeom>
        </p:spPr>
        <p:txBody>
          <a:bodyPr>
            <a:spAutoFit/>
          </a:bodyPr>
          <a:lstStyle/>
          <a:p>
            <a:r>
              <a:rPr lang="es-CO" sz="1600" dirty="0" err="1"/>
              <a:t>const</a:t>
            </a:r>
            <a:r>
              <a:rPr lang="es-CO" sz="1600" dirty="0"/>
              <a:t> </a:t>
            </a:r>
            <a:r>
              <a:rPr lang="es-CO" sz="1600" dirty="0" err="1"/>
              <a:t>articles</a:t>
            </a:r>
            <a:r>
              <a:rPr lang="es-CO" sz="1600" dirty="0"/>
              <a:t> = [</a:t>
            </a:r>
          </a:p>
          <a:p>
            <a:r>
              <a:rPr lang="es-CO" sz="1600" dirty="0"/>
              <a:t>   {</a:t>
            </a:r>
            <a:r>
              <a:rPr lang="es-CO" sz="1600" dirty="0" err="1"/>
              <a:t>title</a:t>
            </a:r>
            <a:r>
              <a:rPr lang="es-CO" sz="1600" dirty="0"/>
              <a:t>:'</a:t>
            </a:r>
            <a:r>
              <a:rPr lang="es-CO" sz="1600" dirty="0" err="1"/>
              <a:t>First</a:t>
            </a:r>
            <a:r>
              <a:rPr lang="es-CO" sz="1600" dirty="0"/>
              <a:t> </a:t>
            </a:r>
            <a:r>
              <a:rPr lang="es-CO" sz="1600" dirty="0" err="1"/>
              <a:t>article</a:t>
            </a:r>
            <a:r>
              <a:rPr lang="es-CO" sz="1600" dirty="0"/>
              <a:t>'},</a:t>
            </a:r>
          </a:p>
          <a:p>
            <a:r>
              <a:rPr lang="es-CO" sz="1600" dirty="0"/>
              <a:t>   {</a:t>
            </a:r>
            <a:r>
              <a:rPr lang="es-CO" sz="1600" dirty="0" err="1"/>
              <a:t>title</a:t>
            </a:r>
            <a:r>
              <a:rPr lang="es-CO" sz="1600" dirty="0"/>
              <a:t>:'</a:t>
            </a:r>
            <a:r>
              <a:rPr lang="es-CO" sz="1600" dirty="0" err="1"/>
              <a:t>Second</a:t>
            </a:r>
            <a:r>
              <a:rPr lang="es-CO" sz="1600" dirty="0"/>
              <a:t> </a:t>
            </a:r>
            <a:r>
              <a:rPr lang="es-CO" sz="1600" dirty="0" err="1"/>
              <a:t>article</a:t>
            </a:r>
            <a:r>
              <a:rPr lang="es-CO" sz="1600" dirty="0"/>
              <a:t>'}</a:t>
            </a:r>
          </a:p>
          <a:p>
            <a:r>
              <a:rPr lang="es-CO" sz="1600" dirty="0"/>
              <a:t>];</a:t>
            </a:r>
          </a:p>
          <a:p>
            <a:r>
              <a:rPr lang="es-CO" sz="1600" dirty="0" err="1"/>
              <a:t>function</a:t>
            </a:r>
            <a:r>
              <a:rPr lang="es-CO" sz="1600" dirty="0"/>
              <a:t> </a:t>
            </a:r>
            <a:r>
              <a:rPr lang="es-CO" sz="1600" dirty="0" err="1"/>
              <a:t>getArticles</a:t>
            </a:r>
            <a:r>
              <a:rPr lang="es-CO" sz="1600" dirty="0"/>
              <a:t>(){</a:t>
            </a:r>
          </a:p>
          <a:p>
            <a:r>
              <a:rPr lang="es-CO" sz="1600" dirty="0"/>
              <a:t>   </a:t>
            </a:r>
            <a:r>
              <a:rPr lang="es-CO" sz="1600" dirty="0" err="1"/>
              <a:t>setTimeout</a:t>
            </a:r>
            <a:r>
              <a:rPr lang="es-CO" sz="1600" dirty="0"/>
              <a:t>(()=&gt;{</a:t>
            </a:r>
          </a:p>
          <a:p>
            <a:r>
              <a:rPr lang="es-CO" sz="1600" dirty="0"/>
              <a:t>      </a:t>
            </a:r>
            <a:r>
              <a:rPr lang="es-CO" sz="1600" dirty="0" err="1"/>
              <a:t>let</a:t>
            </a:r>
            <a:r>
              <a:rPr lang="es-CO" sz="1600" dirty="0"/>
              <a:t> </a:t>
            </a:r>
            <a:r>
              <a:rPr lang="es-CO" sz="1600" dirty="0" err="1"/>
              <a:t>articleContent</a:t>
            </a:r>
            <a:r>
              <a:rPr lang="es-CO" sz="1600" dirty="0"/>
              <a:t>='';</a:t>
            </a:r>
          </a:p>
          <a:p>
            <a:r>
              <a:rPr lang="es-CO" sz="1600" dirty="0"/>
              <a:t>      </a:t>
            </a:r>
            <a:r>
              <a:rPr lang="es-CO" sz="1600" dirty="0" err="1"/>
              <a:t>articles.forEach</a:t>
            </a:r>
            <a:r>
              <a:rPr lang="es-CO" sz="1600" dirty="0"/>
              <a:t>((</a:t>
            </a:r>
            <a:r>
              <a:rPr lang="es-CO" sz="1600" dirty="0" err="1"/>
              <a:t>article,index</a:t>
            </a:r>
            <a:r>
              <a:rPr lang="es-CO" sz="1600" dirty="0"/>
              <a:t>)=&gt;{</a:t>
            </a:r>
          </a:p>
          <a:p>
            <a:r>
              <a:rPr lang="es-CO" sz="1600" dirty="0"/>
              <a:t>         </a:t>
            </a:r>
            <a:r>
              <a:rPr lang="es-CO" sz="1600" dirty="0" err="1"/>
              <a:t>articleContent</a:t>
            </a:r>
            <a:r>
              <a:rPr lang="es-CO" sz="1600" dirty="0"/>
              <a:t>+=`${</a:t>
            </a:r>
            <a:r>
              <a:rPr lang="es-CO" sz="1600" dirty="0" err="1"/>
              <a:t>article.title</a:t>
            </a:r>
            <a:r>
              <a:rPr lang="es-CO" sz="1600" dirty="0"/>
              <a:t>}`+` `;</a:t>
            </a:r>
          </a:p>
          <a:p>
            <a:r>
              <a:rPr lang="es-CO" sz="1600" dirty="0"/>
              <a:t>      });</a:t>
            </a:r>
          </a:p>
          <a:p>
            <a:r>
              <a:rPr lang="es-CO" sz="1600" dirty="0"/>
              <a:t>      console.log(</a:t>
            </a:r>
            <a:r>
              <a:rPr lang="es-CO" sz="1600" dirty="0" err="1"/>
              <a:t>articleContent</a:t>
            </a:r>
            <a:r>
              <a:rPr lang="es-CO" sz="1600" dirty="0"/>
              <a:t>);</a:t>
            </a:r>
          </a:p>
          <a:p>
            <a:r>
              <a:rPr lang="es-CO" sz="1600" dirty="0"/>
              <a:t>   },1000);  </a:t>
            </a:r>
          </a:p>
          <a:p>
            <a:r>
              <a:rPr lang="es-CO" sz="1600" dirty="0"/>
              <a:t>};</a:t>
            </a:r>
          </a:p>
          <a:p>
            <a:r>
              <a:rPr lang="es-CO" sz="1600" dirty="0" err="1"/>
              <a:t>function</a:t>
            </a:r>
            <a:r>
              <a:rPr lang="es-CO" sz="1600" dirty="0"/>
              <a:t> </a:t>
            </a:r>
            <a:r>
              <a:rPr lang="es-CO" sz="1600" dirty="0" err="1"/>
              <a:t>createArticle</a:t>
            </a:r>
            <a:r>
              <a:rPr lang="es-CO" sz="1600" dirty="0"/>
              <a:t>(</a:t>
            </a:r>
            <a:r>
              <a:rPr lang="es-CO" sz="1600" dirty="0" err="1"/>
              <a:t>article</a:t>
            </a:r>
            <a:r>
              <a:rPr lang="es-CO" sz="1600" dirty="0"/>
              <a:t>, </a:t>
            </a:r>
            <a:r>
              <a:rPr lang="es-CO" sz="1600" dirty="0" err="1"/>
              <a:t>callback</a:t>
            </a:r>
            <a:r>
              <a:rPr lang="es-CO" sz="1600" dirty="0"/>
              <a:t>){</a:t>
            </a:r>
          </a:p>
          <a:p>
            <a:r>
              <a:rPr lang="es-CO" sz="1600" dirty="0"/>
              <a:t>   </a:t>
            </a:r>
            <a:r>
              <a:rPr lang="es-CO" sz="1600" dirty="0" err="1"/>
              <a:t>setTimeout</a:t>
            </a:r>
            <a:r>
              <a:rPr lang="es-CO" sz="1600" dirty="0"/>
              <a:t>(()=&gt;{</a:t>
            </a:r>
          </a:p>
          <a:p>
            <a:r>
              <a:rPr lang="es-CO" sz="1600" dirty="0"/>
              <a:t>      </a:t>
            </a:r>
            <a:r>
              <a:rPr lang="es-CO" sz="1600" dirty="0" err="1"/>
              <a:t>articles.push</a:t>
            </a:r>
            <a:r>
              <a:rPr lang="es-CO" sz="1600" dirty="0"/>
              <a:t>(</a:t>
            </a:r>
            <a:r>
              <a:rPr lang="es-CO" sz="1600" dirty="0" err="1"/>
              <a:t>article</a:t>
            </a:r>
            <a:r>
              <a:rPr lang="es-CO" sz="1600" dirty="0"/>
              <a:t>);</a:t>
            </a:r>
          </a:p>
          <a:p>
            <a:r>
              <a:rPr lang="es-CO" sz="1600" dirty="0"/>
              <a:t>      </a:t>
            </a:r>
            <a:r>
              <a:rPr lang="es-CO" sz="1600" dirty="0" err="1"/>
              <a:t>callback</a:t>
            </a:r>
            <a:r>
              <a:rPr lang="es-CO" sz="1600" dirty="0"/>
              <a:t>();</a:t>
            </a:r>
          </a:p>
          <a:p>
            <a:r>
              <a:rPr lang="es-CO" sz="1600" dirty="0"/>
              <a:t>   },2000);</a:t>
            </a:r>
          </a:p>
          <a:p>
            <a:r>
              <a:rPr lang="es-CO" sz="1600" dirty="0"/>
              <a:t>}</a:t>
            </a:r>
          </a:p>
          <a:p>
            <a:r>
              <a:rPr lang="es-CO" sz="1600" dirty="0" err="1"/>
              <a:t>createArticle</a:t>
            </a:r>
            <a:r>
              <a:rPr lang="es-CO" sz="1600" dirty="0"/>
              <a:t>({</a:t>
            </a:r>
            <a:r>
              <a:rPr lang="es-CO" sz="1600" dirty="0" err="1"/>
              <a:t>title</a:t>
            </a:r>
            <a:r>
              <a:rPr lang="es-CO" sz="1600" dirty="0"/>
              <a:t>:'</a:t>
            </a:r>
            <a:r>
              <a:rPr lang="es-CO" sz="1600" dirty="0" err="1"/>
              <a:t>Third</a:t>
            </a:r>
            <a:r>
              <a:rPr lang="es-CO" sz="1600" dirty="0"/>
              <a:t> </a:t>
            </a:r>
            <a:r>
              <a:rPr lang="es-CO" sz="1600" dirty="0" err="1"/>
              <a:t>article</a:t>
            </a:r>
            <a:r>
              <a:rPr lang="es-CO" sz="1600" dirty="0"/>
              <a:t>'},</a:t>
            </a:r>
            <a:r>
              <a:rPr lang="es-CO" sz="1600" dirty="0" err="1"/>
              <a:t>getArticles</a:t>
            </a:r>
            <a:r>
              <a:rPr lang="es-CO" sz="1600" dirty="0"/>
              <a:t>);</a:t>
            </a:r>
          </a:p>
        </p:txBody>
      </p:sp>
      <p:sp>
        <p:nvSpPr>
          <p:cNvPr id="5" name="Rectángulo 4"/>
          <p:cNvSpPr/>
          <p:nvPr/>
        </p:nvSpPr>
        <p:spPr>
          <a:xfrm>
            <a:off x="5516880" y="2736503"/>
            <a:ext cx="6096000" cy="1754326"/>
          </a:xfrm>
          <a:prstGeom prst="rect">
            <a:avLst/>
          </a:prstGeom>
        </p:spPr>
        <p:txBody>
          <a:bodyPr>
            <a:spAutoFit/>
          </a:bodyPr>
          <a:lstStyle/>
          <a:p>
            <a:r>
              <a:rPr lang="es-ES" dirty="0"/>
              <a:t>Hemos anidado la llamada de </a:t>
            </a:r>
            <a:r>
              <a:rPr lang="es-ES" dirty="0" err="1"/>
              <a:t>getArticle</a:t>
            </a:r>
            <a:r>
              <a:rPr lang="es-ES" dirty="0"/>
              <a:t> dentro de </a:t>
            </a:r>
            <a:r>
              <a:rPr lang="es-ES" dirty="0" err="1"/>
              <a:t>createArticle</a:t>
            </a:r>
            <a:r>
              <a:rPr lang="es-ES" dirty="0"/>
              <a:t> usando </a:t>
            </a:r>
            <a:r>
              <a:rPr lang="es-ES" dirty="0" err="1"/>
              <a:t>callback</a:t>
            </a:r>
            <a:r>
              <a:rPr lang="es-ES" dirty="0"/>
              <a:t>.</a:t>
            </a:r>
          </a:p>
          <a:p>
            <a:endParaRPr lang="es-ES" dirty="0"/>
          </a:p>
          <a:p>
            <a:r>
              <a:rPr lang="es-ES" dirty="0"/>
              <a:t>Tenga en cuenta el paso de </a:t>
            </a:r>
            <a:r>
              <a:rPr lang="es-ES" dirty="0" err="1"/>
              <a:t>getArticles</a:t>
            </a:r>
            <a:r>
              <a:rPr lang="es-ES" dirty="0"/>
              <a:t> como argumento a la función </a:t>
            </a:r>
            <a:r>
              <a:rPr lang="es-ES" dirty="0" err="1"/>
              <a:t>createArticle</a:t>
            </a:r>
            <a:r>
              <a:rPr lang="es-ES" dirty="0"/>
              <a:t>. Pero de esta manera, se complica anidar las devoluciones de llamada</a:t>
            </a:r>
            <a:endParaRPr lang="es-CO" dirty="0"/>
          </a:p>
        </p:txBody>
      </p:sp>
    </p:spTree>
    <p:extLst>
      <p:ext uri="{BB962C8B-B14F-4D97-AF65-F5344CB8AC3E}">
        <p14:creationId xmlns:p14="http://schemas.microsoft.com/office/powerpoint/2010/main" val="1736313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a:solidFill>
                  <a:srgbClr val="FFF5EA"/>
                </a:solidFill>
                <a:latin typeface="Georgia"/>
                <a:cs typeface="Georgia"/>
              </a:rPr>
              <a:t>Promesas</a:t>
            </a:r>
            <a:endParaRPr spc="-42" dirty="0">
              <a:solidFill>
                <a:srgbClr val="FFF5EA"/>
              </a:solidFill>
              <a:latin typeface="Georgia"/>
              <a:cs typeface="Georgia"/>
            </a:endParaRPr>
          </a:p>
        </p:txBody>
      </p:sp>
      <p:sp>
        <p:nvSpPr>
          <p:cNvPr id="3" name="Rectángulo 2"/>
          <p:cNvSpPr/>
          <p:nvPr/>
        </p:nvSpPr>
        <p:spPr>
          <a:xfrm>
            <a:off x="618033" y="1716316"/>
            <a:ext cx="6096000" cy="1200329"/>
          </a:xfrm>
          <a:prstGeom prst="rect">
            <a:avLst/>
          </a:prstGeom>
        </p:spPr>
        <p:txBody>
          <a:bodyPr>
            <a:spAutoFit/>
          </a:bodyPr>
          <a:lstStyle/>
          <a:p>
            <a:r>
              <a:rPr lang="es-ES" dirty="0"/>
              <a:t>Con el uso de promesas, no es necesario pasar la función de devolución de llamada. Las promesas tienen dos argumentos: se resuelven y se rechazan. Si la función se ejecuta con éxito, podemos llamar a </a:t>
            </a:r>
            <a:r>
              <a:rPr lang="es-ES" dirty="0" err="1"/>
              <a:t>resolve</a:t>
            </a:r>
            <a:r>
              <a:rPr lang="es-ES" dirty="0"/>
              <a:t>(), o llamamos a </a:t>
            </a:r>
            <a:r>
              <a:rPr lang="es-ES" dirty="0" err="1"/>
              <a:t>reject</a:t>
            </a:r>
            <a:r>
              <a:rPr lang="es-ES" dirty="0"/>
              <a:t>()</a:t>
            </a:r>
            <a:endParaRPr lang="es-CO" dirty="0"/>
          </a:p>
        </p:txBody>
      </p:sp>
      <p:pic>
        <p:nvPicPr>
          <p:cNvPr id="7" name="Imagen 6"/>
          <p:cNvPicPr>
            <a:picLocks noChangeAspect="1"/>
          </p:cNvPicPr>
          <p:nvPr/>
        </p:nvPicPr>
        <p:blipFill>
          <a:blip r:embed="rId3"/>
          <a:stretch>
            <a:fillRect/>
          </a:stretch>
        </p:blipFill>
        <p:spPr>
          <a:xfrm>
            <a:off x="7213282" y="1716316"/>
            <a:ext cx="4257675" cy="4841646"/>
          </a:xfrm>
          <a:prstGeom prst="rect">
            <a:avLst/>
          </a:prstGeom>
        </p:spPr>
      </p:pic>
      <p:sp>
        <p:nvSpPr>
          <p:cNvPr id="9" name="Rectángulo 8"/>
          <p:cNvSpPr/>
          <p:nvPr/>
        </p:nvSpPr>
        <p:spPr>
          <a:xfrm>
            <a:off x="618033" y="3429000"/>
            <a:ext cx="6096000" cy="2031325"/>
          </a:xfrm>
          <a:prstGeom prst="rect">
            <a:avLst/>
          </a:prstGeom>
        </p:spPr>
        <p:txBody>
          <a:bodyPr>
            <a:spAutoFit/>
          </a:bodyPr>
          <a:lstStyle/>
          <a:p>
            <a:r>
              <a:rPr lang="es-ES" b="1" dirty="0"/>
              <a:t>Pendiente: </a:t>
            </a:r>
            <a:r>
              <a:rPr lang="es-ES" dirty="0"/>
              <a:t>Esta es la etapa inicial. Aquí no pasa nada. Piensa en ello de esta manera, tu cliente se está tomando su tiempo para darte un pedido. Pero aún no han pedido nada.</a:t>
            </a:r>
          </a:p>
          <a:p>
            <a:r>
              <a:rPr lang="es-ES" b="1" dirty="0"/>
              <a:t>Resuelto: </a:t>
            </a:r>
            <a:r>
              <a:rPr lang="es-ES" dirty="0"/>
              <a:t>Esto significa que su cliente ha recibido su comida y está feliz.</a:t>
            </a:r>
          </a:p>
          <a:p>
            <a:r>
              <a:rPr lang="es-ES" b="1" dirty="0"/>
              <a:t>Rechazado: </a:t>
            </a:r>
            <a:r>
              <a:rPr lang="es-ES" dirty="0"/>
              <a:t>Esto significa que su cliente no recibió su pedido y abandonó el restaurante.</a:t>
            </a:r>
            <a:endParaRPr lang="es-CO" dirty="0"/>
          </a:p>
        </p:txBody>
      </p:sp>
    </p:spTree>
    <p:extLst>
      <p:ext uri="{BB962C8B-B14F-4D97-AF65-F5344CB8AC3E}">
        <p14:creationId xmlns:p14="http://schemas.microsoft.com/office/powerpoint/2010/main" val="3946398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a:solidFill>
                  <a:srgbClr val="FFF5EA"/>
                </a:solidFill>
                <a:latin typeface="Georgia"/>
                <a:cs typeface="Georgia"/>
              </a:rPr>
              <a:t>Promesas</a:t>
            </a:r>
            <a:endParaRPr spc="-42" dirty="0">
              <a:solidFill>
                <a:srgbClr val="FFF5EA"/>
              </a:solidFill>
              <a:latin typeface="Georgia"/>
              <a:cs typeface="Georgia"/>
            </a:endParaRPr>
          </a:p>
        </p:txBody>
      </p:sp>
      <p:sp>
        <p:nvSpPr>
          <p:cNvPr id="2" name="Rectángulo 1"/>
          <p:cNvSpPr/>
          <p:nvPr/>
        </p:nvSpPr>
        <p:spPr>
          <a:xfrm>
            <a:off x="729933" y="1514691"/>
            <a:ext cx="6096000" cy="5109091"/>
          </a:xfrm>
          <a:prstGeom prst="rect">
            <a:avLst/>
          </a:prstGeom>
        </p:spPr>
        <p:txBody>
          <a:bodyPr>
            <a:spAutoFit/>
          </a:bodyPr>
          <a:lstStyle/>
          <a:p>
            <a:r>
              <a:rPr lang="es-CO" sz="1200" dirty="0" err="1"/>
              <a:t>const</a:t>
            </a:r>
            <a:r>
              <a:rPr lang="es-CO" sz="1200" dirty="0"/>
              <a:t> </a:t>
            </a:r>
            <a:r>
              <a:rPr lang="es-CO" sz="1200" dirty="0" err="1"/>
              <a:t>articles</a:t>
            </a:r>
            <a:r>
              <a:rPr lang="es-CO" sz="1200" dirty="0"/>
              <a:t> = [</a:t>
            </a:r>
          </a:p>
          <a:p>
            <a:r>
              <a:rPr lang="es-CO" sz="1200" dirty="0"/>
              <a:t>    {</a:t>
            </a:r>
            <a:r>
              <a:rPr lang="es-CO" sz="1200" dirty="0" err="1"/>
              <a:t>title</a:t>
            </a:r>
            <a:r>
              <a:rPr lang="es-CO" sz="1200" dirty="0"/>
              <a:t>:'</a:t>
            </a:r>
            <a:r>
              <a:rPr lang="es-CO" sz="1200" dirty="0" err="1"/>
              <a:t>First</a:t>
            </a:r>
            <a:r>
              <a:rPr lang="es-CO" sz="1200" dirty="0"/>
              <a:t> </a:t>
            </a:r>
            <a:r>
              <a:rPr lang="es-CO" sz="1200" dirty="0" err="1"/>
              <a:t>article</a:t>
            </a:r>
            <a:r>
              <a:rPr lang="es-CO" sz="1200" dirty="0"/>
              <a:t>'},</a:t>
            </a:r>
          </a:p>
          <a:p>
            <a:r>
              <a:rPr lang="es-CO" sz="1200" dirty="0"/>
              <a:t>    {</a:t>
            </a:r>
            <a:r>
              <a:rPr lang="es-CO" sz="1200" dirty="0" err="1"/>
              <a:t>title</a:t>
            </a:r>
            <a:r>
              <a:rPr lang="es-CO" sz="1200" dirty="0"/>
              <a:t>:'</a:t>
            </a:r>
            <a:r>
              <a:rPr lang="es-CO" sz="1200" dirty="0" err="1"/>
              <a:t>Second</a:t>
            </a:r>
            <a:r>
              <a:rPr lang="es-CO" sz="1200" dirty="0"/>
              <a:t> </a:t>
            </a:r>
            <a:r>
              <a:rPr lang="es-CO" sz="1200" dirty="0" err="1"/>
              <a:t>article</a:t>
            </a:r>
            <a:r>
              <a:rPr lang="es-CO" sz="1200" dirty="0"/>
              <a:t>'}</a:t>
            </a:r>
          </a:p>
          <a:p>
            <a:r>
              <a:rPr lang="es-CO" sz="1200" dirty="0"/>
              <a:t> ];</a:t>
            </a:r>
          </a:p>
          <a:p>
            <a:r>
              <a:rPr lang="es-CO" sz="1200" dirty="0"/>
              <a:t> </a:t>
            </a:r>
            <a:r>
              <a:rPr lang="es-CO" sz="1200" dirty="0" err="1"/>
              <a:t>function</a:t>
            </a:r>
            <a:r>
              <a:rPr lang="es-CO" sz="1200" dirty="0"/>
              <a:t> </a:t>
            </a:r>
            <a:r>
              <a:rPr lang="es-CO" sz="1200" dirty="0" err="1"/>
              <a:t>getArticles</a:t>
            </a:r>
            <a:r>
              <a:rPr lang="es-CO" sz="1200" dirty="0"/>
              <a:t>(){</a:t>
            </a:r>
          </a:p>
          <a:p>
            <a:r>
              <a:rPr lang="es-CO" sz="1200" dirty="0"/>
              <a:t>    </a:t>
            </a:r>
            <a:r>
              <a:rPr lang="es-CO" sz="1200" dirty="0" err="1"/>
              <a:t>setTimeout</a:t>
            </a:r>
            <a:r>
              <a:rPr lang="es-CO" sz="1200" dirty="0"/>
              <a:t>(()=&gt;{</a:t>
            </a:r>
          </a:p>
          <a:p>
            <a:r>
              <a:rPr lang="es-CO" sz="1200" dirty="0"/>
              <a:t>       </a:t>
            </a:r>
            <a:r>
              <a:rPr lang="es-CO" sz="1200" dirty="0" err="1"/>
              <a:t>let</a:t>
            </a:r>
            <a:r>
              <a:rPr lang="es-CO" sz="1200" dirty="0"/>
              <a:t> </a:t>
            </a:r>
            <a:r>
              <a:rPr lang="es-CO" sz="1200" dirty="0" err="1"/>
              <a:t>articleContent</a:t>
            </a:r>
            <a:r>
              <a:rPr lang="es-CO" sz="1200" dirty="0"/>
              <a:t>='';</a:t>
            </a:r>
          </a:p>
          <a:p>
            <a:r>
              <a:rPr lang="es-CO" sz="1200" dirty="0"/>
              <a:t>       </a:t>
            </a:r>
            <a:r>
              <a:rPr lang="es-CO" sz="1200" dirty="0" err="1"/>
              <a:t>articles.forEach</a:t>
            </a:r>
            <a:r>
              <a:rPr lang="es-CO" sz="1200" dirty="0"/>
              <a:t>((</a:t>
            </a:r>
            <a:r>
              <a:rPr lang="es-CO" sz="1200" dirty="0" err="1"/>
              <a:t>article,index</a:t>
            </a:r>
            <a:r>
              <a:rPr lang="es-CO" sz="1200" dirty="0"/>
              <a:t>)=&gt;{</a:t>
            </a:r>
          </a:p>
          <a:p>
            <a:r>
              <a:rPr lang="es-CO" sz="1200" dirty="0"/>
              <a:t>          </a:t>
            </a:r>
            <a:r>
              <a:rPr lang="es-CO" sz="1200" dirty="0" err="1"/>
              <a:t>articleContent</a:t>
            </a:r>
            <a:r>
              <a:rPr lang="es-CO" sz="1200" dirty="0"/>
              <a:t>+=`${</a:t>
            </a:r>
            <a:r>
              <a:rPr lang="es-CO" sz="1200" dirty="0" err="1"/>
              <a:t>article.title</a:t>
            </a:r>
            <a:r>
              <a:rPr lang="es-CO" sz="1200" dirty="0"/>
              <a:t>}`+` `;</a:t>
            </a:r>
          </a:p>
          <a:p>
            <a:r>
              <a:rPr lang="es-CO" sz="1200" dirty="0"/>
              <a:t>       });</a:t>
            </a:r>
          </a:p>
          <a:p>
            <a:r>
              <a:rPr lang="es-CO" sz="1200" dirty="0"/>
              <a:t>       console.log(</a:t>
            </a:r>
            <a:r>
              <a:rPr lang="es-CO" sz="1200" dirty="0" err="1"/>
              <a:t>articleContent</a:t>
            </a:r>
            <a:r>
              <a:rPr lang="es-CO" sz="1200" dirty="0"/>
              <a:t>);</a:t>
            </a:r>
          </a:p>
          <a:p>
            <a:r>
              <a:rPr lang="es-CO" sz="1200" dirty="0"/>
              <a:t>    },1000);</a:t>
            </a:r>
          </a:p>
          <a:p>
            <a:r>
              <a:rPr lang="es-CO" sz="1200" dirty="0"/>
              <a:t> };</a:t>
            </a:r>
          </a:p>
          <a:p>
            <a:r>
              <a:rPr lang="es-CO" sz="1200" dirty="0"/>
              <a:t> </a:t>
            </a:r>
            <a:r>
              <a:rPr lang="es-CO" sz="1200" dirty="0" err="1"/>
              <a:t>function</a:t>
            </a:r>
            <a:r>
              <a:rPr lang="es-CO" sz="1200" dirty="0"/>
              <a:t> </a:t>
            </a:r>
            <a:r>
              <a:rPr lang="es-CO" sz="1200" dirty="0" err="1"/>
              <a:t>createArticle</a:t>
            </a:r>
            <a:r>
              <a:rPr lang="es-CO" sz="1200" dirty="0"/>
              <a:t>(</a:t>
            </a:r>
            <a:r>
              <a:rPr lang="es-CO" sz="1200" dirty="0" err="1"/>
              <a:t>article</a:t>
            </a:r>
            <a:r>
              <a:rPr lang="es-CO" sz="1200" dirty="0"/>
              <a:t>){</a:t>
            </a:r>
          </a:p>
          <a:p>
            <a:r>
              <a:rPr lang="es-CO" sz="1200" dirty="0"/>
              <a:t>    </a:t>
            </a:r>
            <a:r>
              <a:rPr lang="es-CO" sz="1200" dirty="0" err="1"/>
              <a:t>return</a:t>
            </a:r>
            <a:r>
              <a:rPr lang="es-CO" sz="1200" dirty="0"/>
              <a:t> new </a:t>
            </a:r>
            <a:r>
              <a:rPr lang="es-CO" sz="1200" dirty="0" err="1"/>
              <a:t>Promise</a:t>
            </a:r>
            <a:r>
              <a:rPr lang="es-CO" sz="1200" dirty="0"/>
              <a:t>((</a:t>
            </a:r>
            <a:r>
              <a:rPr lang="es-CO" sz="1200" dirty="0" err="1"/>
              <a:t>resolve,reject</a:t>
            </a:r>
            <a:r>
              <a:rPr lang="es-CO" sz="1200" dirty="0"/>
              <a:t>)=&gt;{</a:t>
            </a:r>
          </a:p>
          <a:p>
            <a:r>
              <a:rPr lang="es-CO" sz="1200" dirty="0"/>
              <a:t>       </a:t>
            </a:r>
            <a:r>
              <a:rPr lang="es-CO" sz="1200" dirty="0" err="1"/>
              <a:t>articles.push</a:t>
            </a:r>
            <a:r>
              <a:rPr lang="es-CO" sz="1200" dirty="0"/>
              <a:t>(</a:t>
            </a:r>
            <a:r>
              <a:rPr lang="es-CO" sz="1200" dirty="0" err="1"/>
              <a:t>article</a:t>
            </a:r>
            <a:r>
              <a:rPr lang="es-CO" sz="1200" dirty="0"/>
              <a:t>);</a:t>
            </a:r>
          </a:p>
          <a:p>
            <a:r>
              <a:rPr lang="es-CO" sz="1200" dirty="0"/>
              <a:t>       </a:t>
            </a:r>
            <a:r>
              <a:rPr lang="es-CO" sz="1200" dirty="0" err="1"/>
              <a:t>let</a:t>
            </a:r>
            <a:r>
              <a:rPr lang="es-CO" sz="1200" dirty="0"/>
              <a:t> </a:t>
            </a:r>
            <a:r>
              <a:rPr lang="es-CO" sz="1200" dirty="0" err="1"/>
              <a:t>isError</a:t>
            </a:r>
            <a:r>
              <a:rPr lang="es-CO" sz="1200" dirty="0"/>
              <a:t>=true;</a:t>
            </a:r>
          </a:p>
          <a:p>
            <a:r>
              <a:rPr lang="es-CO" sz="1200" dirty="0"/>
              <a:t>       </a:t>
            </a:r>
            <a:r>
              <a:rPr lang="es-CO" sz="1200" dirty="0" err="1"/>
              <a:t>if</a:t>
            </a:r>
            <a:r>
              <a:rPr lang="es-CO" sz="1200" dirty="0"/>
              <a:t>(!</a:t>
            </a:r>
            <a:r>
              <a:rPr lang="es-CO" sz="1200" dirty="0" err="1"/>
              <a:t>isError</a:t>
            </a:r>
            <a:r>
              <a:rPr lang="es-CO" sz="1200" dirty="0"/>
              <a:t>){</a:t>
            </a:r>
          </a:p>
          <a:p>
            <a:r>
              <a:rPr lang="es-CO" sz="1200" dirty="0"/>
              <a:t>          </a:t>
            </a:r>
            <a:r>
              <a:rPr lang="es-CO" sz="1200" dirty="0" err="1"/>
              <a:t>resolve</a:t>
            </a:r>
            <a:r>
              <a:rPr lang="es-CO" sz="1200" dirty="0"/>
              <a:t>('Promesa exitosa');</a:t>
            </a:r>
          </a:p>
          <a:p>
            <a:r>
              <a:rPr lang="es-CO" sz="1200" dirty="0"/>
              <a:t>       } </a:t>
            </a:r>
            <a:r>
              <a:rPr lang="es-CO" sz="1200" dirty="0" err="1"/>
              <a:t>else</a:t>
            </a:r>
            <a:r>
              <a:rPr lang="es-CO" sz="1200" dirty="0"/>
              <a:t> {</a:t>
            </a:r>
          </a:p>
          <a:p>
            <a:r>
              <a:rPr lang="es-CO" sz="1200" dirty="0"/>
              <a:t>          </a:t>
            </a:r>
            <a:r>
              <a:rPr lang="es-CO" sz="1200" dirty="0" err="1"/>
              <a:t>reject</a:t>
            </a:r>
            <a:r>
              <a:rPr lang="es-CO" sz="1200" dirty="0"/>
              <a:t>('Hubo un error, no se </a:t>
            </a:r>
            <a:r>
              <a:rPr lang="es-CO" sz="1200" dirty="0" err="1"/>
              <a:t>cumplio</a:t>
            </a:r>
            <a:r>
              <a:rPr lang="es-CO" sz="1200" dirty="0"/>
              <a:t> la promesa');</a:t>
            </a:r>
          </a:p>
          <a:p>
            <a:r>
              <a:rPr lang="es-CO" sz="1200" dirty="0"/>
              <a:t>       }</a:t>
            </a:r>
          </a:p>
          <a:p>
            <a:r>
              <a:rPr lang="es-CO" sz="1200" dirty="0"/>
              <a:t>    });</a:t>
            </a:r>
          </a:p>
          <a:p>
            <a:r>
              <a:rPr lang="es-CO" sz="1200" dirty="0"/>
              <a:t> }</a:t>
            </a:r>
          </a:p>
          <a:p>
            <a:r>
              <a:rPr lang="es-CO" sz="1200" dirty="0"/>
              <a:t> </a:t>
            </a:r>
            <a:r>
              <a:rPr lang="es-CO" sz="1200" dirty="0" err="1"/>
              <a:t>createArticle</a:t>
            </a:r>
            <a:r>
              <a:rPr lang="es-CO" sz="1200" dirty="0"/>
              <a:t>({</a:t>
            </a:r>
            <a:r>
              <a:rPr lang="es-CO" sz="1200" dirty="0" err="1"/>
              <a:t>title</a:t>
            </a:r>
            <a:r>
              <a:rPr lang="es-CO" sz="1200" dirty="0"/>
              <a:t>:'</a:t>
            </a:r>
            <a:r>
              <a:rPr lang="es-CO" sz="1200" dirty="0" err="1"/>
              <a:t>Third</a:t>
            </a:r>
            <a:r>
              <a:rPr lang="es-CO" sz="1200" dirty="0"/>
              <a:t> </a:t>
            </a:r>
            <a:r>
              <a:rPr lang="es-CO" sz="1200" dirty="0" err="1"/>
              <a:t>article</a:t>
            </a:r>
            <a:r>
              <a:rPr lang="es-CO" sz="1200" dirty="0"/>
              <a:t>'})</a:t>
            </a:r>
          </a:p>
          <a:p>
            <a:r>
              <a:rPr lang="es-CO" sz="1200" dirty="0"/>
              <a:t> .</a:t>
            </a:r>
            <a:r>
              <a:rPr lang="es-CO" sz="1200" dirty="0" err="1"/>
              <a:t>then</a:t>
            </a:r>
            <a:r>
              <a:rPr lang="es-CO" sz="1200" dirty="0"/>
              <a:t>(</a:t>
            </a:r>
            <a:r>
              <a:rPr lang="es-CO" sz="1200" dirty="0" err="1"/>
              <a:t>getArticles</a:t>
            </a:r>
            <a:r>
              <a:rPr lang="es-CO" sz="1200" dirty="0"/>
              <a:t>());</a:t>
            </a:r>
          </a:p>
          <a:p>
            <a:endParaRPr lang="es-CO" sz="1400" dirty="0"/>
          </a:p>
        </p:txBody>
      </p:sp>
      <p:pic>
        <p:nvPicPr>
          <p:cNvPr id="5" name="Imagen 4"/>
          <p:cNvPicPr>
            <a:picLocks noChangeAspect="1"/>
          </p:cNvPicPr>
          <p:nvPr/>
        </p:nvPicPr>
        <p:blipFill>
          <a:blip r:embed="rId3"/>
          <a:stretch>
            <a:fillRect/>
          </a:stretch>
        </p:blipFill>
        <p:spPr>
          <a:xfrm>
            <a:off x="3413760" y="1872853"/>
            <a:ext cx="8641080" cy="1371481"/>
          </a:xfrm>
          <a:prstGeom prst="rect">
            <a:avLst/>
          </a:prstGeom>
        </p:spPr>
      </p:pic>
      <p:pic>
        <p:nvPicPr>
          <p:cNvPr id="6" name="Imagen 5"/>
          <p:cNvPicPr>
            <a:picLocks noChangeAspect="1"/>
          </p:cNvPicPr>
          <p:nvPr/>
        </p:nvPicPr>
        <p:blipFill>
          <a:blip r:embed="rId4"/>
          <a:stretch>
            <a:fillRect/>
          </a:stretch>
        </p:blipFill>
        <p:spPr>
          <a:xfrm>
            <a:off x="4412933" y="4366249"/>
            <a:ext cx="7337108" cy="1504950"/>
          </a:xfrm>
          <a:prstGeom prst="rect">
            <a:avLst/>
          </a:prstGeom>
        </p:spPr>
      </p:pic>
    </p:spTree>
    <p:extLst>
      <p:ext uri="{BB962C8B-B14F-4D97-AF65-F5344CB8AC3E}">
        <p14:creationId xmlns:p14="http://schemas.microsoft.com/office/powerpoint/2010/main" val="2209362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a:solidFill>
                  <a:srgbClr val="FFF5EA"/>
                </a:solidFill>
                <a:latin typeface="Georgia"/>
                <a:cs typeface="Georgia"/>
              </a:rPr>
              <a:t>Promesas</a:t>
            </a:r>
            <a:endParaRPr spc="-42" dirty="0">
              <a:solidFill>
                <a:srgbClr val="FFF5EA"/>
              </a:solidFill>
              <a:latin typeface="Georgia"/>
              <a:cs typeface="Georgia"/>
            </a:endParaRPr>
          </a:p>
        </p:txBody>
      </p:sp>
      <p:sp>
        <p:nvSpPr>
          <p:cNvPr id="2" name="Rectángulo 1"/>
          <p:cNvSpPr/>
          <p:nvPr/>
        </p:nvSpPr>
        <p:spPr>
          <a:xfrm>
            <a:off x="729933" y="1514691"/>
            <a:ext cx="6096000" cy="5109091"/>
          </a:xfrm>
          <a:prstGeom prst="rect">
            <a:avLst/>
          </a:prstGeom>
        </p:spPr>
        <p:txBody>
          <a:bodyPr>
            <a:spAutoFit/>
          </a:bodyPr>
          <a:lstStyle/>
          <a:p>
            <a:r>
              <a:rPr lang="es-CO" sz="1200" dirty="0" err="1"/>
              <a:t>const</a:t>
            </a:r>
            <a:r>
              <a:rPr lang="es-CO" sz="1200" dirty="0"/>
              <a:t> </a:t>
            </a:r>
            <a:r>
              <a:rPr lang="es-CO" sz="1200" dirty="0" err="1"/>
              <a:t>articles</a:t>
            </a:r>
            <a:r>
              <a:rPr lang="es-CO" sz="1200" dirty="0"/>
              <a:t> = [</a:t>
            </a:r>
          </a:p>
          <a:p>
            <a:r>
              <a:rPr lang="es-CO" sz="1200" dirty="0"/>
              <a:t>    {</a:t>
            </a:r>
            <a:r>
              <a:rPr lang="es-CO" sz="1200" dirty="0" err="1"/>
              <a:t>title</a:t>
            </a:r>
            <a:r>
              <a:rPr lang="es-CO" sz="1200" dirty="0"/>
              <a:t>:'</a:t>
            </a:r>
            <a:r>
              <a:rPr lang="es-CO" sz="1200" dirty="0" err="1"/>
              <a:t>First</a:t>
            </a:r>
            <a:r>
              <a:rPr lang="es-CO" sz="1200" dirty="0"/>
              <a:t> </a:t>
            </a:r>
            <a:r>
              <a:rPr lang="es-CO" sz="1200" dirty="0" err="1"/>
              <a:t>article</a:t>
            </a:r>
            <a:r>
              <a:rPr lang="es-CO" sz="1200" dirty="0"/>
              <a:t>'},</a:t>
            </a:r>
          </a:p>
          <a:p>
            <a:r>
              <a:rPr lang="es-CO" sz="1200" dirty="0"/>
              <a:t>    {</a:t>
            </a:r>
            <a:r>
              <a:rPr lang="es-CO" sz="1200" dirty="0" err="1"/>
              <a:t>title</a:t>
            </a:r>
            <a:r>
              <a:rPr lang="es-CO" sz="1200" dirty="0"/>
              <a:t>:'</a:t>
            </a:r>
            <a:r>
              <a:rPr lang="es-CO" sz="1200" dirty="0" err="1"/>
              <a:t>Second</a:t>
            </a:r>
            <a:r>
              <a:rPr lang="es-CO" sz="1200" dirty="0"/>
              <a:t> </a:t>
            </a:r>
            <a:r>
              <a:rPr lang="es-CO" sz="1200" dirty="0" err="1"/>
              <a:t>article</a:t>
            </a:r>
            <a:r>
              <a:rPr lang="es-CO" sz="1200" dirty="0"/>
              <a:t>'}</a:t>
            </a:r>
          </a:p>
          <a:p>
            <a:r>
              <a:rPr lang="es-CO" sz="1200" dirty="0"/>
              <a:t> ];</a:t>
            </a:r>
          </a:p>
          <a:p>
            <a:r>
              <a:rPr lang="es-CO" sz="1200" dirty="0"/>
              <a:t> </a:t>
            </a:r>
            <a:r>
              <a:rPr lang="es-CO" sz="1200" dirty="0" err="1"/>
              <a:t>function</a:t>
            </a:r>
            <a:r>
              <a:rPr lang="es-CO" sz="1200" dirty="0"/>
              <a:t> </a:t>
            </a:r>
            <a:r>
              <a:rPr lang="es-CO" sz="1200" dirty="0" err="1"/>
              <a:t>getArticles</a:t>
            </a:r>
            <a:r>
              <a:rPr lang="es-CO" sz="1200" dirty="0"/>
              <a:t>(){</a:t>
            </a:r>
          </a:p>
          <a:p>
            <a:r>
              <a:rPr lang="es-CO" sz="1200" dirty="0"/>
              <a:t>    </a:t>
            </a:r>
            <a:r>
              <a:rPr lang="es-CO" sz="1200" dirty="0" err="1"/>
              <a:t>setTimeout</a:t>
            </a:r>
            <a:r>
              <a:rPr lang="es-CO" sz="1200" dirty="0"/>
              <a:t>(()=&gt;{</a:t>
            </a:r>
          </a:p>
          <a:p>
            <a:r>
              <a:rPr lang="es-CO" sz="1200" dirty="0"/>
              <a:t>       </a:t>
            </a:r>
            <a:r>
              <a:rPr lang="es-CO" sz="1200" dirty="0" err="1"/>
              <a:t>let</a:t>
            </a:r>
            <a:r>
              <a:rPr lang="es-CO" sz="1200" dirty="0"/>
              <a:t> </a:t>
            </a:r>
            <a:r>
              <a:rPr lang="es-CO" sz="1200" dirty="0" err="1"/>
              <a:t>articleContent</a:t>
            </a:r>
            <a:r>
              <a:rPr lang="es-CO" sz="1200" dirty="0"/>
              <a:t>='';</a:t>
            </a:r>
          </a:p>
          <a:p>
            <a:r>
              <a:rPr lang="es-CO" sz="1200" dirty="0"/>
              <a:t>       </a:t>
            </a:r>
            <a:r>
              <a:rPr lang="es-CO" sz="1200" dirty="0" err="1"/>
              <a:t>articles.forEach</a:t>
            </a:r>
            <a:r>
              <a:rPr lang="es-CO" sz="1200" dirty="0"/>
              <a:t>((</a:t>
            </a:r>
            <a:r>
              <a:rPr lang="es-CO" sz="1200" dirty="0" err="1"/>
              <a:t>article,index</a:t>
            </a:r>
            <a:r>
              <a:rPr lang="es-CO" sz="1200" dirty="0"/>
              <a:t>)=&gt;{</a:t>
            </a:r>
          </a:p>
          <a:p>
            <a:r>
              <a:rPr lang="es-CO" sz="1200" dirty="0"/>
              <a:t>          </a:t>
            </a:r>
            <a:r>
              <a:rPr lang="es-CO" sz="1200" dirty="0" err="1"/>
              <a:t>articleContent</a:t>
            </a:r>
            <a:r>
              <a:rPr lang="es-CO" sz="1200" dirty="0"/>
              <a:t>+=`${</a:t>
            </a:r>
            <a:r>
              <a:rPr lang="es-CO" sz="1200" dirty="0" err="1"/>
              <a:t>article.title</a:t>
            </a:r>
            <a:r>
              <a:rPr lang="es-CO" sz="1200" dirty="0"/>
              <a:t>}`+` `;</a:t>
            </a:r>
          </a:p>
          <a:p>
            <a:r>
              <a:rPr lang="es-CO" sz="1200" dirty="0"/>
              <a:t>       });</a:t>
            </a:r>
          </a:p>
          <a:p>
            <a:r>
              <a:rPr lang="es-CO" sz="1200" dirty="0"/>
              <a:t>       console.log(</a:t>
            </a:r>
            <a:r>
              <a:rPr lang="es-CO" sz="1200" dirty="0" err="1"/>
              <a:t>articleContent</a:t>
            </a:r>
            <a:r>
              <a:rPr lang="es-CO" sz="1200" dirty="0"/>
              <a:t>);</a:t>
            </a:r>
          </a:p>
          <a:p>
            <a:r>
              <a:rPr lang="es-CO" sz="1200" dirty="0"/>
              <a:t>    },1000);</a:t>
            </a:r>
          </a:p>
          <a:p>
            <a:r>
              <a:rPr lang="es-CO" sz="1200" dirty="0"/>
              <a:t> };</a:t>
            </a:r>
          </a:p>
          <a:p>
            <a:r>
              <a:rPr lang="es-CO" sz="1200" dirty="0"/>
              <a:t> </a:t>
            </a:r>
            <a:r>
              <a:rPr lang="es-CO" sz="1200" dirty="0" err="1"/>
              <a:t>function</a:t>
            </a:r>
            <a:r>
              <a:rPr lang="es-CO" sz="1200" dirty="0"/>
              <a:t> </a:t>
            </a:r>
            <a:r>
              <a:rPr lang="es-CO" sz="1200" dirty="0" err="1"/>
              <a:t>createArticle</a:t>
            </a:r>
            <a:r>
              <a:rPr lang="es-CO" sz="1200" dirty="0"/>
              <a:t>(</a:t>
            </a:r>
            <a:r>
              <a:rPr lang="es-CO" sz="1200" dirty="0" err="1"/>
              <a:t>article</a:t>
            </a:r>
            <a:r>
              <a:rPr lang="es-CO" sz="1200" dirty="0"/>
              <a:t>){</a:t>
            </a:r>
          </a:p>
          <a:p>
            <a:r>
              <a:rPr lang="es-CO" sz="1200" dirty="0"/>
              <a:t>    </a:t>
            </a:r>
            <a:r>
              <a:rPr lang="es-CO" sz="1200" dirty="0" err="1"/>
              <a:t>return</a:t>
            </a:r>
            <a:r>
              <a:rPr lang="es-CO" sz="1200" dirty="0"/>
              <a:t> new </a:t>
            </a:r>
            <a:r>
              <a:rPr lang="es-CO" sz="1200" dirty="0" err="1"/>
              <a:t>Promise</a:t>
            </a:r>
            <a:r>
              <a:rPr lang="es-CO" sz="1200" dirty="0"/>
              <a:t>((</a:t>
            </a:r>
            <a:r>
              <a:rPr lang="es-CO" sz="1200" dirty="0" err="1"/>
              <a:t>resolve,reject</a:t>
            </a:r>
            <a:r>
              <a:rPr lang="es-CO" sz="1200" dirty="0"/>
              <a:t>)=&gt;{</a:t>
            </a:r>
          </a:p>
          <a:p>
            <a:r>
              <a:rPr lang="es-CO" sz="1200" dirty="0"/>
              <a:t>       </a:t>
            </a:r>
            <a:r>
              <a:rPr lang="es-CO" sz="1200" dirty="0" err="1"/>
              <a:t>articles.push</a:t>
            </a:r>
            <a:r>
              <a:rPr lang="es-CO" sz="1200" dirty="0"/>
              <a:t>(</a:t>
            </a:r>
            <a:r>
              <a:rPr lang="es-CO" sz="1200" dirty="0" err="1"/>
              <a:t>article</a:t>
            </a:r>
            <a:r>
              <a:rPr lang="es-CO" sz="1200" dirty="0"/>
              <a:t>);</a:t>
            </a:r>
          </a:p>
          <a:p>
            <a:r>
              <a:rPr lang="es-CO" sz="1200" dirty="0"/>
              <a:t>       </a:t>
            </a:r>
            <a:r>
              <a:rPr lang="es-CO" sz="1200" dirty="0" err="1"/>
              <a:t>let</a:t>
            </a:r>
            <a:r>
              <a:rPr lang="es-CO" sz="1200" dirty="0"/>
              <a:t> </a:t>
            </a:r>
            <a:r>
              <a:rPr lang="es-CO" sz="1200" dirty="0" err="1"/>
              <a:t>isError</a:t>
            </a:r>
            <a:r>
              <a:rPr lang="es-CO" sz="1200" dirty="0"/>
              <a:t>=true;</a:t>
            </a:r>
          </a:p>
          <a:p>
            <a:r>
              <a:rPr lang="es-CO" sz="1200" dirty="0"/>
              <a:t>       </a:t>
            </a:r>
            <a:r>
              <a:rPr lang="es-CO" sz="1200" dirty="0" err="1"/>
              <a:t>if</a:t>
            </a:r>
            <a:r>
              <a:rPr lang="es-CO" sz="1200" dirty="0"/>
              <a:t>(!</a:t>
            </a:r>
            <a:r>
              <a:rPr lang="es-CO" sz="1200" dirty="0" err="1"/>
              <a:t>isError</a:t>
            </a:r>
            <a:r>
              <a:rPr lang="es-CO" sz="1200" dirty="0"/>
              <a:t>){</a:t>
            </a:r>
          </a:p>
          <a:p>
            <a:r>
              <a:rPr lang="es-CO" sz="1200" dirty="0"/>
              <a:t>          </a:t>
            </a:r>
            <a:r>
              <a:rPr lang="es-CO" sz="1200" dirty="0" err="1"/>
              <a:t>resolve</a:t>
            </a:r>
            <a:r>
              <a:rPr lang="es-CO" sz="1200" dirty="0"/>
              <a:t>('Promesa exitosa');</a:t>
            </a:r>
          </a:p>
          <a:p>
            <a:r>
              <a:rPr lang="es-CO" sz="1200" dirty="0"/>
              <a:t>       } </a:t>
            </a:r>
            <a:r>
              <a:rPr lang="es-CO" sz="1200" dirty="0" err="1"/>
              <a:t>else</a:t>
            </a:r>
            <a:r>
              <a:rPr lang="es-CO" sz="1200" dirty="0"/>
              <a:t> {</a:t>
            </a:r>
          </a:p>
          <a:p>
            <a:r>
              <a:rPr lang="es-CO" sz="1200" dirty="0"/>
              <a:t>          </a:t>
            </a:r>
            <a:r>
              <a:rPr lang="es-CO" sz="1200" dirty="0" err="1"/>
              <a:t>reject</a:t>
            </a:r>
            <a:r>
              <a:rPr lang="es-CO" sz="1200" dirty="0"/>
              <a:t>('Hubo un error, no se </a:t>
            </a:r>
            <a:r>
              <a:rPr lang="es-CO" sz="1200" dirty="0" err="1"/>
              <a:t>cumplio</a:t>
            </a:r>
            <a:r>
              <a:rPr lang="es-CO" sz="1200" dirty="0"/>
              <a:t> la promesa');</a:t>
            </a:r>
          </a:p>
          <a:p>
            <a:r>
              <a:rPr lang="es-CO" sz="1200" dirty="0"/>
              <a:t>       }</a:t>
            </a:r>
          </a:p>
          <a:p>
            <a:r>
              <a:rPr lang="es-CO" sz="1200" dirty="0"/>
              <a:t>    });</a:t>
            </a:r>
          </a:p>
          <a:p>
            <a:r>
              <a:rPr lang="es-CO" sz="1200" dirty="0"/>
              <a:t> }</a:t>
            </a:r>
          </a:p>
          <a:p>
            <a:r>
              <a:rPr lang="es-CO" sz="1200" dirty="0"/>
              <a:t> </a:t>
            </a:r>
            <a:r>
              <a:rPr lang="es-CO" sz="1200" dirty="0" err="1"/>
              <a:t>createArticle</a:t>
            </a:r>
            <a:r>
              <a:rPr lang="es-CO" sz="1200" dirty="0"/>
              <a:t>({</a:t>
            </a:r>
            <a:r>
              <a:rPr lang="es-CO" sz="1200" dirty="0" err="1"/>
              <a:t>title</a:t>
            </a:r>
            <a:r>
              <a:rPr lang="es-CO" sz="1200" dirty="0"/>
              <a:t>:'</a:t>
            </a:r>
            <a:r>
              <a:rPr lang="es-CO" sz="1200" dirty="0" err="1"/>
              <a:t>Third</a:t>
            </a:r>
            <a:r>
              <a:rPr lang="es-CO" sz="1200" dirty="0"/>
              <a:t> </a:t>
            </a:r>
            <a:r>
              <a:rPr lang="es-CO" sz="1200" dirty="0" err="1"/>
              <a:t>article</a:t>
            </a:r>
            <a:r>
              <a:rPr lang="es-CO" sz="1200" dirty="0"/>
              <a:t>'})</a:t>
            </a:r>
          </a:p>
          <a:p>
            <a:r>
              <a:rPr lang="es-CO" sz="1200" dirty="0"/>
              <a:t> .</a:t>
            </a:r>
            <a:r>
              <a:rPr lang="es-CO" sz="1200" dirty="0" err="1"/>
              <a:t>then</a:t>
            </a:r>
            <a:r>
              <a:rPr lang="es-CO" sz="1200" dirty="0"/>
              <a:t>(</a:t>
            </a:r>
            <a:r>
              <a:rPr lang="es-CO" sz="1200" dirty="0" err="1"/>
              <a:t>getArticles</a:t>
            </a:r>
            <a:r>
              <a:rPr lang="es-CO" sz="1200" dirty="0"/>
              <a:t>());</a:t>
            </a:r>
          </a:p>
          <a:p>
            <a:endParaRPr lang="es-CO" sz="1400" dirty="0"/>
          </a:p>
        </p:txBody>
      </p:sp>
      <p:pic>
        <p:nvPicPr>
          <p:cNvPr id="5" name="Imagen 4"/>
          <p:cNvPicPr>
            <a:picLocks noChangeAspect="1"/>
          </p:cNvPicPr>
          <p:nvPr/>
        </p:nvPicPr>
        <p:blipFill>
          <a:blip r:embed="rId3"/>
          <a:stretch>
            <a:fillRect/>
          </a:stretch>
        </p:blipFill>
        <p:spPr>
          <a:xfrm>
            <a:off x="3413760" y="1872853"/>
            <a:ext cx="8641080" cy="1371481"/>
          </a:xfrm>
          <a:prstGeom prst="rect">
            <a:avLst/>
          </a:prstGeom>
        </p:spPr>
      </p:pic>
      <p:pic>
        <p:nvPicPr>
          <p:cNvPr id="6" name="Imagen 5"/>
          <p:cNvPicPr>
            <a:picLocks noChangeAspect="1"/>
          </p:cNvPicPr>
          <p:nvPr/>
        </p:nvPicPr>
        <p:blipFill>
          <a:blip r:embed="rId4"/>
          <a:stretch>
            <a:fillRect/>
          </a:stretch>
        </p:blipFill>
        <p:spPr>
          <a:xfrm>
            <a:off x="4412933" y="4366249"/>
            <a:ext cx="7337108" cy="1504950"/>
          </a:xfrm>
          <a:prstGeom prst="rect">
            <a:avLst/>
          </a:prstGeom>
        </p:spPr>
      </p:pic>
    </p:spTree>
    <p:extLst>
      <p:ext uri="{BB962C8B-B14F-4D97-AF65-F5344CB8AC3E}">
        <p14:creationId xmlns:p14="http://schemas.microsoft.com/office/powerpoint/2010/main" val="2142738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a:solidFill>
                  <a:srgbClr val="FFF5EA"/>
                </a:solidFill>
                <a:latin typeface="Georgia"/>
                <a:cs typeface="Georgia"/>
              </a:rPr>
              <a:t>Async/Await</a:t>
            </a:r>
            <a:endParaRPr spc="-42" dirty="0">
              <a:solidFill>
                <a:srgbClr val="FFF5EA"/>
              </a:solidFill>
              <a:latin typeface="Georgia"/>
              <a:cs typeface="Georgia"/>
            </a:endParaRPr>
          </a:p>
        </p:txBody>
      </p:sp>
      <p:sp>
        <p:nvSpPr>
          <p:cNvPr id="3" name="Rectángulo 2"/>
          <p:cNvSpPr/>
          <p:nvPr/>
        </p:nvSpPr>
        <p:spPr>
          <a:xfrm>
            <a:off x="563880" y="1951672"/>
            <a:ext cx="6096000" cy="1477328"/>
          </a:xfrm>
          <a:prstGeom prst="rect">
            <a:avLst/>
          </a:prstGeom>
        </p:spPr>
        <p:txBody>
          <a:bodyPr>
            <a:spAutoFit/>
          </a:bodyPr>
          <a:lstStyle/>
          <a:p>
            <a:r>
              <a:rPr lang="es-ES" dirty="0"/>
              <a:t>Se supone que esta es la mejor manera de escribir promesas y nos ayuda a mantener nuestro código simple y limpio.</a:t>
            </a:r>
          </a:p>
          <a:p>
            <a:endParaRPr lang="es-ES" dirty="0"/>
          </a:p>
          <a:p>
            <a:r>
              <a:rPr lang="es-ES" dirty="0"/>
              <a:t>Todo lo que tienes que hacer es escribir la palabra </a:t>
            </a:r>
            <a:r>
              <a:rPr lang="es-ES" dirty="0" err="1"/>
              <a:t>async</a:t>
            </a:r>
            <a:r>
              <a:rPr lang="es-ES" dirty="0"/>
              <a:t> antes de cualquier función regular y se convierte en una promesa.</a:t>
            </a:r>
            <a:endParaRPr lang="es-CO" dirty="0"/>
          </a:p>
        </p:txBody>
      </p:sp>
      <p:pic>
        <p:nvPicPr>
          <p:cNvPr id="7" name="Imagen 6"/>
          <p:cNvPicPr>
            <a:picLocks noChangeAspect="1"/>
          </p:cNvPicPr>
          <p:nvPr/>
        </p:nvPicPr>
        <p:blipFill>
          <a:blip r:embed="rId3"/>
          <a:stretch>
            <a:fillRect/>
          </a:stretch>
        </p:blipFill>
        <p:spPr>
          <a:xfrm>
            <a:off x="362089" y="3613666"/>
            <a:ext cx="6499581" cy="3058626"/>
          </a:xfrm>
          <a:prstGeom prst="rect">
            <a:avLst/>
          </a:prstGeom>
        </p:spPr>
      </p:pic>
    </p:spTree>
    <p:extLst>
      <p:ext uri="{BB962C8B-B14F-4D97-AF65-F5344CB8AC3E}">
        <p14:creationId xmlns:p14="http://schemas.microsoft.com/office/powerpoint/2010/main" val="4034570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a:solidFill>
                  <a:srgbClr val="FFF5EA"/>
                </a:solidFill>
                <a:latin typeface="Georgia"/>
                <a:cs typeface="Georgia"/>
              </a:rPr>
              <a:t>Async/Await: Ejemplo</a:t>
            </a:r>
            <a:endParaRPr spc="-42" dirty="0">
              <a:solidFill>
                <a:srgbClr val="FFF5EA"/>
              </a:solidFill>
              <a:latin typeface="Georgia"/>
              <a:cs typeface="Georgia"/>
            </a:endParaRPr>
          </a:p>
        </p:txBody>
      </p:sp>
      <p:sp>
        <p:nvSpPr>
          <p:cNvPr id="2" name="Rectángulo 1"/>
          <p:cNvSpPr/>
          <p:nvPr/>
        </p:nvSpPr>
        <p:spPr>
          <a:xfrm>
            <a:off x="655320" y="1630680"/>
            <a:ext cx="4739640" cy="4678204"/>
          </a:xfrm>
          <a:prstGeom prst="rect">
            <a:avLst/>
          </a:prstGeom>
        </p:spPr>
        <p:txBody>
          <a:bodyPr wrap="square">
            <a:spAutoFit/>
          </a:bodyPr>
          <a:lstStyle/>
          <a:p>
            <a:r>
              <a:rPr lang="es-CO" sz="1400" dirty="0"/>
              <a:t> </a:t>
            </a:r>
            <a:r>
              <a:rPr lang="es-CO" sz="1400" dirty="0" err="1"/>
              <a:t>const</a:t>
            </a:r>
            <a:r>
              <a:rPr lang="es-CO" sz="1400" dirty="0"/>
              <a:t> </a:t>
            </a:r>
            <a:r>
              <a:rPr lang="es-CO" sz="1400" dirty="0" err="1"/>
              <a:t>articles</a:t>
            </a:r>
            <a:r>
              <a:rPr lang="es-CO" sz="1400" dirty="0"/>
              <a:t> = [</a:t>
            </a:r>
          </a:p>
          <a:p>
            <a:r>
              <a:rPr lang="es-CO" sz="1400" dirty="0"/>
              <a:t>      {</a:t>
            </a:r>
            <a:r>
              <a:rPr lang="es-CO" sz="1400" dirty="0" err="1"/>
              <a:t>title</a:t>
            </a:r>
            <a:r>
              <a:rPr lang="es-CO" sz="1400" dirty="0"/>
              <a:t>:'</a:t>
            </a:r>
            <a:r>
              <a:rPr lang="es-CO" sz="1400" dirty="0" err="1"/>
              <a:t>First</a:t>
            </a:r>
            <a:r>
              <a:rPr lang="es-CO" sz="1400" dirty="0"/>
              <a:t> </a:t>
            </a:r>
            <a:r>
              <a:rPr lang="es-CO" sz="1400" dirty="0" err="1"/>
              <a:t>article</a:t>
            </a:r>
            <a:r>
              <a:rPr lang="es-CO" sz="1400" dirty="0"/>
              <a:t>'},</a:t>
            </a:r>
          </a:p>
          <a:p>
            <a:r>
              <a:rPr lang="es-CO" sz="1400" dirty="0"/>
              <a:t>      {</a:t>
            </a:r>
            <a:r>
              <a:rPr lang="es-CO" sz="1400" dirty="0" err="1"/>
              <a:t>title</a:t>
            </a:r>
            <a:r>
              <a:rPr lang="es-CO" sz="1400" dirty="0"/>
              <a:t>:'</a:t>
            </a:r>
            <a:r>
              <a:rPr lang="es-CO" sz="1400" dirty="0" err="1"/>
              <a:t>Second</a:t>
            </a:r>
            <a:r>
              <a:rPr lang="es-CO" sz="1400" dirty="0"/>
              <a:t> </a:t>
            </a:r>
            <a:r>
              <a:rPr lang="es-CO" sz="1400" dirty="0" err="1"/>
              <a:t>article</a:t>
            </a:r>
            <a:r>
              <a:rPr lang="es-CO" sz="1400" dirty="0"/>
              <a:t>'}</a:t>
            </a:r>
          </a:p>
          <a:p>
            <a:r>
              <a:rPr lang="es-CO" sz="1400" dirty="0"/>
              <a:t>   ];</a:t>
            </a:r>
          </a:p>
          <a:p>
            <a:r>
              <a:rPr lang="es-CO" sz="1400" dirty="0"/>
              <a:t>   </a:t>
            </a:r>
            <a:r>
              <a:rPr lang="es-CO" sz="1400" dirty="0" err="1"/>
              <a:t>function</a:t>
            </a:r>
            <a:r>
              <a:rPr lang="es-CO" sz="1400" dirty="0"/>
              <a:t> </a:t>
            </a:r>
            <a:r>
              <a:rPr lang="es-CO" sz="1400" dirty="0" err="1"/>
              <a:t>getArticles</a:t>
            </a:r>
            <a:r>
              <a:rPr lang="es-CO" sz="1400" dirty="0"/>
              <a:t>(){</a:t>
            </a:r>
          </a:p>
          <a:p>
            <a:r>
              <a:rPr lang="es-CO" sz="1400" dirty="0"/>
              <a:t>      </a:t>
            </a:r>
            <a:r>
              <a:rPr lang="es-CO" sz="1400" dirty="0" err="1"/>
              <a:t>setTimeout</a:t>
            </a:r>
            <a:r>
              <a:rPr lang="es-CO" sz="1400" dirty="0"/>
              <a:t>(()=&gt;{</a:t>
            </a:r>
          </a:p>
          <a:p>
            <a:r>
              <a:rPr lang="es-CO" sz="1400" dirty="0"/>
              <a:t>         </a:t>
            </a:r>
            <a:r>
              <a:rPr lang="es-CO" sz="1400" dirty="0" err="1"/>
              <a:t>let</a:t>
            </a:r>
            <a:r>
              <a:rPr lang="es-CO" sz="1400" dirty="0"/>
              <a:t> </a:t>
            </a:r>
            <a:r>
              <a:rPr lang="es-CO" sz="1400" dirty="0" err="1"/>
              <a:t>articleContent</a:t>
            </a:r>
            <a:r>
              <a:rPr lang="es-CO" sz="1400" dirty="0"/>
              <a:t>='';</a:t>
            </a:r>
          </a:p>
          <a:p>
            <a:r>
              <a:rPr lang="es-CO" sz="1400" dirty="0"/>
              <a:t>         </a:t>
            </a:r>
            <a:r>
              <a:rPr lang="es-CO" sz="1400" dirty="0" err="1"/>
              <a:t>articles.forEach</a:t>
            </a:r>
            <a:r>
              <a:rPr lang="es-CO" sz="1400" dirty="0"/>
              <a:t>((</a:t>
            </a:r>
            <a:r>
              <a:rPr lang="es-CO" sz="1400" dirty="0" err="1"/>
              <a:t>article,index</a:t>
            </a:r>
            <a:r>
              <a:rPr lang="es-CO" sz="1400" dirty="0"/>
              <a:t>)=&gt;{</a:t>
            </a:r>
          </a:p>
          <a:p>
            <a:r>
              <a:rPr lang="es-CO" sz="1400" dirty="0"/>
              <a:t>            </a:t>
            </a:r>
            <a:r>
              <a:rPr lang="es-CO" sz="1400" dirty="0" err="1"/>
              <a:t>articleContent</a:t>
            </a:r>
            <a:r>
              <a:rPr lang="es-CO" sz="1400" dirty="0"/>
              <a:t>+=`${</a:t>
            </a:r>
            <a:r>
              <a:rPr lang="es-CO" sz="1400" dirty="0" err="1"/>
              <a:t>article.title</a:t>
            </a:r>
            <a:r>
              <a:rPr lang="es-CO" sz="1400" dirty="0"/>
              <a:t>}`+` `;</a:t>
            </a:r>
          </a:p>
          <a:p>
            <a:r>
              <a:rPr lang="es-CO" sz="1400" dirty="0"/>
              <a:t>         });</a:t>
            </a:r>
          </a:p>
          <a:p>
            <a:r>
              <a:rPr lang="es-CO" sz="1400" dirty="0"/>
              <a:t>         console.log(</a:t>
            </a:r>
            <a:r>
              <a:rPr lang="es-CO" sz="1400" dirty="0" err="1"/>
              <a:t>articleContent</a:t>
            </a:r>
            <a:r>
              <a:rPr lang="es-CO" sz="1400" dirty="0"/>
              <a:t>);</a:t>
            </a:r>
          </a:p>
          <a:p>
            <a:r>
              <a:rPr lang="es-CO" sz="1400" dirty="0"/>
              <a:t>      },1000);</a:t>
            </a:r>
          </a:p>
          <a:p>
            <a:r>
              <a:rPr lang="es-CO" sz="1400" dirty="0"/>
              <a:t>   }</a:t>
            </a:r>
          </a:p>
          <a:p>
            <a:r>
              <a:rPr lang="es-CO" sz="1400" dirty="0"/>
              <a:t>   </a:t>
            </a:r>
            <a:r>
              <a:rPr lang="es-CO" sz="1400" dirty="0" err="1"/>
              <a:t>function</a:t>
            </a:r>
            <a:r>
              <a:rPr lang="es-CO" sz="1400" dirty="0"/>
              <a:t> </a:t>
            </a:r>
            <a:r>
              <a:rPr lang="es-CO" sz="1400" dirty="0" err="1"/>
              <a:t>createArticle</a:t>
            </a:r>
            <a:r>
              <a:rPr lang="es-CO" sz="1400" dirty="0"/>
              <a:t>(</a:t>
            </a:r>
            <a:r>
              <a:rPr lang="es-CO" sz="1400" dirty="0" err="1"/>
              <a:t>article</a:t>
            </a:r>
            <a:r>
              <a:rPr lang="es-CO" sz="1400" dirty="0"/>
              <a:t>){</a:t>
            </a:r>
          </a:p>
          <a:p>
            <a:r>
              <a:rPr lang="es-CO" sz="1400" dirty="0"/>
              <a:t>      </a:t>
            </a:r>
            <a:r>
              <a:rPr lang="es-CO" sz="1400" dirty="0" err="1"/>
              <a:t>articles.push</a:t>
            </a:r>
            <a:r>
              <a:rPr lang="es-CO" sz="1400" dirty="0"/>
              <a:t>(</a:t>
            </a:r>
            <a:r>
              <a:rPr lang="es-CO" sz="1400" dirty="0" err="1"/>
              <a:t>article</a:t>
            </a:r>
            <a:r>
              <a:rPr lang="es-CO" sz="1400" dirty="0"/>
              <a:t>);</a:t>
            </a:r>
          </a:p>
          <a:p>
            <a:r>
              <a:rPr lang="es-CO" sz="1400" dirty="0"/>
              <a:t>   }</a:t>
            </a:r>
          </a:p>
          <a:p>
            <a:r>
              <a:rPr lang="es-CO" sz="1400" dirty="0"/>
              <a:t>   </a:t>
            </a:r>
            <a:r>
              <a:rPr lang="es-CO" sz="1400" dirty="0" err="1"/>
              <a:t>async</a:t>
            </a:r>
            <a:r>
              <a:rPr lang="es-CO" sz="1400" dirty="0"/>
              <a:t> </a:t>
            </a:r>
            <a:r>
              <a:rPr lang="es-CO" sz="1400" dirty="0" err="1"/>
              <a:t>function</a:t>
            </a:r>
            <a:r>
              <a:rPr lang="es-CO" sz="1400" dirty="0"/>
              <a:t> </a:t>
            </a:r>
            <a:r>
              <a:rPr lang="es-CO" sz="1400" dirty="0" err="1"/>
              <a:t>testAsync</a:t>
            </a:r>
            <a:r>
              <a:rPr lang="es-CO" sz="1400" dirty="0"/>
              <a:t>(){</a:t>
            </a:r>
          </a:p>
          <a:p>
            <a:r>
              <a:rPr lang="es-CO" sz="1400" dirty="0"/>
              <a:t>      </a:t>
            </a:r>
            <a:r>
              <a:rPr lang="es-CO" sz="1400" dirty="0" err="1"/>
              <a:t>await</a:t>
            </a:r>
            <a:r>
              <a:rPr lang="es-CO" sz="1400" dirty="0"/>
              <a:t> </a:t>
            </a:r>
            <a:r>
              <a:rPr lang="es-CO" sz="1400" dirty="0" err="1"/>
              <a:t>createArticle</a:t>
            </a:r>
            <a:r>
              <a:rPr lang="es-CO" sz="1400" dirty="0"/>
              <a:t>({</a:t>
            </a:r>
            <a:r>
              <a:rPr lang="es-CO" sz="1400" dirty="0" err="1"/>
              <a:t>title</a:t>
            </a:r>
            <a:r>
              <a:rPr lang="es-CO" sz="1400" dirty="0"/>
              <a:t>:'</a:t>
            </a:r>
            <a:r>
              <a:rPr lang="es-CO" sz="1400" dirty="0" err="1"/>
              <a:t>Third</a:t>
            </a:r>
            <a:r>
              <a:rPr lang="es-CO" sz="1400" dirty="0"/>
              <a:t> </a:t>
            </a:r>
            <a:r>
              <a:rPr lang="es-CO" sz="1400" dirty="0" err="1"/>
              <a:t>article</a:t>
            </a:r>
            <a:r>
              <a:rPr lang="es-CO" sz="1400" dirty="0"/>
              <a:t>'});</a:t>
            </a:r>
          </a:p>
          <a:p>
            <a:r>
              <a:rPr lang="es-CO" sz="1400" dirty="0"/>
              <a:t>      </a:t>
            </a:r>
            <a:r>
              <a:rPr lang="es-CO" sz="1400" dirty="0" err="1"/>
              <a:t>getArticles</a:t>
            </a:r>
            <a:r>
              <a:rPr lang="es-CO" sz="1400" dirty="0"/>
              <a:t>();</a:t>
            </a:r>
          </a:p>
          <a:p>
            <a:r>
              <a:rPr lang="es-CO" sz="1400" dirty="0"/>
              <a:t>   }</a:t>
            </a:r>
          </a:p>
          <a:p>
            <a:r>
              <a:rPr lang="es-CO" dirty="0"/>
              <a:t>   </a:t>
            </a:r>
            <a:r>
              <a:rPr lang="es-CO" dirty="0" err="1"/>
              <a:t>testAsync</a:t>
            </a:r>
            <a:r>
              <a:rPr lang="es-CO" dirty="0"/>
              <a:t>();</a:t>
            </a:r>
          </a:p>
        </p:txBody>
      </p:sp>
      <p:sp>
        <p:nvSpPr>
          <p:cNvPr id="5" name="Rectángulo 4"/>
          <p:cNvSpPr/>
          <p:nvPr/>
        </p:nvSpPr>
        <p:spPr>
          <a:xfrm>
            <a:off x="4587240" y="2216557"/>
            <a:ext cx="6096000" cy="1754326"/>
          </a:xfrm>
          <a:prstGeom prst="rect">
            <a:avLst/>
          </a:prstGeom>
        </p:spPr>
        <p:txBody>
          <a:bodyPr>
            <a:spAutoFit/>
          </a:bodyPr>
          <a:lstStyle/>
          <a:p>
            <a:r>
              <a:rPr lang="es-ES" dirty="0"/>
              <a:t>La función </a:t>
            </a:r>
            <a:r>
              <a:rPr lang="es-ES" dirty="0" err="1"/>
              <a:t>testAsync</a:t>
            </a:r>
            <a:r>
              <a:rPr lang="es-ES" dirty="0"/>
              <a:t> está marcada como asíncrona y usamos </a:t>
            </a:r>
            <a:r>
              <a:rPr lang="es-ES" dirty="0" err="1"/>
              <a:t>await</a:t>
            </a:r>
            <a:r>
              <a:rPr lang="es-ES" dirty="0"/>
              <a:t> para que la función </a:t>
            </a:r>
            <a:r>
              <a:rPr lang="es-ES" dirty="0" err="1"/>
              <a:t>createArticle</a:t>
            </a:r>
            <a:r>
              <a:rPr lang="es-ES" dirty="0"/>
              <a:t> la completara primero. Luego llamamos a </a:t>
            </a:r>
            <a:r>
              <a:rPr lang="es-ES" dirty="0" err="1"/>
              <a:t>getArticles</a:t>
            </a:r>
            <a:r>
              <a:rPr lang="es-ES" dirty="0"/>
              <a:t>().</a:t>
            </a:r>
          </a:p>
          <a:p>
            <a:endParaRPr lang="es-ES" dirty="0"/>
          </a:p>
          <a:p>
            <a:r>
              <a:rPr lang="es-ES" dirty="0"/>
              <a:t>El uso de </a:t>
            </a:r>
            <a:r>
              <a:rPr lang="es-ES" dirty="0" err="1"/>
              <a:t>async</a:t>
            </a:r>
            <a:r>
              <a:rPr lang="es-ES" dirty="0"/>
              <a:t> / </a:t>
            </a:r>
            <a:r>
              <a:rPr lang="es-ES" dirty="0" err="1"/>
              <a:t>await</a:t>
            </a:r>
            <a:r>
              <a:rPr lang="es-ES" dirty="0"/>
              <a:t> es la mejor versión de las promesas y hace que el código sea más limpio</a:t>
            </a:r>
            <a:endParaRPr lang="es-CO" dirty="0"/>
          </a:p>
        </p:txBody>
      </p:sp>
    </p:spTree>
    <p:extLst>
      <p:ext uri="{BB962C8B-B14F-4D97-AF65-F5344CB8AC3E}">
        <p14:creationId xmlns:p14="http://schemas.microsoft.com/office/powerpoint/2010/main" val="1031861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US" spc="-42" dirty="0" err="1">
                <a:solidFill>
                  <a:srgbClr val="FFF5EA"/>
                </a:solidFill>
                <a:latin typeface="Georgia"/>
                <a:cs typeface="Georgia"/>
              </a:rPr>
              <a:t>Funciones</a:t>
            </a:r>
            <a:r>
              <a:rPr lang="en-US" spc="-42" dirty="0">
                <a:solidFill>
                  <a:srgbClr val="FFF5EA"/>
                </a:solidFill>
                <a:latin typeface="Georgia"/>
                <a:cs typeface="Georgia"/>
              </a:rPr>
              <a:t> de </a:t>
            </a:r>
            <a:r>
              <a:rPr lang="en-US" spc="-42" dirty="0" err="1">
                <a:solidFill>
                  <a:srgbClr val="FFF5EA"/>
                </a:solidFill>
                <a:latin typeface="Georgia"/>
                <a:cs typeface="Georgia"/>
              </a:rPr>
              <a:t>flecha</a:t>
            </a:r>
            <a:endParaRPr spc="-42" dirty="0">
              <a:solidFill>
                <a:srgbClr val="FFF5EA"/>
              </a:solidFill>
              <a:latin typeface="Georgia"/>
              <a:cs typeface="Georgia"/>
            </a:endParaRPr>
          </a:p>
        </p:txBody>
      </p:sp>
      <p:sp>
        <p:nvSpPr>
          <p:cNvPr id="6" name="CuadroTexto 5">
            <a:extLst>
              <a:ext uri="{FF2B5EF4-FFF2-40B4-BE49-F238E27FC236}">
                <a16:creationId xmlns:a16="http://schemas.microsoft.com/office/drawing/2014/main" id="{0B996EE7-126D-DDB1-D13B-C8F131F711DF}"/>
              </a:ext>
            </a:extLst>
          </p:cNvPr>
          <p:cNvSpPr txBox="1"/>
          <p:nvPr/>
        </p:nvSpPr>
        <p:spPr>
          <a:xfrm>
            <a:off x="455613" y="1681807"/>
            <a:ext cx="6094206" cy="1477328"/>
          </a:xfrm>
          <a:prstGeom prst="rect">
            <a:avLst/>
          </a:prstGeom>
          <a:noFill/>
        </p:spPr>
        <p:txBody>
          <a:bodyPr wrap="square">
            <a:spAutoFit/>
          </a:bodyPr>
          <a:lstStyle/>
          <a:p>
            <a:pPr algn="just"/>
            <a:r>
              <a:rPr lang="es-ES" dirty="0"/>
              <a:t>Esto crea una función </a:t>
            </a:r>
            <a:r>
              <a:rPr lang="es-ES" dirty="0" err="1"/>
              <a:t>func</a:t>
            </a:r>
            <a:r>
              <a:rPr lang="es-ES" dirty="0"/>
              <a:t> que acepta los parámetros arg1..argN, luego evalúa la </a:t>
            </a:r>
            <a:r>
              <a:rPr lang="es-ES" dirty="0" err="1"/>
              <a:t>expression</a:t>
            </a:r>
            <a:r>
              <a:rPr lang="es-ES" dirty="0"/>
              <a:t> del lado derecho mediante su uso y devuelve su resultado.</a:t>
            </a:r>
          </a:p>
          <a:p>
            <a:pPr algn="just"/>
            <a:endParaRPr lang="es-ES" dirty="0"/>
          </a:p>
          <a:p>
            <a:pPr algn="just"/>
            <a:r>
              <a:rPr lang="es-ES" dirty="0"/>
              <a:t>En otras palabras, es la versión más corta de:</a:t>
            </a:r>
            <a:endParaRPr lang="en-US" dirty="0"/>
          </a:p>
        </p:txBody>
      </p:sp>
      <p:pic>
        <p:nvPicPr>
          <p:cNvPr id="9" name="Imagen 8">
            <a:extLst>
              <a:ext uri="{FF2B5EF4-FFF2-40B4-BE49-F238E27FC236}">
                <a16:creationId xmlns:a16="http://schemas.microsoft.com/office/drawing/2014/main" id="{5F131ADB-E047-62CB-7ADF-4FBC49C805D7}"/>
              </a:ext>
            </a:extLst>
          </p:cNvPr>
          <p:cNvPicPr>
            <a:picLocks noChangeAspect="1"/>
          </p:cNvPicPr>
          <p:nvPr/>
        </p:nvPicPr>
        <p:blipFill rotWithShape="1">
          <a:blip r:embed="rId3"/>
          <a:srcRect r="40642"/>
          <a:stretch/>
        </p:blipFill>
        <p:spPr>
          <a:xfrm>
            <a:off x="552433" y="3268298"/>
            <a:ext cx="5311848" cy="1013246"/>
          </a:xfrm>
          <a:prstGeom prst="rect">
            <a:avLst/>
          </a:prstGeom>
        </p:spPr>
      </p:pic>
      <p:sp>
        <p:nvSpPr>
          <p:cNvPr id="11" name="CuadroTexto 10">
            <a:extLst>
              <a:ext uri="{FF2B5EF4-FFF2-40B4-BE49-F238E27FC236}">
                <a16:creationId xmlns:a16="http://schemas.microsoft.com/office/drawing/2014/main" id="{5B7A1D58-981D-8FE5-955E-7AE877EEA62A}"/>
              </a:ext>
            </a:extLst>
          </p:cNvPr>
          <p:cNvSpPr txBox="1"/>
          <p:nvPr/>
        </p:nvSpPr>
        <p:spPr>
          <a:xfrm>
            <a:off x="455613" y="4355774"/>
            <a:ext cx="6094206" cy="369332"/>
          </a:xfrm>
          <a:prstGeom prst="rect">
            <a:avLst/>
          </a:prstGeom>
          <a:noFill/>
        </p:spPr>
        <p:txBody>
          <a:bodyPr wrap="square">
            <a:spAutoFit/>
          </a:bodyPr>
          <a:lstStyle/>
          <a:p>
            <a:r>
              <a:rPr lang="en-US" dirty="0" err="1"/>
              <a:t>Veamos</a:t>
            </a:r>
            <a:r>
              <a:rPr lang="en-US" dirty="0"/>
              <a:t> un </a:t>
            </a:r>
            <a:r>
              <a:rPr lang="en-US" dirty="0" err="1"/>
              <a:t>ejemplo</a:t>
            </a:r>
            <a:r>
              <a:rPr lang="en-US" dirty="0"/>
              <a:t> </a:t>
            </a:r>
            <a:r>
              <a:rPr lang="en-US" dirty="0" err="1"/>
              <a:t>concreto</a:t>
            </a:r>
            <a:r>
              <a:rPr lang="en-US" dirty="0"/>
              <a:t>:</a:t>
            </a:r>
          </a:p>
        </p:txBody>
      </p:sp>
      <p:pic>
        <p:nvPicPr>
          <p:cNvPr id="13" name="Imagen 12">
            <a:extLst>
              <a:ext uri="{FF2B5EF4-FFF2-40B4-BE49-F238E27FC236}">
                <a16:creationId xmlns:a16="http://schemas.microsoft.com/office/drawing/2014/main" id="{D52461DB-1592-2976-2EBA-9EB499D3AD0A}"/>
              </a:ext>
            </a:extLst>
          </p:cNvPr>
          <p:cNvPicPr>
            <a:picLocks noChangeAspect="1"/>
          </p:cNvPicPr>
          <p:nvPr/>
        </p:nvPicPr>
        <p:blipFill rotWithShape="1">
          <a:blip r:embed="rId4"/>
          <a:srcRect r="35293"/>
          <a:stretch/>
        </p:blipFill>
        <p:spPr>
          <a:xfrm>
            <a:off x="6800314" y="1681807"/>
            <a:ext cx="4936073" cy="2423370"/>
          </a:xfrm>
          <a:prstGeom prst="rect">
            <a:avLst/>
          </a:prstGeom>
        </p:spPr>
      </p:pic>
      <p:sp>
        <p:nvSpPr>
          <p:cNvPr id="15" name="CuadroTexto 14">
            <a:extLst>
              <a:ext uri="{FF2B5EF4-FFF2-40B4-BE49-F238E27FC236}">
                <a16:creationId xmlns:a16="http://schemas.microsoft.com/office/drawing/2014/main" id="{7BC9AB93-0C0E-3C90-8513-D16935403DF0}"/>
              </a:ext>
            </a:extLst>
          </p:cNvPr>
          <p:cNvSpPr txBox="1"/>
          <p:nvPr/>
        </p:nvSpPr>
        <p:spPr>
          <a:xfrm>
            <a:off x="6800313" y="4540440"/>
            <a:ext cx="5271109" cy="1200329"/>
          </a:xfrm>
          <a:prstGeom prst="rect">
            <a:avLst/>
          </a:prstGeom>
          <a:noFill/>
        </p:spPr>
        <p:txBody>
          <a:bodyPr wrap="square">
            <a:spAutoFit/>
          </a:bodyPr>
          <a:lstStyle/>
          <a:p>
            <a:r>
              <a:rPr lang="es-ES" dirty="0"/>
              <a:t>Como puedes ver, (a, b) =&gt; a + b significa una función que acepta dos argumentos llamados a y b. Tras la ejecución, evalúa la expresión a + b y devuelve el resultado.</a:t>
            </a:r>
            <a:endParaRPr lang="en-US" dirty="0"/>
          </a:p>
        </p:txBody>
      </p:sp>
    </p:spTree>
    <p:extLst>
      <p:ext uri="{BB962C8B-B14F-4D97-AF65-F5344CB8AC3E}">
        <p14:creationId xmlns:p14="http://schemas.microsoft.com/office/powerpoint/2010/main" val="4225653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US" spc="-42" dirty="0">
                <a:solidFill>
                  <a:srgbClr val="FFF5EA"/>
                </a:solidFill>
                <a:latin typeface="Georgia"/>
                <a:cs typeface="Georgia"/>
              </a:rPr>
              <a:t>JSON</a:t>
            </a:r>
            <a:endParaRPr spc="-42" dirty="0">
              <a:solidFill>
                <a:srgbClr val="FFF5EA"/>
              </a:solidFill>
              <a:latin typeface="Georgia"/>
              <a:cs typeface="Georgia"/>
            </a:endParaRPr>
          </a:p>
        </p:txBody>
      </p:sp>
      <p:pic>
        <p:nvPicPr>
          <p:cNvPr id="3" name="Imagen 2">
            <a:extLst>
              <a:ext uri="{FF2B5EF4-FFF2-40B4-BE49-F238E27FC236}">
                <a16:creationId xmlns:a16="http://schemas.microsoft.com/office/drawing/2014/main" id="{E0C236B2-00E6-E355-DFC5-A75A136535F8}"/>
              </a:ext>
            </a:extLst>
          </p:cNvPr>
          <p:cNvPicPr>
            <a:picLocks noChangeAspect="1"/>
          </p:cNvPicPr>
          <p:nvPr/>
        </p:nvPicPr>
        <p:blipFill rotWithShape="1">
          <a:blip r:embed="rId3"/>
          <a:srcRect l="1772" t="9699" r="7094" b="27021"/>
          <a:stretch/>
        </p:blipFill>
        <p:spPr>
          <a:xfrm>
            <a:off x="586479" y="1934211"/>
            <a:ext cx="11019042" cy="3358909"/>
          </a:xfrm>
          <a:prstGeom prst="rect">
            <a:avLst/>
          </a:prstGeom>
        </p:spPr>
      </p:pic>
    </p:spTree>
    <p:extLst>
      <p:ext uri="{BB962C8B-B14F-4D97-AF65-F5344CB8AC3E}">
        <p14:creationId xmlns:p14="http://schemas.microsoft.com/office/powerpoint/2010/main" val="2577492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US" spc="-42" dirty="0">
                <a:solidFill>
                  <a:srgbClr val="FFF5EA"/>
                </a:solidFill>
                <a:latin typeface="Georgia"/>
                <a:cs typeface="Georgia"/>
              </a:rPr>
              <a:t>Destructuracion de objetos</a:t>
            </a:r>
            <a:endParaRPr spc="-42" dirty="0">
              <a:solidFill>
                <a:srgbClr val="FFF5EA"/>
              </a:solidFill>
              <a:latin typeface="Georgia"/>
              <a:cs typeface="Georgia"/>
            </a:endParaRPr>
          </a:p>
        </p:txBody>
      </p:sp>
      <p:sp>
        <p:nvSpPr>
          <p:cNvPr id="5" name="CuadroTexto 4">
            <a:extLst>
              <a:ext uri="{FF2B5EF4-FFF2-40B4-BE49-F238E27FC236}">
                <a16:creationId xmlns:a16="http://schemas.microsoft.com/office/drawing/2014/main" id="{11713966-E153-6F86-D050-A5EEACE62277}"/>
              </a:ext>
            </a:extLst>
          </p:cNvPr>
          <p:cNvSpPr txBox="1"/>
          <p:nvPr/>
        </p:nvSpPr>
        <p:spPr>
          <a:xfrm>
            <a:off x="658906" y="1674674"/>
            <a:ext cx="5318311" cy="2031325"/>
          </a:xfrm>
          <a:prstGeom prst="rect">
            <a:avLst/>
          </a:prstGeom>
          <a:noFill/>
        </p:spPr>
        <p:txBody>
          <a:bodyPr wrap="square">
            <a:spAutoFit/>
          </a:bodyPr>
          <a:lstStyle/>
          <a:p>
            <a:pPr algn="just"/>
            <a:r>
              <a:rPr lang="es-ES" dirty="0"/>
              <a:t>La desestructuración de objetos es, probablemente, una de las estrategias más utilizadas al trabajar en </a:t>
            </a:r>
            <a:r>
              <a:rPr lang="es-ES" dirty="0" err="1"/>
              <a:t>Javascript</a:t>
            </a:r>
            <a:r>
              <a:rPr lang="es-ES" dirty="0"/>
              <a:t> nativo (o en </a:t>
            </a:r>
            <a:r>
              <a:rPr lang="es-ES" dirty="0" err="1"/>
              <a:t>frameworks</a:t>
            </a:r>
            <a:r>
              <a:rPr lang="es-ES" dirty="0"/>
              <a:t> como </a:t>
            </a:r>
            <a:r>
              <a:rPr lang="es-ES" dirty="0" err="1"/>
              <a:t>React</a:t>
            </a:r>
            <a:r>
              <a:rPr lang="es-ES" dirty="0"/>
              <a:t>) debido a que en </a:t>
            </a:r>
            <a:r>
              <a:rPr lang="es-ES" dirty="0" err="1"/>
              <a:t>Javascript</a:t>
            </a:r>
            <a:r>
              <a:rPr lang="es-ES" dirty="0"/>
              <a:t> se utilizan muchísimo las estructuras de datos de objetos y es muy interesante simplificar lo máximo posible, así que veamos como funciona.</a:t>
            </a:r>
            <a:endParaRPr lang="en-US" dirty="0"/>
          </a:p>
        </p:txBody>
      </p:sp>
      <p:sp>
        <p:nvSpPr>
          <p:cNvPr id="7" name="CuadroTexto 6">
            <a:extLst>
              <a:ext uri="{FF2B5EF4-FFF2-40B4-BE49-F238E27FC236}">
                <a16:creationId xmlns:a16="http://schemas.microsoft.com/office/drawing/2014/main" id="{DFB4A285-6BD4-1CDC-E29B-4E35E0B63F5B}"/>
              </a:ext>
            </a:extLst>
          </p:cNvPr>
          <p:cNvSpPr txBox="1"/>
          <p:nvPr/>
        </p:nvSpPr>
        <p:spPr>
          <a:xfrm>
            <a:off x="658906" y="3613666"/>
            <a:ext cx="5437094" cy="1477328"/>
          </a:xfrm>
          <a:prstGeom prst="rect">
            <a:avLst/>
          </a:prstGeom>
          <a:noFill/>
        </p:spPr>
        <p:txBody>
          <a:bodyPr wrap="square">
            <a:spAutoFit/>
          </a:bodyPr>
          <a:lstStyle/>
          <a:p>
            <a:pPr algn="just"/>
            <a:r>
              <a:rPr lang="es-ES" dirty="0"/>
              <a:t>Empecemos por el caso más sencillo. Imaginemos que tenemos una estructura de datos que es un objeto. Utilizando la desestructuración de objetos podemos separar en variables las propiedades que teníamos en el objeto:</a:t>
            </a:r>
            <a:endParaRPr lang="en-US" dirty="0"/>
          </a:p>
        </p:txBody>
      </p:sp>
      <p:sp>
        <p:nvSpPr>
          <p:cNvPr id="10" name="CuadroTexto 9">
            <a:extLst>
              <a:ext uri="{FF2B5EF4-FFF2-40B4-BE49-F238E27FC236}">
                <a16:creationId xmlns:a16="http://schemas.microsoft.com/office/drawing/2014/main" id="{AE507AF7-354D-20E6-CF85-AB07BF0F466E}"/>
              </a:ext>
            </a:extLst>
          </p:cNvPr>
          <p:cNvSpPr txBox="1"/>
          <p:nvPr/>
        </p:nvSpPr>
        <p:spPr>
          <a:xfrm>
            <a:off x="6214783" y="1674674"/>
            <a:ext cx="6094206" cy="2246769"/>
          </a:xfrm>
          <a:prstGeom prst="rect">
            <a:avLst/>
          </a:prstGeom>
          <a:noFill/>
        </p:spPr>
        <p:txBody>
          <a:bodyPr wrap="square">
            <a:spAutoFit/>
          </a:bodyPr>
          <a:lstStyle/>
          <a:p>
            <a:r>
              <a:rPr lang="en-US" sz="1400" dirty="0">
                <a:solidFill>
                  <a:schemeClr val="accent1"/>
                </a:solidFill>
              </a:rPr>
              <a:t>const user = {</a:t>
            </a:r>
          </a:p>
          <a:p>
            <a:r>
              <a:rPr lang="en-US" sz="1400" dirty="0">
                <a:solidFill>
                  <a:schemeClr val="accent1"/>
                </a:solidFill>
              </a:rPr>
              <a:t>  name: "</a:t>
            </a:r>
            <a:r>
              <a:rPr lang="en-US" sz="1400" dirty="0" err="1">
                <a:solidFill>
                  <a:schemeClr val="accent1"/>
                </a:solidFill>
              </a:rPr>
              <a:t>Manz</a:t>
            </a:r>
            <a:r>
              <a:rPr lang="en-US" sz="1400" dirty="0">
                <a:solidFill>
                  <a:schemeClr val="accent1"/>
                </a:solidFill>
              </a:rPr>
              <a:t>",</a:t>
            </a:r>
          </a:p>
          <a:p>
            <a:r>
              <a:rPr lang="en-US" sz="1400" dirty="0">
                <a:solidFill>
                  <a:schemeClr val="accent1"/>
                </a:solidFill>
              </a:rPr>
              <a:t>  role: "streamer",</a:t>
            </a:r>
          </a:p>
          <a:p>
            <a:r>
              <a:rPr lang="en-US" sz="1400" dirty="0">
                <a:solidFill>
                  <a:schemeClr val="accent1"/>
                </a:solidFill>
              </a:rPr>
              <a:t>  life: 99</a:t>
            </a:r>
          </a:p>
          <a:p>
            <a:r>
              <a:rPr lang="en-US" sz="1400" dirty="0">
                <a:solidFill>
                  <a:schemeClr val="accent1"/>
                </a:solidFill>
              </a:rPr>
              <a:t>}</a:t>
            </a:r>
          </a:p>
          <a:p>
            <a:endParaRPr lang="en-US" sz="1400" dirty="0">
              <a:solidFill>
                <a:schemeClr val="accent1"/>
              </a:solidFill>
            </a:endParaRPr>
          </a:p>
          <a:p>
            <a:r>
              <a:rPr lang="en-US" sz="1400" dirty="0">
                <a:solidFill>
                  <a:schemeClr val="accent1"/>
                </a:solidFill>
              </a:rPr>
              <a:t>const { name, role, life } = user;</a:t>
            </a:r>
          </a:p>
          <a:p>
            <a:endParaRPr lang="en-US" sz="1400" dirty="0">
              <a:solidFill>
                <a:schemeClr val="accent1"/>
              </a:solidFill>
            </a:endParaRPr>
          </a:p>
          <a:p>
            <a:r>
              <a:rPr lang="en-US" sz="1400" dirty="0">
                <a:solidFill>
                  <a:schemeClr val="accent1"/>
                </a:solidFill>
              </a:rPr>
              <a:t>console.log(name);</a:t>
            </a:r>
          </a:p>
          <a:p>
            <a:r>
              <a:rPr lang="en-US" sz="1400" dirty="0">
                <a:solidFill>
                  <a:schemeClr val="accent1"/>
                </a:solidFill>
              </a:rPr>
              <a:t>console.log(role, life);</a:t>
            </a:r>
          </a:p>
        </p:txBody>
      </p:sp>
      <p:sp>
        <p:nvSpPr>
          <p:cNvPr id="12" name="CuadroTexto 11">
            <a:extLst>
              <a:ext uri="{FF2B5EF4-FFF2-40B4-BE49-F238E27FC236}">
                <a16:creationId xmlns:a16="http://schemas.microsoft.com/office/drawing/2014/main" id="{6FDCA43C-68B0-B7B4-88A2-17BFB4EC1F2C}"/>
              </a:ext>
            </a:extLst>
          </p:cNvPr>
          <p:cNvSpPr txBox="1"/>
          <p:nvPr/>
        </p:nvSpPr>
        <p:spPr>
          <a:xfrm>
            <a:off x="6214783" y="4059942"/>
            <a:ext cx="5801509" cy="1477328"/>
          </a:xfrm>
          <a:prstGeom prst="rect">
            <a:avLst/>
          </a:prstGeom>
          <a:noFill/>
        </p:spPr>
        <p:txBody>
          <a:bodyPr wrap="square">
            <a:spAutoFit/>
          </a:bodyPr>
          <a:lstStyle/>
          <a:p>
            <a:r>
              <a:rPr lang="es-ES" dirty="0"/>
              <a:t>Ten en cuenta que, para los casos en los que una de esas propiedades no exista (o tenga un valor </a:t>
            </a:r>
            <a:r>
              <a:rPr lang="es-ES" dirty="0" err="1"/>
              <a:t>undefined</a:t>
            </a:r>
            <a:r>
              <a:rPr lang="es-ES" dirty="0"/>
              <a:t>), también podemos establecerle un valor por defecto como solemos hacer en los parámetros de una función, de la siguiente forma:</a:t>
            </a:r>
            <a:endParaRPr lang="en-US" dirty="0"/>
          </a:p>
        </p:txBody>
      </p:sp>
      <p:sp>
        <p:nvSpPr>
          <p:cNvPr id="14" name="CuadroTexto 13">
            <a:extLst>
              <a:ext uri="{FF2B5EF4-FFF2-40B4-BE49-F238E27FC236}">
                <a16:creationId xmlns:a16="http://schemas.microsoft.com/office/drawing/2014/main" id="{A044EFBA-0C33-45E9-C5A0-38B613F49277}"/>
              </a:ext>
            </a:extLst>
          </p:cNvPr>
          <p:cNvSpPr txBox="1"/>
          <p:nvPr/>
        </p:nvSpPr>
        <p:spPr>
          <a:xfrm>
            <a:off x="6214783" y="5681428"/>
            <a:ext cx="6153374" cy="923330"/>
          </a:xfrm>
          <a:prstGeom prst="rect">
            <a:avLst/>
          </a:prstGeom>
          <a:noFill/>
        </p:spPr>
        <p:txBody>
          <a:bodyPr wrap="square">
            <a:spAutoFit/>
          </a:bodyPr>
          <a:lstStyle/>
          <a:p>
            <a:r>
              <a:rPr lang="en-US" dirty="0">
                <a:solidFill>
                  <a:schemeClr val="accent1"/>
                </a:solidFill>
              </a:rPr>
              <a:t>const { name, role = "normal user", life = 100 } = user;</a:t>
            </a:r>
          </a:p>
          <a:p>
            <a:endParaRPr lang="en-US" dirty="0">
              <a:solidFill>
                <a:schemeClr val="accent1"/>
              </a:solidFill>
            </a:endParaRPr>
          </a:p>
          <a:p>
            <a:r>
              <a:rPr lang="en-US" dirty="0">
                <a:solidFill>
                  <a:schemeClr val="accent1"/>
                </a:solidFill>
              </a:rPr>
              <a:t>console.log({ name, role, life });</a:t>
            </a:r>
          </a:p>
        </p:txBody>
      </p:sp>
    </p:spTree>
    <p:extLst>
      <p:ext uri="{BB962C8B-B14F-4D97-AF65-F5344CB8AC3E}">
        <p14:creationId xmlns:p14="http://schemas.microsoft.com/office/powerpoint/2010/main" val="250074738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7245</TotalTime>
  <Words>1549</Words>
  <Application>Microsoft Office PowerPoint</Application>
  <PresentationFormat>Panorámica</PresentationFormat>
  <Paragraphs>246</Paragraphs>
  <Slides>18</Slides>
  <Notes>13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18</vt:i4>
      </vt:variant>
    </vt:vector>
  </HeadingPairs>
  <TitlesOfParts>
    <vt:vector size="24" baseType="lpstr">
      <vt:lpstr>Arial</vt:lpstr>
      <vt:lpstr>Calibri</vt:lpstr>
      <vt:lpstr>Calibri Light</vt:lpstr>
      <vt:lpstr>Georgia</vt:lpstr>
      <vt:lpstr>Work Sans</vt:lpstr>
      <vt:lpstr>Tema de Office</vt:lpstr>
      <vt:lpstr>Presentación de PowerPoint</vt:lpstr>
      <vt:lpstr>¿Qué es un sístema síncrono?(Sync)</vt:lpstr>
      <vt:lpstr>¿Qué es un sístema asíncrono?(Async)</vt:lpstr>
      <vt:lpstr>Descargar code runner</vt:lpstr>
      <vt:lpstr>Ejemplo con Sync</vt:lpstr>
      <vt:lpstr>Ejemplo con Async</vt:lpstr>
      <vt:lpstr>Callback</vt:lpstr>
      <vt:lpstr>Callback: Ejemplo paso 1 </vt:lpstr>
      <vt:lpstr>Callback: Ejemplo paso 2 </vt:lpstr>
      <vt:lpstr>Callback: Ejemplo paso 3 </vt:lpstr>
      <vt:lpstr>Promesas</vt:lpstr>
      <vt:lpstr>Promesas</vt:lpstr>
      <vt:lpstr>Promesas</vt:lpstr>
      <vt:lpstr>Async/Await</vt:lpstr>
      <vt:lpstr>Async/Await: Ejemplo</vt:lpstr>
      <vt:lpstr>Funciones de flecha</vt:lpstr>
      <vt:lpstr>JSON</vt:lpstr>
      <vt:lpstr>Destructuracion de objetos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CARLOS DANIEL GOMEZ DAZA</cp:lastModifiedBy>
  <cp:revision>131</cp:revision>
  <dcterms:created xsi:type="dcterms:W3CDTF">2020-10-01T23:51:28Z</dcterms:created>
  <dcterms:modified xsi:type="dcterms:W3CDTF">2024-07-02T23:18:53Z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