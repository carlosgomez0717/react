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29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hyperlink" Target="https://gamma.app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6189345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894" y="2308302"/>
            <a:ext cx="5661857" cy="398622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306383" y="1337191"/>
            <a:ext cx="7504033" cy="30310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956"/>
              </a:lnSpc>
              <a:buNone/>
            </a:pPr>
            <a:r>
              <a:rPr lang="en-US" sz="6365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Introducción a los Componentes en React</a:t>
            </a:r>
            <a:endParaRPr lang="en-US" sz="6365" dirty="0"/>
          </a:p>
        </p:txBody>
      </p:sp>
      <p:sp>
        <p:nvSpPr>
          <p:cNvPr id="7" name="Text 2"/>
          <p:cNvSpPr/>
          <p:nvPr/>
        </p:nvSpPr>
        <p:spPr>
          <a:xfrm>
            <a:off x="6306383" y="4719638"/>
            <a:ext cx="7504033" cy="1499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52"/>
              </a:lnSpc>
              <a:buNone/>
            </a:pPr>
            <a:r>
              <a:rPr lang="en-US" sz="184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Los componentes son la piedra angular de React, permitiendo crear interfaces de usuario modulares y reutilizables. Cada componente es una unidad independiente que encapsula su propia lógica y presentación, simplificando el desarrollo y mantenimiento de aplicaciones complejas.</a:t>
            </a:r>
            <a:endParaRPr lang="en-US" sz="184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5982117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83253"/>
            <a:ext cx="6028730" cy="357204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198156" y="1203365"/>
            <a:ext cx="7720489" cy="12711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005"/>
              </a:lnSpc>
              <a:buNone/>
            </a:pPr>
            <a:r>
              <a:rPr lang="en-US" sz="4004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Concepto de Ciclo de Vida de un Componente</a:t>
            </a:r>
            <a:endParaRPr lang="en-US" sz="4004" dirty="0"/>
          </a:p>
        </p:txBody>
      </p:sp>
      <p:sp>
        <p:nvSpPr>
          <p:cNvPr id="7" name="Shape 2"/>
          <p:cNvSpPr/>
          <p:nvPr/>
        </p:nvSpPr>
        <p:spPr>
          <a:xfrm>
            <a:off x="6490573" y="2779514"/>
            <a:ext cx="25360" cy="4246721"/>
          </a:xfrm>
          <a:prstGeom prst="roundRect">
            <a:avLst>
              <a:gd name="adj" fmla="val 33683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3"/>
          <p:cNvSpPr/>
          <p:nvPr/>
        </p:nvSpPr>
        <p:spPr>
          <a:xfrm>
            <a:off x="6731972" y="3224272"/>
            <a:ext cx="711756" cy="25360"/>
          </a:xfrm>
          <a:prstGeom prst="roundRect">
            <a:avLst>
              <a:gd name="adj" fmla="val 33683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6274415" y="3008233"/>
            <a:ext cx="457557" cy="457557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448127" y="3084433"/>
            <a:ext cx="110133" cy="3050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02"/>
              </a:lnSpc>
              <a:buNone/>
            </a:pPr>
            <a:r>
              <a:rPr lang="en-US" sz="2402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2" dirty="0"/>
          </a:p>
        </p:txBody>
      </p:sp>
      <p:sp>
        <p:nvSpPr>
          <p:cNvPr id="11" name="Text 6"/>
          <p:cNvSpPr/>
          <p:nvPr/>
        </p:nvSpPr>
        <p:spPr>
          <a:xfrm>
            <a:off x="7621786" y="2982873"/>
            <a:ext cx="2542222" cy="3176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02"/>
              </a:lnSpc>
              <a:buNone/>
            </a:pPr>
            <a:r>
              <a:rPr lang="en-US" sz="2002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Montaje</a:t>
            </a:r>
            <a:endParaRPr lang="en-US" sz="2002" dirty="0"/>
          </a:p>
        </p:txBody>
      </p:sp>
      <p:sp>
        <p:nvSpPr>
          <p:cNvPr id="12" name="Text 7"/>
          <p:cNvSpPr/>
          <p:nvPr/>
        </p:nvSpPr>
        <p:spPr>
          <a:xfrm>
            <a:off x="7621786" y="3422452"/>
            <a:ext cx="6296858" cy="3252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601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 componente se monta cuando se crea e inserta en el árbol DOM.</a:t>
            </a:r>
            <a:endParaRPr lang="en-US" sz="1601" dirty="0"/>
          </a:p>
        </p:txBody>
      </p:sp>
      <p:sp>
        <p:nvSpPr>
          <p:cNvPr id="13" name="Shape 8"/>
          <p:cNvSpPr/>
          <p:nvPr/>
        </p:nvSpPr>
        <p:spPr>
          <a:xfrm>
            <a:off x="6731972" y="4599206"/>
            <a:ext cx="711756" cy="25360"/>
          </a:xfrm>
          <a:prstGeom prst="roundRect">
            <a:avLst>
              <a:gd name="adj" fmla="val 33683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274415" y="4383167"/>
            <a:ext cx="457557" cy="457557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416576" y="4459367"/>
            <a:ext cx="173236" cy="3050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02"/>
              </a:lnSpc>
              <a:buNone/>
            </a:pPr>
            <a:r>
              <a:rPr lang="en-US" sz="2402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2" dirty="0"/>
          </a:p>
        </p:txBody>
      </p:sp>
      <p:sp>
        <p:nvSpPr>
          <p:cNvPr id="16" name="Text 11"/>
          <p:cNvSpPr/>
          <p:nvPr/>
        </p:nvSpPr>
        <p:spPr>
          <a:xfrm>
            <a:off x="7621786" y="4357807"/>
            <a:ext cx="2542222" cy="3176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02"/>
              </a:lnSpc>
              <a:buNone/>
            </a:pPr>
            <a:r>
              <a:rPr lang="en-US" sz="2002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Actualización</a:t>
            </a:r>
            <a:endParaRPr lang="en-US" sz="2002" dirty="0"/>
          </a:p>
        </p:txBody>
      </p:sp>
      <p:sp>
        <p:nvSpPr>
          <p:cNvPr id="17" name="Text 12"/>
          <p:cNvSpPr/>
          <p:nvPr/>
        </p:nvSpPr>
        <p:spPr>
          <a:xfrm>
            <a:off x="7621786" y="4797385"/>
            <a:ext cx="6296858" cy="6505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601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 componente se actualiza cuando se vuelve a renderizar debido a cambios en props o estado.</a:t>
            </a:r>
            <a:endParaRPr lang="en-US" sz="1601" dirty="0"/>
          </a:p>
        </p:txBody>
      </p:sp>
      <p:sp>
        <p:nvSpPr>
          <p:cNvPr id="18" name="Shape 13"/>
          <p:cNvSpPr/>
          <p:nvPr/>
        </p:nvSpPr>
        <p:spPr>
          <a:xfrm>
            <a:off x="6731972" y="6299418"/>
            <a:ext cx="711756" cy="25360"/>
          </a:xfrm>
          <a:prstGeom prst="roundRect">
            <a:avLst>
              <a:gd name="adj" fmla="val 336838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274415" y="6083379"/>
            <a:ext cx="457557" cy="457557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417171" y="6159579"/>
            <a:ext cx="172045" cy="3050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02"/>
              </a:lnSpc>
              <a:buNone/>
            </a:pPr>
            <a:r>
              <a:rPr lang="en-US" sz="2402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2" dirty="0"/>
          </a:p>
        </p:txBody>
      </p:sp>
      <p:sp>
        <p:nvSpPr>
          <p:cNvPr id="21" name="Text 16"/>
          <p:cNvSpPr/>
          <p:nvPr/>
        </p:nvSpPr>
        <p:spPr>
          <a:xfrm>
            <a:off x="7621786" y="6058019"/>
            <a:ext cx="2542222" cy="3176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02"/>
              </a:lnSpc>
              <a:buNone/>
            </a:pPr>
            <a:r>
              <a:rPr lang="en-US" sz="2002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Desmontaje</a:t>
            </a:r>
            <a:endParaRPr lang="en-US" sz="2002" dirty="0"/>
          </a:p>
        </p:txBody>
      </p:sp>
      <p:sp>
        <p:nvSpPr>
          <p:cNvPr id="22" name="Text 17"/>
          <p:cNvSpPr/>
          <p:nvPr/>
        </p:nvSpPr>
        <p:spPr>
          <a:xfrm>
            <a:off x="7621786" y="6497598"/>
            <a:ext cx="6296858" cy="3252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62"/>
              </a:lnSpc>
              <a:buNone/>
            </a:pPr>
            <a:r>
              <a:rPr lang="en-US" sz="1601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 componente se desmonta cuando se elimina del árbol DOM.</a:t>
            </a:r>
            <a:endParaRPr lang="en-US" sz="160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2008" y="2809994"/>
            <a:ext cx="4970383" cy="260949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22233" y="589598"/>
            <a:ext cx="6158508" cy="64484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078"/>
              </a:lnSpc>
              <a:buNone/>
            </a:pPr>
            <a:r>
              <a:rPr lang="en-US" sz="4063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Etapas del Ciclo de Vida</a:t>
            </a:r>
            <a:endParaRPr lang="en-US" sz="4063" dirty="0"/>
          </a:p>
        </p:txBody>
      </p:sp>
      <p:sp>
        <p:nvSpPr>
          <p:cNvPr id="7" name="Shape 2"/>
          <p:cNvSpPr/>
          <p:nvPr/>
        </p:nvSpPr>
        <p:spPr>
          <a:xfrm>
            <a:off x="722233" y="1544002"/>
            <a:ext cx="7699534" cy="1534239"/>
          </a:xfrm>
          <a:prstGeom prst="roundRect">
            <a:avLst>
              <a:gd name="adj" fmla="val 565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936188" y="1757958"/>
            <a:ext cx="2579608" cy="32242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39"/>
              </a:lnSpc>
              <a:buNone/>
            </a:pPr>
            <a:r>
              <a:rPr lang="en-US" sz="203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Montaje</a:t>
            </a:r>
            <a:endParaRPr lang="en-US" sz="2031" dirty="0"/>
          </a:p>
        </p:txBody>
      </p:sp>
      <p:sp>
        <p:nvSpPr>
          <p:cNvPr id="9" name="Text 4"/>
          <p:cNvSpPr/>
          <p:nvPr/>
        </p:nvSpPr>
        <p:spPr>
          <a:xfrm>
            <a:off x="936188" y="2204204"/>
            <a:ext cx="7271623" cy="6600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2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constructor(), static getDerivedStateFromProps(), render(), componentDidMount()</a:t>
            </a:r>
            <a:endParaRPr lang="en-US" sz="1625" dirty="0"/>
          </a:p>
        </p:txBody>
      </p:sp>
      <p:sp>
        <p:nvSpPr>
          <p:cNvPr id="10" name="Shape 5"/>
          <p:cNvSpPr/>
          <p:nvPr/>
        </p:nvSpPr>
        <p:spPr>
          <a:xfrm>
            <a:off x="722233" y="3284577"/>
            <a:ext cx="7699534" cy="1534239"/>
          </a:xfrm>
          <a:prstGeom prst="roundRect">
            <a:avLst>
              <a:gd name="adj" fmla="val 5650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936188" y="3498533"/>
            <a:ext cx="2579608" cy="32242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39"/>
              </a:lnSpc>
              <a:buNone/>
            </a:pPr>
            <a:r>
              <a:rPr lang="en-US" sz="203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Actualización</a:t>
            </a:r>
            <a:endParaRPr lang="en-US" sz="2031" dirty="0"/>
          </a:p>
        </p:txBody>
      </p:sp>
      <p:sp>
        <p:nvSpPr>
          <p:cNvPr id="12" name="Text 7"/>
          <p:cNvSpPr/>
          <p:nvPr/>
        </p:nvSpPr>
        <p:spPr>
          <a:xfrm>
            <a:off x="936188" y="3944779"/>
            <a:ext cx="7271623" cy="6600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2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static getDerivedStateFromProps(), shouldComponentUpdate(), render(), getSnapshotBeforeUpdate(), componentDidUpdate()</a:t>
            </a:r>
            <a:endParaRPr lang="en-US" sz="1625" dirty="0"/>
          </a:p>
        </p:txBody>
      </p:sp>
      <p:sp>
        <p:nvSpPr>
          <p:cNvPr id="13" name="Shape 8"/>
          <p:cNvSpPr/>
          <p:nvPr/>
        </p:nvSpPr>
        <p:spPr>
          <a:xfrm>
            <a:off x="722233" y="5025152"/>
            <a:ext cx="7699534" cy="1204198"/>
          </a:xfrm>
          <a:prstGeom prst="roundRect">
            <a:avLst>
              <a:gd name="adj" fmla="val 719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936188" y="5239107"/>
            <a:ext cx="2579608" cy="32242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39"/>
              </a:lnSpc>
              <a:buNone/>
            </a:pPr>
            <a:r>
              <a:rPr lang="en-US" sz="203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Desmontaje</a:t>
            </a:r>
            <a:endParaRPr lang="en-US" sz="2031" dirty="0"/>
          </a:p>
        </p:txBody>
      </p:sp>
      <p:sp>
        <p:nvSpPr>
          <p:cNvPr id="15" name="Text 10"/>
          <p:cNvSpPr/>
          <p:nvPr/>
        </p:nvSpPr>
        <p:spPr>
          <a:xfrm>
            <a:off x="936188" y="5685353"/>
            <a:ext cx="7271623" cy="3300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2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componentWillUnmount()</a:t>
            </a:r>
            <a:endParaRPr lang="en-US" sz="1625" dirty="0"/>
          </a:p>
        </p:txBody>
      </p:sp>
      <p:sp>
        <p:nvSpPr>
          <p:cNvPr id="16" name="Shape 11"/>
          <p:cNvSpPr/>
          <p:nvPr/>
        </p:nvSpPr>
        <p:spPr>
          <a:xfrm>
            <a:off x="722233" y="6435685"/>
            <a:ext cx="7699534" cy="1204198"/>
          </a:xfrm>
          <a:prstGeom prst="roundRect">
            <a:avLst>
              <a:gd name="adj" fmla="val 719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936188" y="6649641"/>
            <a:ext cx="2579608" cy="32242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539"/>
              </a:lnSpc>
              <a:buNone/>
            </a:pPr>
            <a:r>
              <a:rPr lang="en-US" sz="203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Manejo de Errores</a:t>
            </a:r>
            <a:endParaRPr lang="en-US" sz="2031" dirty="0"/>
          </a:p>
        </p:txBody>
      </p:sp>
      <p:sp>
        <p:nvSpPr>
          <p:cNvPr id="18" name="Text 13"/>
          <p:cNvSpPr/>
          <p:nvPr/>
        </p:nvSpPr>
        <p:spPr>
          <a:xfrm>
            <a:off x="936188" y="7095887"/>
            <a:ext cx="7271623" cy="3300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62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static getDerivedStateFromError(), componentDidCatch()</a:t>
            </a:r>
            <a:endParaRPr lang="en-US" sz="16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1" y="1789761"/>
            <a:ext cx="5975628" cy="31820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139458" y="1253490"/>
            <a:ext cx="6614993" cy="583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591"/>
              </a:lnSpc>
              <a:buNone/>
            </a:pPr>
            <a:r>
              <a:rPr lang="en-US" sz="3673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Montaje de un Componente</a:t>
            </a:r>
            <a:endParaRPr lang="en-US" sz="3673" dirty="0"/>
          </a:p>
        </p:txBody>
      </p:sp>
      <p:sp>
        <p:nvSpPr>
          <p:cNvPr id="7" name="Shape 2"/>
          <p:cNvSpPr/>
          <p:nvPr/>
        </p:nvSpPr>
        <p:spPr>
          <a:xfrm>
            <a:off x="6407706" y="2116336"/>
            <a:ext cx="23217" cy="4859774"/>
          </a:xfrm>
          <a:prstGeom prst="roundRect">
            <a:avLst>
              <a:gd name="adj" fmla="val 337547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3"/>
          <p:cNvSpPr/>
          <p:nvPr/>
        </p:nvSpPr>
        <p:spPr>
          <a:xfrm>
            <a:off x="6629162" y="2524542"/>
            <a:ext cx="653058" cy="23217"/>
          </a:xfrm>
          <a:prstGeom prst="roundRect">
            <a:avLst>
              <a:gd name="adj" fmla="val 337547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6209348" y="2326243"/>
            <a:ext cx="419814" cy="41981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368653" y="2396133"/>
            <a:ext cx="101084" cy="2799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04"/>
              </a:lnSpc>
              <a:buNone/>
            </a:pPr>
            <a:r>
              <a:rPr lang="en-US" sz="2204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4" dirty="0"/>
          </a:p>
        </p:txBody>
      </p:sp>
      <p:sp>
        <p:nvSpPr>
          <p:cNvPr id="11" name="Text 6"/>
          <p:cNvSpPr/>
          <p:nvPr/>
        </p:nvSpPr>
        <p:spPr>
          <a:xfrm>
            <a:off x="7445454" y="2302907"/>
            <a:ext cx="2332315" cy="291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83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constructor()</a:t>
            </a:r>
            <a:endParaRPr lang="en-US" sz="1837" dirty="0"/>
          </a:p>
        </p:txBody>
      </p:sp>
      <p:sp>
        <p:nvSpPr>
          <p:cNvPr id="12" name="Text 7"/>
          <p:cNvSpPr/>
          <p:nvPr/>
        </p:nvSpPr>
        <p:spPr>
          <a:xfrm>
            <a:off x="7445454" y="2706291"/>
            <a:ext cx="6531888" cy="2984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69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 llama cuando se crea una instancia del componente.</a:t>
            </a:r>
            <a:endParaRPr lang="en-US" sz="1469" dirty="0"/>
          </a:p>
        </p:txBody>
      </p:sp>
      <p:sp>
        <p:nvSpPr>
          <p:cNvPr id="13" name="Shape 8"/>
          <p:cNvSpPr/>
          <p:nvPr/>
        </p:nvSpPr>
        <p:spPr>
          <a:xfrm>
            <a:off x="6629162" y="3786128"/>
            <a:ext cx="653058" cy="23217"/>
          </a:xfrm>
          <a:prstGeom prst="roundRect">
            <a:avLst>
              <a:gd name="adj" fmla="val 337547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209348" y="3587829"/>
            <a:ext cx="419814" cy="41981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339721" y="3657719"/>
            <a:ext cx="158948" cy="2799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04"/>
              </a:lnSpc>
              <a:buNone/>
            </a:pPr>
            <a:r>
              <a:rPr lang="en-US" sz="2204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4" dirty="0"/>
          </a:p>
        </p:txBody>
      </p:sp>
      <p:sp>
        <p:nvSpPr>
          <p:cNvPr id="16" name="Text 11"/>
          <p:cNvSpPr/>
          <p:nvPr/>
        </p:nvSpPr>
        <p:spPr>
          <a:xfrm>
            <a:off x="7445454" y="3564493"/>
            <a:ext cx="4059912" cy="291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83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static getDerivedStateFromProps()</a:t>
            </a:r>
            <a:endParaRPr lang="en-US" sz="1837" dirty="0"/>
          </a:p>
        </p:txBody>
      </p:sp>
      <p:sp>
        <p:nvSpPr>
          <p:cNvPr id="17" name="Text 12"/>
          <p:cNvSpPr/>
          <p:nvPr/>
        </p:nvSpPr>
        <p:spPr>
          <a:xfrm>
            <a:off x="7445454" y="3967877"/>
            <a:ext cx="6531888" cy="2984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69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 llama justo antes de invocar el método render().</a:t>
            </a:r>
            <a:endParaRPr lang="en-US" sz="1469" dirty="0"/>
          </a:p>
        </p:txBody>
      </p:sp>
      <p:sp>
        <p:nvSpPr>
          <p:cNvPr id="18" name="Shape 13"/>
          <p:cNvSpPr/>
          <p:nvPr/>
        </p:nvSpPr>
        <p:spPr>
          <a:xfrm>
            <a:off x="6629162" y="5047714"/>
            <a:ext cx="653058" cy="23217"/>
          </a:xfrm>
          <a:prstGeom prst="roundRect">
            <a:avLst>
              <a:gd name="adj" fmla="val 337547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209348" y="4849416"/>
            <a:ext cx="419814" cy="41981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340316" y="4919305"/>
            <a:ext cx="157877" cy="2799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04"/>
              </a:lnSpc>
              <a:buNone/>
            </a:pPr>
            <a:r>
              <a:rPr lang="en-US" sz="2204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4" dirty="0"/>
          </a:p>
        </p:txBody>
      </p:sp>
      <p:sp>
        <p:nvSpPr>
          <p:cNvPr id="21" name="Text 16"/>
          <p:cNvSpPr/>
          <p:nvPr/>
        </p:nvSpPr>
        <p:spPr>
          <a:xfrm>
            <a:off x="7445454" y="4826079"/>
            <a:ext cx="2332315" cy="291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83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render()</a:t>
            </a:r>
            <a:endParaRPr lang="en-US" sz="1837" dirty="0"/>
          </a:p>
        </p:txBody>
      </p:sp>
      <p:sp>
        <p:nvSpPr>
          <p:cNvPr id="22" name="Text 17"/>
          <p:cNvSpPr/>
          <p:nvPr/>
        </p:nvSpPr>
        <p:spPr>
          <a:xfrm>
            <a:off x="7445454" y="5229463"/>
            <a:ext cx="6531888" cy="2984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69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Retorna los elementos de React que se van a representar.</a:t>
            </a:r>
            <a:endParaRPr lang="en-US" sz="1469" dirty="0"/>
          </a:p>
        </p:txBody>
      </p:sp>
      <p:sp>
        <p:nvSpPr>
          <p:cNvPr id="23" name="Shape 18"/>
          <p:cNvSpPr/>
          <p:nvPr/>
        </p:nvSpPr>
        <p:spPr>
          <a:xfrm>
            <a:off x="6629162" y="6309300"/>
            <a:ext cx="653058" cy="23217"/>
          </a:xfrm>
          <a:prstGeom prst="roundRect">
            <a:avLst>
              <a:gd name="adj" fmla="val 337547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209348" y="6111002"/>
            <a:ext cx="419814" cy="419814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6326743" y="6180892"/>
            <a:ext cx="185023" cy="2799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204"/>
              </a:lnSpc>
              <a:buNone/>
            </a:pPr>
            <a:r>
              <a:rPr lang="en-US" sz="2204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04" dirty="0"/>
          </a:p>
        </p:txBody>
      </p:sp>
      <p:sp>
        <p:nvSpPr>
          <p:cNvPr id="26" name="Text 21"/>
          <p:cNvSpPr/>
          <p:nvPr/>
        </p:nvSpPr>
        <p:spPr>
          <a:xfrm>
            <a:off x="7445454" y="6087666"/>
            <a:ext cx="2722007" cy="2914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296"/>
              </a:lnSpc>
              <a:buNone/>
            </a:pPr>
            <a:r>
              <a:rPr lang="en-US" sz="1837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componentDidMount()</a:t>
            </a:r>
            <a:endParaRPr lang="en-US" sz="1837" dirty="0"/>
          </a:p>
        </p:txBody>
      </p:sp>
      <p:sp>
        <p:nvSpPr>
          <p:cNvPr id="27" name="Text 22"/>
          <p:cNvSpPr/>
          <p:nvPr/>
        </p:nvSpPr>
        <p:spPr>
          <a:xfrm>
            <a:off x="7445454" y="6491049"/>
            <a:ext cx="6531888" cy="29849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351"/>
              </a:lnSpc>
              <a:buNone/>
            </a:pPr>
            <a:r>
              <a:rPr lang="en-US" sz="1469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 llama inmediatamente después de que un componente se monta.</a:t>
            </a:r>
            <a:endParaRPr lang="en-US" sz="146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331119" y="650438"/>
            <a:ext cx="9183172" cy="6846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391"/>
              </a:lnSpc>
              <a:buNone/>
            </a:pPr>
            <a:r>
              <a:rPr lang="en-US" sz="4313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Actualización de un Componente</a:t>
            </a:r>
            <a:endParaRPr lang="en-US" sz="4313" dirty="0"/>
          </a:p>
        </p:txBody>
      </p:sp>
      <p:sp>
        <p:nvSpPr>
          <p:cNvPr id="5" name="Shape 2"/>
          <p:cNvSpPr/>
          <p:nvPr/>
        </p:nvSpPr>
        <p:spPr>
          <a:xfrm>
            <a:off x="7301389" y="1773198"/>
            <a:ext cx="27384" cy="5805964"/>
          </a:xfrm>
          <a:prstGeom prst="roundRect">
            <a:avLst>
              <a:gd name="adj" fmla="val 336035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301859" y="2252424"/>
            <a:ext cx="766763" cy="27384"/>
          </a:xfrm>
          <a:prstGeom prst="roundRect">
            <a:avLst>
              <a:gd name="adj" fmla="val 336035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068622" y="2019657"/>
            <a:ext cx="492919" cy="492919"/>
          </a:xfrm>
          <a:prstGeom prst="roundRect">
            <a:avLst>
              <a:gd name="adj" fmla="val 1866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255788" y="2101810"/>
            <a:ext cx="118586" cy="3286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8"/>
              </a:lnSpc>
              <a:buNone/>
            </a:pPr>
            <a:r>
              <a:rPr lang="en-US" sz="2588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588" dirty="0"/>
          </a:p>
        </p:txBody>
      </p:sp>
      <p:sp>
        <p:nvSpPr>
          <p:cNvPr id="9" name="Text 6"/>
          <p:cNvSpPr/>
          <p:nvPr/>
        </p:nvSpPr>
        <p:spPr>
          <a:xfrm>
            <a:off x="1341120" y="1992273"/>
            <a:ext cx="4769048" cy="34230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696"/>
              </a:lnSpc>
              <a:buNone/>
            </a:pPr>
            <a:r>
              <a:rPr lang="en-US" sz="2156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static getDerivedStateFromProps()</a:t>
            </a:r>
            <a:endParaRPr lang="en-US" sz="2156" dirty="0"/>
          </a:p>
        </p:txBody>
      </p:sp>
      <p:sp>
        <p:nvSpPr>
          <p:cNvPr id="10" name="Text 7"/>
          <p:cNvSpPr/>
          <p:nvPr/>
        </p:nvSpPr>
        <p:spPr>
          <a:xfrm>
            <a:off x="1331119" y="2466023"/>
            <a:ext cx="4779050" cy="701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760"/>
              </a:lnSpc>
              <a:buNone/>
            </a:pPr>
            <a:r>
              <a:rPr lang="en-US" sz="172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 llama antes de que el componente se vuelva a renderizar.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7561540" y="3347799"/>
            <a:ext cx="766763" cy="27384"/>
          </a:xfrm>
          <a:prstGeom prst="roundRect">
            <a:avLst>
              <a:gd name="adj" fmla="val 336035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068622" y="3115032"/>
            <a:ext cx="492919" cy="492919"/>
          </a:xfrm>
          <a:prstGeom prst="roundRect">
            <a:avLst>
              <a:gd name="adj" fmla="val 1866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221736" y="3197185"/>
            <a:ext cx="186690" cy="3286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8"/>
              </a:lnSpc>
              <a:buNone/>
            </a:pPr>
            <a:r>
              <a:rPr lang="en-US" sz="2588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588" dirty="0"/>
          </a:p>
        </p:txBody>
      </p:sp>
      <p:sp>
        <p:nvSpPr>
          <p:cNvPr id="14" name="Text 11"/>
          <p:cNvSpPr/>
          <p:nvPr/>
        </p:nvSpPr>
        <p:spPr>
          <a:xfrm>
            <a:off x="8519993" y="3087648"/>
            <a:ext cx="3792260" cy="34230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96"/>
              </a:lnSpc>
              <a:buNone/>
            </a:pPr>
            <a:r>
              <a:rPr lang="en-US" sz="2156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shouldComponentUpdate()</a:t>
            </a:r>
            <a:endParaRPr lang="en-US" sz="2156" dirty="0"/>
          </a:p>
        </p:txBody>
      </p:sp>
      <p:sp>
        <p:nvSpPr>
          <p:cNvPr id="15" name="Text 12"/>
          <p:cNvSpPr/>
          <p:nvPr/>
        </p:nvSpPr>
        <p:spPr>
          <a:xfrm>
            <a:off x="8519993" y="3561398"/>
            <a:ext cx="4779169" cy="701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172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Determina si el componente debe actualizarse o no.</a:t>
            </a:r>
            <a:endParaRPr lang="en-US" sz="1725" dirty="0"/>
          </a:p>
        </p:txBody>
      </p:sp>
      <p:sp>
        <p:nvSpPr>
          <p:cNvPr id="16" name="Shape 13"/>
          <p:cNvSpPr/>
          <p:nvPr/>
        </p:nvSpPr>
        <p:spPr>
          <a:xfrm>
            <a:off x="6301859" y="4333637"/>
            <a:ext cx="766763" cy="27384"/>
          </a:xfrm>
          <a:prstGeom prst="roundRect">
            <a:avLst>
              <a:gd name="adj" fmla="val 336035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068622" y="4100870"/>
            <a:ext cx="492919" cy="492919"/>
          </a:xfrm>
          <a:prstGeom prst="roundRect">
            <a:avLst>
              <a:gd name="adj" fmla="val 1866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222331" y="4183023"/>
            <a:ext cx="185380" cy="3286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8"/>
              </a:lnSpc>
              <a:buNone/>
            </a:pPr>
            <a:r>
              <a:rPr lang="en-US" sz="2588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588" dirty="0"/>
          </a:p>
        </p:txBody>
      </p:sp>
      <p:sp>
        <p:nvSpPr>
          <p:cNvPr id="19" name="Text 16"/>
          <p:cNvSpPr/>
          <p:nvPr/>
        </p:nvSpPr>
        <p:spPr>
          <a:xfrm>
            <a:off x="3371493" y="4073485"/>
            <a:ext cx="2738676" cy="34230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696"/>
              </a:lnSpc>
              <a:buNone/>
            </a:pPr>
            <a:r>
              <a:rPr lang="en-US" sz="2156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render()</a:t>
            </a:r>
            <a:endParaRPr lang="en-US" sz="2156" dirty="0"/>
          </a:p>
        </p:txBody>
      </p:sp>
      <p:sp>
        <p:nvSpPr>
          <p:cNvPr id="20" name="Text 17"/>
          <p:cNvSpPr/>
          <p:nvPr/>
        </p:nvSpPr>
        <p:spPr>
          <a:xfrm>
            <a:off x="1331119" y="4547235"/>
            <a:ext cx="4779050" cy="35052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760"/>
              </a:lnSpc>
              <a:buNone/>
            </a:pPr>
            <a:r>
              <a:rPr lang="en-US" sz="172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Renderiza los cambios en el componente.</a:t>
            </a:r>
            <a:endParaRPr lang="en-US" sz="1725" dirty="0"/>
          </a:p>
        </p:txBody>
      </p:sp>
      <p:sp>
        <p:nvSpPr>
          <p:cNvPr id="21" name="Shape 18"/>
          <p:cNvSpPr/>
          <p:nvPr/>
        </p:nvSpPr>
        <p:spPr>
          <a:xfrm>
            <a:off x="7561540" y="5319593"/>
            <a:ext cx="766763" cy="27384"/>
          </a:xfrm>
          <a:prstGeom prst="roundRect">
            <a:avLst>
              <a:gd name="adj" fmla="val 336035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068622" y="5086826"/>
            <a:ext cx="492919" cy="492919"/>
          </a:xfrm>
          <a:prstGeom prst="roundRect">
            <a:avLst>
              <a:gd name="adj" fmla="val 1866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206496" y="5168979"/>
            <a:ext cx="217170" cy="3286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8"/>
              </a:lnSpc>
              <a:buNone/>
            </a:pPr>
            <a:r>
              <a:rPr lang="en-US" sz="2588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588" dirty="0"/>
          </a:p>
        </p:txBody>
      </p:sp>
      <p:sp>
        <p:nvSpPr>
          <p:cNvPr id="24" name="Text 21"/>
          <p:cNvSpPr/>
          <p:nvPr/>
        </p:nvSpPr>
        <p:spPr>
          <a:xfrm>
            <a:off x="8519993" y="5059442"/>
            <a:ext cx="3873579" cy="34230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696"/>
              </a:lnSpc>
              <a:buNone/>
            </a:pPr>
            <a:r>
              <a:rPr lang="en-US" sz="2156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getSnapshotBeforeUpdate()</a:t>
            </a:r>
            <a:endParaRPr lang="en-US" sz="2156" dirty="0"/>
          </a:p>
        </p:txBody>
      </p:sp>
      <p:sp>
        <p:nvSpPr>
          <p:cNvPr id="25" name="Text 22"/>
          <p:cNvSpPr/>
          <p:nvPr/>
        </p:nvSpPr>
        <p:spPr>
          <a:xfrm>
            <a:off x="8519993" y="5533192"/>
            <a:ext cx="4779169" cy="701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172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 llama justo antes de que los cambios del DOM se confirmen.</a:t>
            </a:r>
            <a:endParaRPr lang="en-US" sz="1725" dirty="0"/>
          </a:p>
        </p:txBody>
      </p:sp>
      <p:sp>
        <p:nvSpPr>
          <p:cNvPr id="26" name="Shape 23"/>
          <p:cNvSpPr/>
          <p:nvPr/>
        </p:nvSpPr>
        <p:spPr>
          <a:xfrm>
            <a:off x="6301859" y="6305550"/>
            <a:ext cx="766763" cy="27384"/>
          </a:xfrm>
          <a:prstGeom prst="roundRect">
            <a:avLst>
              <a:gd name="adj" fmla="val 336035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068622" y="6072783"/>
            <a:ext cx="492919" cy="492919"/>
          </a:xfrm>
          <a:prstGeom prst="roundRect">
            <a:avLst>
              <a:gd name="adj" fmla="val 1866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222093" y="6154936"/>
            <a:ext cx="185976" cy="32861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588"/>
              </a:lnSpc>
              <a:buNone/>
            </a:pPr>
            <a:r>
              <a:rPr lang="en-US" sz="2588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588" dirty="0"/>
          </a:p>
        </p:txBody>
      </p:sp>
      <p:sp>
        <p:nvSpPr>
          <p:cNvPr id="29" name="Text 26"/>
          <p:cNvSpPr/>
          <p:nvPr/>
        </p:nvSpPr>
        <p:spPr>
          <a:xfrm>
            <a:off x="2805112" y="6045398"/>
            <a:ext cx="3305056" cy="34230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r">
              <a:lnSpc>
                <a:spcPts val="2696"/>
              </a:lnSpc>
              <a:buNone/>
            </a:pPr>
            <a:r>
              <a:rPr lang="en-US" sz="2156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componentDidUpdate()</a:t>
            </a:r>
            <a:endParaRPr lang="en-US" sz="2156" dirty="0"/>
          </a:p>
        </p:txBody>
      </p:sp>
      <p:sp>
        <p:nvSpPr>
          <p:cNvPr id="30" name="Text 27"/>
          <p:cNvSpPr/>
          <p:nvPr/>
        </p:nvSpPr>
        <p:spPr>
          <a:xfrm>
            <a:off x="1331119" y="6519148"/>
            <a:ext cx="4779050" cy="701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ts val="2760"/>
              </a:lnSpc>
              <a:buNone/>
            </a:pPr>
            <a:r>
              <a:rPr lang="en-US" sz="1725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 llama inmediatamente después de que el componente se actualiza.</a:t>
            </a:r>
            <a:endParaRPr lang="en-US" sz="1725" dirty="0"/>
          </a:p>
        </p:txBody>
      </p:sp>
      <p:pic>
        <p:nvPicPr>
          <p:cNvPr id="31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922" y="0"/>
            <a:ext cx="7114478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063" y="825190"/>
            <a:ext cx="6426608" cy="6345043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64037" y="1183124"/>
            <a:ext cx="7415927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Desmontaje de un Componente</a:t>
            </a:r>
            <a:endParaRPr lang="en-US" sz="486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037" y="3096458"/>
            <a:ext cx="1234440" cy="1975009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468761" y="3343275"/>
            <a:ext cx="4128373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componentWillUnmount()</a:t>
            </a:r>
            <a:endParaRPr lang="en-US" sz="2430" dirty="0"/>
          </a:p>
        </p:txBody>
      </p:sp>
      <p:sp>
        <p:nvSpPr>
          <p:cNvPr id="9" name="Text 3"/>
          <p:cNvSpPr/>
          <p:nvPr/>
        </p:nvSpPr>
        <p:spPr>
          <a:xfrm>
            <a:off x="2468761" y="3877151"/>
            <a:ext cx="5811203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 llama inmediatamente antes de que un componente se desmonte y destruya.</a:t>
            </a:r>
            <a:endParaRPr lang="en-US" sz="1944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037" y="5071467"/>
            <a:ext cx="1234440" cy="1975009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468761" y="5318284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43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Desmontaje</a:t>
            </a:r>
            <a:endParaRPr lang="en-US" sz="2430" dirty="0"/>
          </a:p>
        </p:txBody>
      </p:sp>
      <p:sp>
        <p:nvSpPr>
          <p:cNvPr id="12" name="Text 5"/>
          <p:cNvSpPr/>
          <p:nvPr/>
        </p:nvSpPr>
        <p:spPr>
          <a:xfrm>
            <a:off x="2468761" y="5852160"/>
            <a:ext cx="5811203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110"/>
              </a:lnSpc>
              <a:buNone/>
            </a:pPr>
            <a:r>
              <a:rPr lang="en-US" sz="1944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 componente se elimina del árbol DOM.</a:t>
            </a:r>
            <a:endParaRPr lang="en-US" sz="194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610" y="1278969"/>
            <a:ext cx="4869061" cy="567166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64037" y="1433036"/>
            <a:ext cx="7415927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Manejo de Errores en Componentes</a:t>
            </a:r>
            <a:endParaRPr lang="en-US" sz="4860" dirty="0"/>
          </a:p>
        </p:txBody>
      </p:sp>
      <p:sp>
        <p:nvSpPr>
          <p:cNvPr id="7" name="Shape 2"/>
          <p:cNvSpPr/>
          <p:nvPr/>
        </p:nvSpPr>
        <p:spPr>
          <a:xfrm>
            <a:off x="864037" y="3624024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1524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1074896" y="3716536"/>
            <a:ext cx="133707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916" dirty="0"/>
          </a:p>
        </p:txBody>
      </p:sp>
      <p:sp>
        <p:nvSpPr>
          <p:cNvPr id="9" name="Text 4"/>
          <p:cNvSpPr/>
          <p:nvPr/>
        </p:nvSpPr>
        <p:spPr>
          <a:xfrm>
            <a:off x="1666280" y="3624024"/>
            <a:ext cx="5247084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static getDerivedStateFromError()</a:t>
            </a:r>
            <a:endParaRPr lang="en-US" sz="2430" dirty="0"/>
          </a:p>
        </p:txBody>
      </p:sp>
      <p:sp>
        <p:nvSpPr>
          <p:cNvPr id="10" name="Text 5"/>
          <p:cNvSpPr/>
          <p:nvPr/>
        </p:nvSpPr>
        <p:spPr>
          <a:xfrm>
            <a:off x="1666280" y="4157901"/>
            <a:ext cx="661368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 llama después de que se lanza un error en el árbol de rendimiento de un componente hijo.</a:t>
            </a:r>
            <a:endParaRPr lang="en-US" sz="1944" dirty="0"/>
          </a:p>
        </p:txBody>
      </p:sp>
      <p:sp>
        <p:nvSpPr>
          <p:cNvPr id="11" name="Shape 6"/>
          <p:cNvSpPr/>
          <p:nvPr/>
        </p:nvSpPr>
        <p:spPr>
          <a:xfrm>
            <a:off x="864037" y="547247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1524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1036558" y="5564981"/>
            <a:ext cx="210383" cy="3702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916"/>
              </a:lnSpc>
              <a:buNone/>
            </a:pPr>
            <a:r>
              <a:rPr lang="en-US" sz="2916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916" dirty="0"/>
          </a:p>
        </p:txBody>
      </p:sp>
      <p:sp>
        <p:nvSpPr>
          <p:cNvPr id="13" name="Text 8"/>
          <p:cNvSpPr/>
          <p:nvPr/>
        </p:nvSpPr>
        <p:spPr>
          <a:xfrm>
            <a:off x="1666280" y="5472470"/>
            <a:ext cx="347472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componentDidCatch()</a:t>
            </a:r>
            <a:endParaRPr lang="en-US" sz="2430" dirty="0"/>
          </a:p>
        </p:txBody>
      </p:sp>
      <p:sp>
        <p:nvSpPr>
          <p:cNvPr id="14" name="Text 9"/>
          <p:cNvSpPr/>
          <p:nvPr/>
        </p:nvSpPr>
        <p:spPr>
          <a:xfrm>
            <a:off x="1666280" y="6006346"/>
            <a:ext cx="6613684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 llama después de que se lanza un error en el árbol de rendimiento de un componente hijo.</a:t>
            </a:r>
            <a:endParaRPr lang="en-US" sz="194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64037" y="1821894"/>
            <a:ext cx="12902327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Optimización del Rendimiento de Componentes</a:t>
            </a:r>
            <a:endParaRPr lang="en-US" sz="4860" dirty="0"/>
          </a:p>
        </p:txBody>
      </p:sp>
      <p:sp>
        <p:nvSpPr>
          <p:cNvPr id="5" name="Text 2"/>
          <p:cNvSpPr/>
          <p:nvPr/>
        </p:nvSpPr>
        <p:spPr>
          <a:xfrm>
            <a:off x="864037" y="3982045"/>
            <a:ext cx="3898821" cy="771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Evitar Actualizaciones Innecesarias</a:t>
            </a:r>
            <a:endParaRPr lang="en-US" sz="2430" dirty="0"/>
          </a:p>
        </p:txBody>
      </p:sp>
      <p:sp>
        <p:nvSpPr>
          <p:cNvPr id="6" name="Text 3"/>
          <p:cNvSpPr/>
          <p:nvPr/>
        </p:nvSpPr>
        <p:spPr>
          <a:xfrm>
            <a:off x="864037" y="5000387"/>
            <a:ext cx="3898821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Utilizar shouldComponentUpdate() para evitar actualizaciones innecesarias.</a:t>
            </a:r>
            <a:endParaRPr lang="en-US" sz="1944" dirty="0"/>
          </a:p>
        </p:txBody>
      </p:sp>
      <p:sp>
        <p:nvSpPr>
          <p:cNvPr id="7" name="Text 4"/>
          <p:cNvSpPr/>
          <p:nvPr/>
        </p:nvSpPr>
        <p:spPr>
          <a:xfrm>
            <a:off x="5372695" y="3982045"/>
            <a:ext cx="3898821" cy="7715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Memorización de Resultados</a:t>
            </a:r>
            <a:endParaRPr lang="en-US" sz="2430" dirty="0"/>
          </a:p>
        </p:txBody>
      </p:sp>
      <p:sp>
        <p:nvSpPr>
          <p:cNvPr id="8" name="Text 5"/>
          <p:cNvSpPr/>
          <p:nvPr/>
        </p:nvSpPr>
        <p:spPr>
          <a:xfrm>
            <a:off x="5372695" y="5000387"/>
            <a:ext cx="3898821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Usar técnicas como memoización para evitar cálculos costosos.</a:t>
            </a:r>
            <a:endParaRPr lang="en-US" sz="1944" dirty="0"/>
          </a:p>
        </p:txBody>
      </p:sp>
      <p:sp>
        <p:nvSpPr>
          <p:cNvPr id="9" name="Text 6"/>
          <p:cNvSpPr/>
          <p:nvPr/>
        </p:nvSpPr>
        <p:spPr>
          <a:xfrm>
            <a:off x="9881354" y="3982045"/>
            <a:ext cx="3898821" cy="1157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División en Componentes Más Pequeños</a:t>
            </a:r>
            <a:endParaRPr lang="en-US" sz="2430" dirty="0"/>
          </a:p>
        </p:txBody>
      </p:sp>
      <p:sp>
        <p:nvSpPr>
          <p:cNvPr id="10" name="Text 7"/>
          <p:cNvSpPr/>
          <p:nvPr/>
        </p:nvSpPr>
        <p:spPr>
          <a:xfrm>
            <a:off x="9881354" y="5386149"/>
            <a:ext cx="3898821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Dividir los componentes en partes más pequeñas y reutilizables.</a:t>
            </a:r>
            <a:endParaRPr lang="en-US" sz="194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324017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324017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9979" y="2150745"/>
            <a:ext cx="5054322" cy="40224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04837" y="475178"/>
            <a:ext cx="7762756" cy="5400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4253"/>
              </a:lnSpc>
              <a:buNone/>
            </a:pPr>
            <a:r>
              <a:rPr lang="en-US" sz="3402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Buenas Prácticas en el Ciclo de Vida</a:t>
            </a:r>
            <a:endParaRPr lang="en-US" sz="3402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7" y="1274445"/>
            <a:ext cx="431959" cy="431959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04837" y="1879163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Planificación</a:t>
            </a:r>
            <a:endParaRPr lang="en-US" sz="1701" dirty="0"/>
          </a:p>
        </p:txBody>
      </p:sp>
      <p:sp>
        <p:nvSpPr>
          <p:cNvPr id="9" name="Text 3"/>
          <p:cNvSpPr/>
          <p:nvPr/>
        </p:nvSpPr>
        <p:spPr>
          <a:xfrm>
            <a:off x="604837" y="2252663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Planifica cuidadosamente el ciclo de vida de tus componentes.</a:t>
            </a:r>
            <a:endParaRPr lang="en-US" sz="1361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7" y="3047643"/>
            <a:ext cx="431959" cy="431959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04837" y="3652361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Optimización</a:t>
            </a:r>
            <a:endParaRPr lang="en-US" sz="1701" dirty="0"/>
          </a:p>
        </p:txBody>
      </p:sp>
      <p:sp>
        <p:nvSpPr>
          <p:cNvPr id="12" name="Text 5"/>
          <p:cNvSpPr/>
          <p:nvPr/>
        </p:nvSpPr>
        <p:spPr>
          <a:xfrm>
            <a:off x="604837" y="4025860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Optimiza el rendimiento mediante el uso apropiado de los métodos del ciclo de vida.</a:t>
            </a:r>
            <a:endParaRPr lang="en-US" sz="1361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37" y="4820841"/>
            <a:ext cx="431959" cy="43195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04837" y="5425559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Depuración</a:t>
            </a:r>
            <a:endParaRPr lang="en-US" sz="1701" dirty="0"/>
          </a:p>
        </p:txBody>
      </p:sp>
      <p:sp>
        <p:nvSpPr>
          <p:cNvPr id="15" name="Text 7"/>
          <p:cNvSpPr/>
          <p:nvPr/>
        </p:nvSpPr>
        <p:spPr>
          <a:xfrm>
            <a:off x="604837" y="5799058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Utiliza los métodos del ciclo de vida para depurar y solucionar problemas.</a:t>
            </a:r>
            <a:endParaRPr lang="en-US" sz="1361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837" y="6594038"/>
            <a:ext cx="431959" cy="43195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04837" y="7198757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Documentación</a:t>
            </a:r>
            <a:endParaRPr lang="en-US" sz="1701" dirty="0"/>
          </a:p>
        </p:txBody>
      </p:sp>
      <p:sp>
        <p:nvSpPr>
          <p:cNvPr id="18" name="Text 9"/>
          <p:cNvSpPr/>
          <p:nvPr/>
        </p:nvSpPr>
        <p:spPr>
          <a:xfrm>
            <a:off x="604837" y="7572256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Documenta cuidadosamente el uso de los métodos del ciclo de vida.</a:t>
            </a:r>
            <a:endParaRPr lang="en-US" sz="136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10" y="2491740"/>
            <a:ext cx="4869180" cy="32461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350437" y="2753797"/>
            <a:ext cx="7066598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Conclusión y Resumen</a:t>
            </a:r>
            <a:endParaRPr lang="en-US" sz="4860" dirty="0"/>
          </a:p>
        </p:txBody>
      </p:sp>
      <p:sp>
        <p:nvSpPr>
          <p:cNvPr id="7" name="Text 2"/>
          <p:cNvSpPr/>
          <p:nvPr/>
        </p:nvSpPr>
        <p:spPr>
          <a:xfrm>
            <a:off x="6350437" y="3895606"/>
            <a:ext cx="7415927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DCD7E5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El ciclo de vida de un componente en React es fundamental para comprender y controlar el comportamiento de los componentes a lo largo de su existencia. Dominar estas etapas y buenas prácticas es clave para crear aplicaciones React robustas y escalables.</a:t>
            </a:r>
            <a:endParaRPr lang="en-US" sz="19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510</Words>
  <Application>Microsoft Office PowerPoint</Application>
  <PresentationFormat>Personalizado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Heebo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 DANIEL GOMEZ DAZA</cp:lastModifiedBy>
  <cp:revision>2</cp:revision>
  <dcterms:created xsi:type="dcterms:W3CDTF">2024-07-22T03:18:28Z</dcterms:created>
  <dcterms:modified xsi:type="dcterms:W3CDTF">2024-07-22T03:29:27Z</dcterms:modified>
</cp:coreProperties>
</file>