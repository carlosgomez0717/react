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handoutMasterIdLst>
    <p:handoutMasterId r:id="rId13"/>
  </p:handoutMasterIdLst>
  <p:sldIdLst>
    <p:sldId id="468" r:id="rId2"/>
    <p:sldId id="533" r:id="rId3"/>
    <p:sldId id="534" r:id="rId4"/>
    <p:sldId id="535" r:id="rId5"/>
    <p:sldId id="536" r:id="rId6"/>
    <p:sldId id="537" r:id="rId7"/>
    <p:sldId id="538" r:id="rId8"/>
    <p:sldId id="539" r:id="rId9"/>
    <p:sldId id="540" r:id="rId10"/>
    <p:sldId id="264" r:id="rId1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IEL DAVID BENAVIDES SANCHEZ" initials="DDBS" lastIdx="1" clrIdx="0">
    <p:extLst>
      <p:ext uri="{19B8F6BF-5375-455C-9EA6-DF929625EA0E}">
        <p15:presenceInfo xmlns:p15="http://schemas.microsoft.com/office/powerpoint/2012/main" userId="DANIEL DAVID BENAVIDES SANCHE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FFFFFF"/>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6369"/>
  </p:normalViewPr>
  <p:slideViewPr>
    <p:cSldViewPr snapToGrid="0">
      <p:cViewPr varScale="1">
        <p:scale>
          <a:sx n="71" d="100"/>
          <a:sy n="71" d="100"/>
        </p:scale>
        <p:origin x="1138"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9/07/2024</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9/07/2024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2</a:t>
            </a:fld>
            <a:endParaRPr lang="es-CO"/>
          </a:p>
        </p:txBody>
      </p:sp>
    </p:spTree>
    <p:extLst>
      <p:ext uri="{BB962C8B-B14F-4D97-AF65-F5344CB8AC3E}">
        <p14:creationId xmlns:p14="http://schemas.microsoft.com/office/powerpoint/2010/main" val="551907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3</a:t>
            </a:fld>
            <a:endParaRPr lang="es-CO"/>
          </a:p>
        </p:txBody>
      </p:sp>
    </p:spTree>
    <p:extLst>
      <p:ext uri="{BB962C8B-B14F-4D97-AF65-F5344CB8AC3E}">
        <p14:creationId xmlns:p14="http://schemas.microsoft.com/office/powerpoint/2010/main" val="3039520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9/07/2024</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9/07/2024</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2869161" y="2126013"/>
            <a:ext cx="6453678"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Work Sans" pitchFamily="2" charset="77"/>
              </a:rPr>
              <a:t>Virtual DOM-React DOM</a:t>
            </a:r>
            <a:endParaRPr lang="es-ES" sz="4000" b="1" dirty="0">
              <a:solidFill>
                <a:schemeClr val="tx1">
                  <a:lumMod val="75000"/>
                  <a:lumOff val="25000"/>
                </a:schemeClr>
              </a:solidFill>
              <a:latin typeface="Work Sans" pitchFamily="2" charset="77"/>
            </a:endParaRPr>
          </a:p>
        </p:txBody>
      </p:sp>
      <p:sp>
        <p:nvSpPr>
          <p:cNvPr id="2" name="Rectángulo 1"/>
          <p:cNvSpPr/>
          <p:nvPr/>
        </p:nvSpPr>
        <p:spPr>
          <a:xfrm>
            <a:off x="3064021" y="3578275"/>
            <a:ext cx="6065520" cy="1200329"/>
          </a:xfrm>
          <a:prstGeom prst="rect">
            <a:avLst/>
          </a:prstGeom>
        </p:spPr>
        <p:txBody>
          <a:bodyPr wrap="square">
            <a:spAutoFit/>
          </a:bodyPr>
          <a:lstStyle/>
          <a:p>
            <a:pPr algn="ctr"/>
            <a:r>
              <a:rPr lang="en-001" sz="3600" b="1" dirty="0">
                <a:solidFill>
                  <a:srgbClr val="38AA00"/>
                </a:solidFill>
                <a:latin typeface="Work Sans" pitchFamily="2" charset="77"/>
              </a:rPr>
              <a:t>Instructor:</a:t>
            </a:r>
          </a:p>
          <a:p>
            <a:pPr algn="ctr"/>
            <a:r>
              <a:rPr lang="en-001" sz="3600" b="1" dirty="0">
                <a:solidFill>
                  <a:srgbClr val="00324D"/>
                </a:solidFill>
                <a:latin typeface="Work Sans" pitchFamily="2" charset="77"/>
              </a:rPr>
              <a:t>Carlos Daniel Gomez Daza</a:t>
            </a:r>
            <a:endParaRPr lang="es-ES" sz="3600" b="1" dirty="0">
              <a:solidFill>
                <a:srgbClr val="00324D"/>
              </a:solidFill>
              <a:latin typeface="Work Sans" pitchFamily="2" charset="77"/>
            </a:endParaRP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838200" y="800994"/>
            <a:ext cx="3687491" cy="2056896"/>
          </a:xfrm>
        </p:spPr>
        <p:txBody>
          <a:bodyPr vert="horz" lIns="91440" tIns="45720" rIns="91440" bIns="45720" rtlCol="0" anchor="t">
            <a:normAutofit/>
          </a:bodyPr>
          <a:lstStyle/>
          <a:p>
            <a:r>
              <a:rPr lang="en-US" sz="3200" kern="1200">
                <a:solidFill>
                  <a:schemeClr val="tx1"/>
                </a:solidFill>
                <a:latin typeface="+mj-lt"/>
                <a:ea typeface="+mj-ea"/>
                <a:cs typeface="+mj-cs"/>
              </a:rPr>
              <a:t>Virtual Dom </a:t>
            </a:r>
          </a:p>
        </p:txBody>
      </p:sp>
      <p:sp>
        <p:nvSpPr>
          <p:cNvPr id="5" name="CuadroTexto 4">
            <a:extLst>
              <a:ext uri="{FF2B5EF4-FFF2-40B4-BE49-F238E27FC236}">
                <a16:creationId xmlns:a16="http://schemas.microsoft.com/office/drawing/2014/main" id="{23B46E01-FC52-E211-1B5B-CB47850BD22C}"/>
              </a:ext>
            </a:extLst>
          </p:cNvPr>
          <p:cNvSpPr txBox="1"/>
          <p:nvPr/>
        </p:nvSpPr>
        <p:spPr>
          <a:xfrm>
            <a:off x="2990626" y="751555"/>
            <a:ext cx="8296960" cy="2106334"/>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r>
              <a:rPr lang="en-US" dirty="0"/>
              <a:t>El DOM virtual (VDOM) es un </a:t>
            </a:r>
            <a:r>
              <a:rPr lang="en-US" dirty="0" err="1"/>
              <a:t>concepto</a:t>
            </a:r>
            <a:r>
              <a:rPr lang="en-US" dirty="0"/>
              <a:t> de </a:t>
            </a:r>
            <a:r>
              <a:rPr lang="en-US" dirty="0" err="1"/>
              <a:t>programación</a:t>
            </a:r>
            <a:r>
              <a:rPr lang="en-US" dirty="0"/>
              <a:t> </a:t>
            </a:r>
            <a:r>
              <a:rPr lang="en-US" dirty="0" err="1"/>
              <a:t>donde</a:t>
            </a:r>
            <a:r>
              <a:rPr lang="en-US" dirty="0"/>
              <a:t> </a:t>
            </a:r>
            <a:r>
              <a:rPr lang="en-US" dirty="0" err="1"/>
              <a:t>una</a:t>
            </a:r>
            <a:r>
              <a:rPr lang="en-US" dirty="0"/>
              <a:t> </a:t>
            </a:r>
            <a:r>
              <a:rPr lang="en-US" dirty="0" err="1"/>
              <a:t>representación</a:t>
            </a:r>
            <a:r>
              <a:rPr lang="en-US" dirty="0"/>
              <a:t> ideal o “virtual” de la IU se </a:t>
            </a:r>
            <a:r>
              <a:rPr lang="en-US" dirty="0" err="1"/>
              <a:t>mantiene</a:t>
            </a:r>
            <a:r>
              <a:rPr lang="en-US" dirty="0"/>
              <a:t> </a:t>
            </a:r>
            <a:r>
              <a:rPr lang="en-US" dirty="0" err="1"/>
              <a:t>en</a:t>
            </a:r>
            <a:r>
              <a:rPr lang="en-US" dirty="0"/>
              <a:t> </a:t>
            </a:r>
            <a:r>
              <a:rPr lang="en-US" dirty="0" err="1"/>
              <a:t>memoria</a:t>
            </a:r>
            <a:r>
              <a:rPr lang="en-US" dirty="0"/>
              <a:t> y </a:t>
            </a:r>
            <a:r>
              <a:rPr lang="en-US" dirty="0" err="1"/>
              <a:t>en</a:t>
            </a:r>
            <a:r>
              <a:rPr lang="en-US" dirty="0"/>
              <a:t> </a:t>
            </a:r>
            <a:r>
              <a:rPr lang="en-US" dirty="0" err="1"/>
              <a:t>sincronía</a:t>
            </a:r>
            <a:r>
              <a:rPr lang="en-US" dirty="0"/>
              <a:t> con </a:t>
            </a:r>
            <a:r>
              <a:rPr lang="en-US" dirty="0" err="1"/>
              <a:t>el</a:t>
            </a:r>
            <a:r>
              <a:rPr lang="en-US" dirty="0"/>
              <a:t> DOM “real”, </a:t>
            </a:r>
            <a:r>
              <a:rPr lang="en-US" dirty="0" err="1"/>
              <a:t>mediante</a:t>
            </a:r>
            <a:r>
              <a:rPr lang="en-US" dirty="0"/>
              <a:t> </a:t>
            </a:r>
            <a:r>
              <a:rPr lang="en-US" dirty="0" err="1"/>
              <a:t>una</a:t>
            </a:r>
            <a:r>
              <a:rPr lang="en-US" dirty="0"/>
              <a:t> </a:t>
            </a:r>
            <a:r>
              <a:rPr lang="en-US" dirty="0" err="1"/>
              <a:t>biblioteca</a:t>
            </a:r>
            <a:r>
              <a:rPr lang="en-US" dirty="0"/>
              <a:t> </a:t>
            </a:r>
            <a:r>
              <a:rPr lang="en-US" dirty="0" err="1"/>
              <a:t>como</a:t>
            </a:r>
            <a:r>
              <a:rPr lang="en-US" dirty="0"/>
              <a:t> </a:t>
            </a:r>
            <a:r>
              <a:rPr lang="en-US" dirty="0" err="1"/>
              <a:t>ReactDOM</a:t>
            </a:r>
            <a:r>
              <a:rPr lang="en-US" dirty="0"/>
              <a:t>. Este </a:t>
            </a:r>
            <a:r>
              <a:rPr lang="en-US" dirty="0" err="1"/>
              <a:t>proceso</a:t>
            </a:r>
            <a:r>
              <a:rPr lang="en-US" dirty="0"/>
              <a:t> se </a:t>
            </a:r>
            <a:r>
              <a:rPr lang="en-US" dirty="0" err="1"/>
              <a:t>conoce</a:t>
            </a:r>
            <a:r>
              <a:rPr lang="en-US" dirty="0"/>
              <a:t> </a:t>
            </a:r>
            <a:r>
              <a:rPr lang="en-US" dirty="0" err="1"/>
              <a:t>como</a:t>
            </a:r>
            <a:r>
              <a:rPr lang="en-US" dirty="0"/>
              <a:t> </a:t>
            </a:r>
            <a:r>
              <a:rPr lang="en-US" dirty="0" err="1"/>
              <a:t>reconciliación</a:t>
            </a:r>
            <a:r>
              <a:rPr lang="en-US" dirty="0"/>
              <a:t>.</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Este </a:t>
            </a:r>
            <a:r>
              <a:rPr lang="en-US" dirty="0" err="1"/>
              <a:t>enfoque</a:t>
            </a:r>
            <a:r>
              <a:rPr lang="en-US" dirty="0"/>
              <a:t> </a:t>
            </a:r>
            <a:r>
              <a:rPr lang="en-US" dirty="0" err="1"/>
              <a:t>hace</a:t>
            </a:r>
            <a:r>
              <a:rPr lang="en-US" dirty="0"/>
              <a:t> </a:t>
            </a:r>
            <a:r>
              <a:rPr lang="en-US" dirty="0" err="1"/>
              <a:t>posible</a:t>
            </a:r>
            <a:r>
              <a:rPr lang="en-US" dirty="0"/>
              <a:t> la API </a:t>
            </a:r>
            <a:r>
              <a:rPr lang="en-US" dirty="0" err="1"/>
              <a:t>declarativa</a:t>
            </a:r>
            <a:r>
              <a:rPr lang="en-US" dirty="0"/>
              <a:t> de React: le dices a React </a:t>
            </a:r>
            <a:r>
              <a:rPr lang="en-US" dirty="0" err="1"/>
              <a:t>en</a:t>
            </a:r>
            <a:r>
              <a:rPr lang="en-US" dirty="0"/>
              <a:t> </a:t>
            </a:r>
            <a:r>
              <a:rPr lang="en-US" dirty="0" err="1"/>
              <a:t>qué</a:t>
            </a:r>
            <a:r>
              <a:rPr lang="en-US" dirty="0"/>
              <a:t> </a:t>
            </a:r>
            <a:r>
              <a:rPr lang="en-US" dirty="0" err="1"/>
              <a:t>estado</a:t>
            </a:r>
            <a:r>
              <a:rPr lang="en-US" dirty="0"/>
              <a:t> </a:t>
            </a:r>
            <a:r>
              <a:rPr lang="en-US" dirty="0" err="1"/>
              <a:t>quieres</a:t>
            </a:r>
            <a:r>
              <a:rPr lang="en-US" dirty="0"/>
              <a:t> que </a:t>
            </a:r>
            <a:r>
              <a:rPr lang="en-US" dirty="0" err="1"/>
              <a:t>esté</a:t>
            </a:r>
            <a:r>
              <a:rPr lang="en-US" dirty="0"/>
              <a:t> la IU, y se </a:t>
            </a:r>
            <a:r>
              <a:rPr lang="en-US" dirty="0" err="1"/>
              <a:t>hará</a:t>
            </a:r>
            <a:r>
              <a:rPr lang="en-US" dirty="0"/>
              <a:t> cargo de </a:t>
            </a:r>
            <a:r>
              <a:rPr lang="en-US" dirty="0" err="1"/>
              <a:t>llevar</a:t>
            </a:r>
            <a:r>
              <a:rPr lang="en-US" dirty="0"/>
              <a:t> </a:t>
            </a:r>
            <a:r>
              <a:rPr lang="en-US" dirty="0" err="1"/>
              <a:t>el</a:t>
            </a:r>
            <a:r>
              <a:rPr lang="en-US" dirty="0"/>
              <a:t> DOM a ese </a:t>
            </a:r>
            <a:r>
              <a:rPr lang="en-US" dirty="0" err="1"/>
              <a:t>estado</a:t>
            </a:r>
            <a:r>
              <a:rPr lang="en-US" dirty="0"/>
              <a:t>. </a:t>
            </a:r>
            <a:r>
              <a:rPr lang="en-US" dirty="0" err="1"/>
              <a:t>Esto</a:t>
            </a:r>
            <a:r>
              <a:rPr lang="en-US" dirty="0"/>
              <a:t> </a:t>
            </a:r>
            <a:r>
              <a:rPr lang="en-US" dirty="0" err="1"/>
              <a:t>abstrae</a:t>
            </a:r>
            <a:r>
              <a:rPr lang="en-US" dirty="0"/>
              <a:t> la </a:t>
            </a:r>
            <a:r>
              <a:rPr lang="en-US" dirty="0" err="1"/>
              <a:t>manipulación</a:t>
            </a:r>
            <a:r>
              <a:rPr lang="en-US" dirty="0"/>
              <a:t> de </a:t>
            </a:r>
            <a:r>
              <a:rPr lang="en-US" dirty="0" err="1"/>
              <a:t>atributos</a:t>
            </a:r>
            <a:r>
              <a:rPr lang="en-US" dirty="0"/>
              <a:t>, </a:t>
            </a:r>
            <a:r>
              <a:rPr lang="en-US" dirty="0" err="1"/>
              <a:t>manejo</a:t>
            </a:r>
            <a:r>
              <a:rPr lang="en-US" dirty="0"/>
              <a:t> de </a:t>
            </a:r>
            <a:r>
              <a:rPr lang="en-US" dirty="0" err="1"/>
              <a:t>eventos</a:t>
            </a:r>
            <a:r>
              <a:rPr lang="en-US" dirty="0"/>
              <a:t> y </a:t>
            </a:r>
            <a:r>
              <a:rPr lang="en-US" dirty="0" err="1"/>
              <a:t>actualización</a:t>
            </a:r>
            <a:r>
              <a:rPr lang="en-US" dirty="0"/>
              <a:t> manual del DOM que de </a:t>
            </a:r>
            <a:r>
              <a:rPr lang="en-US" dirty="0" err="1"/>
              <a:t>otra</a:t>
            </a:r>
            <a:r>
              <a:rPr lang="en-US" dirty="0"/>
              <a:t> </a:t>
            </a:r>
            <a:r>
              <a:rPr lang="en-US" dirty="0" err="1"/>
              <a:t>manera</a:t>
            </a:r>
            <a:r>
              <a:rPr lang="en-US" dirty="0"/>
              <a:t> </a:t>
            </a:r>
            <a:r>
              <a:rPr lang="en-US" dirty="0" err="1"/>
              <a:t>tendrías</a:t>
            </a:r>
            <a:r>
              <a:rPr lang="en-US" dirty="0"/>
              <a:t> que usar para </a:t>
            </a:r>
            <a:r>
              <a:rPr lang="en-US" dirty="0" err="1"/>
              <a:t>construir</a:t>
            </a:r>
            <a:r>
              <a:rPr lang="en-US" dirty="0"/>
              <a:t> </a:t>
            </a:r>
            <a:r>
              <a:rPr lang="en-US" dirty="0" err="1"/>
              <a:t>tu</a:t>
            </a:r>
            <a:r>
              <a:rPr lang="en-US" dirty="0"/>
              <a:t> </a:t>
            </a:r>
            <a:r>
              <a:rPr lang="en-US" dirty="0" err="1"/>
              <a:t>aplicación</a:t>
            </a:r>
            <a:r>
              <a:rPr lang="en-US" dirty="0"/>
              <a:t>.</a:t>
            </a:r>
          </a:p>
        </p:txBody>
      </p:sp>
      <p:pic>
        <p:nvPicPr>
          <p:cNvPr id="7" name="Imagen 6">
            <a:extLst>
              <a:ext uri="{FF2B5EF4-FFF2-40B4-BE49-F238E27FC236}">
                <a16:creationId xmlns:a16="http://schemas.microsoft.com/office/drawing/2014/main" id="{7D912198-3740-570D-CDD5-18DFE212E252}"/>
              </a:ext>
            </a:extLst>
          </p:cNvPr>
          <p:cNvPicPr>
            <a:picLocks noChangeAspect="1"/>
          </p:cNvPicPr>
          <p:nvPr/>
        </p:nvPicPr>
        <p:blipFill>
          <a:blip r:embed="rId3"/>
          <a:stretch>
            <a:fillRect/>
          </a:stretch>
        </p:blipFill>
        <p:spPr>
          <a:xfrm>
            <a:off x="2062003" y="3013703"/>
            <a:ext cx="8067989" cy="3267536"/>
          </a:xfrm>
          <a:prstGeom prst="rect">
            <a:avLst/>
          </a:prstGeom>
        </p:spPr>
      </p:pic>
      <p:grpSp>
        <p:nvGrpSpPr>
          <p:cNvPr id="12" name="Group 11">
            <a:extLst>
              <a:ext uri="{FF2B5EF4-FFF2-40B4-BE49-F238E27FC236}">
                <a16:creationId xmlns:a16="http://schemas.microsoft.com/office/drawing/2014/main" id="{E4A41B9E-A0C8-F78B-E5B6-A0D02D8810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3" name="Rectangle 12">
              <a:extLst>
                <a:ext uri="{FF2B5EF4-FFF2-40B4-BE49-F238E27FC236}">
                  <a16:creationId xmlns:a16="http://schemas.microsoft.com/office/drawing/2014/main" id="{F27C9029-9BF9-D125-90D6-AB03931B0B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CF84619-412D-A0C9-3DC9-47C3A42B9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68124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321834" y="800993"/>
            <a:ext cx="2690308" cy="2056896"/>
          </a:xfrm>
        </p:spPr>
        <p:txBody>
          <a:bodyPr vert="horz" lIns="91440" tIns="45720" rIns="91440" bIns="45720" rtlCol="0" anchor="t">
            <a:normAutofit/>
          </a:bodyPr>
          <a:lstStyle/>
          <a:p>
            <a:r>
              <a:rPr lang="en-US" sz="3200" kern="1200" dirty="0">
                <a:solidFill>
                  <a:schemeClr val="tx1"/>
                </a:solidFill>
                <a:latin typeface="+mj-lt"/>
                <a:ea typeface="+mj-ea"/>
                <a:cs typeface="+mj-cs"/>
              </a:rPr>
              <a:t>Virtual Dom</a:t>
            </a:r>
            <a:br>
              <a:rPr lang="en-US" sz="3200" kern="1200" dirty="0">
                <a:solidFill>
                  <a:schemeClr val="tx1"/>
                </a:solidFill>
                <a:latin typeface="+mj-lt"/>
                <a:ea typeface="+mj-ea"/>
                <a:cs typeface="+mj-cs"/>
              </a:rPr>
            </a:br>
            <a:r>
              <a:rPr lang="en-US" sz="3200" kern="1200" dirty="0">
                <a:solidFill>
                  <a:schemeClr val="tx1"/>
                </a:solidFill>
                <a:latin typeface="+mj-lt"/>
                <a:ea typeface="+mj-ea"/>
                <a:cs typeface="+mj-cs"/>
              </a:rPr>
              <a:t>Reconciliacion </a:t>
            </a:r>
          </a:p>
        </p:txBody>
      </p:sp>
      <p:sp>
        <p:nvSpPr>
          <p:cNvPr id="5" name="CuadroTexto 4">
            <a:extLst>
              <a:ext uri="{FF2B5EF4-FFF2-40B4-BE49-F238E27FC236}">
                <a16:creationId xmlns:a16="http://schemas.microsoft.com/office/drawing/2014/main" id="{23B46E01-FC52-E211-1B5B-CB47850BD22C}"/>
              </a:ext>
            </a:extLst>
          </p:cNvPr>
          <p:cNvSpPr txBox="1"/>
          <p:nvPr/>
        </p:nvSpPr>
        <p:spPr>
          <a:xfrm>
            <a:off x="3184264" y="576761"/>
            <a:ext cx="8685902" cy="2106334"/>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r>
              <a:rPr lang="es-ES" sz="1600" dirty="0"/>
              <a:t>Cuando usas React, en un momento dado puedes pensar que la función render() crea un árbol de elementos de React. En la siguiente actualización de estado o propiedades, esa función render() devolverá un árbol diferente de elementos de React. React luego debe descubrir cómo actualizar de manera eficiente la interfaz de usuario para que coincida con el árbol más reciente.</a:t>
            </a:r>
          </a:p>
          <a:p>
            <a:pPr indent="-228600">
              <a:lnSpc>
                <a:spcPct val="90000"/>
              </a:lnSpc>
              <a:spcAft>
                <a:spcPts val="600"/>
              </a:spcAft>
              <a:buFont typeface="Arial" panose="020B0604020202020204" pitchFamily="34" charset="0"/>
              <a:buChar char="•"/>
            </a:pPr>
            <a:endParaRPr lang="es-ES" sz="1600" dirty="0"/>
          </a:p>
          <a:p>
            <a:pPr indent="-228600">
              <a:lnSpc>
                <a:spcPct val="90000"/>
              </a:lnSpc>
              <a:spcAft>
                <a:spcPts val="600"/>
              </a:spcAft>
              <a:buFont typeface="Arial" panose="020B0604020202020204" pitchFamily="34" charset="0"/>
              <a:buChar char="•"/>
            </a:pPr>
            <a:r>
              <a:rPr lang="es-ES" sz="1600" dirty="0"/>
              <a:t>Existen algunas soluciones genéricas para este problema algorítmico de generar el número mínimo de operaciones para transformar un árbol en otro. Sin embargo, los algoritmos de vanguardia tienen una complejidad en el orden de O(n3) donde n es el número de elementos en el árbol</a:t>
            </a:r>
            <a:r>
              <a:rPr lang="es-ES" dirty="0"/>
              <a:t>.</a:t>
            </a:r>
            <a:endParaRPr lang="en-US" dirty="0"/>
          </a:p>
        </p:txBody>
      </p:sp>
      <p:pic>
        <p:nvPicPr>
          <p:cNvPr id="7" name="Imagen 6">
            <a:extLst>
              <a:ext uri="{FF2B5EF4-FFF2-40B4-BE49-F238E27FC236}">
                <a16:creationId xmlns:a16="http://schemas.microsoft.com/office/drawing/2014/main" id="{7D912198-3740-570D-CDD5-18DFE212E252}"/>
              </a:ext>
            </a:extLst>
          </p:cNvPr>
          <p:cNvPicPr>
            <a:picLocks noChangeAspect="1"/>
          </p:cNvPicPr>
          <p:nvPr/>
        </p:nvPicPr>
        <p:blipFill>
          <a:blip r:embed="rId3"/>
          <a:stretch>
            <a:fillRect/>
          </a:stretch>
        </p:blipFill>
        <p:spPr>
          <a:xfrm>
            <a:off x="2062003" y="3013703"/>
            <a:ext cx="8067989" cy="3267536"/>
          </a:xfrm>
          <a:prstGeom prst="rect">
            <a:avLst/>
          </a:prstGeom>
        </p:spPr>
      </p:pic>
      <p:grpSp>
        <p:nvGrpSpPr>
          <p:cNvPr id="12" name="Group 11">
            <a:extLst>
              <a:ext uri="{FF2B5EF4-FFF2-40B4-BE49-F238E27FC236}">
                <a16:creationId xmlns:a16="http://schemas.microsoft.com/office/drawing/2014/main" id="{E4A41B9E-A0C8-F78B-E5B6-A0D02D8810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3" name="Rectangle 12">
              <a:extLst>
                <a:ext uri="{FF2B5EF4-FFF2-40B4-BE49-F238E27FC236}">
                  <a16:creationId xmlns:a16="http://schemas.microsoft.com/office/drawing/2014/main" id="{F27C9029-9BF9-D125-90D6-AB03931B0B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CF84619-412D-A0C9-3DC9-47C3A42B9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75291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F16675-49EB-8DC0-C0D5-22926B84499F}"/>
              </a:ext>
            </a:extLst>
          </p:cNvPr>
          <p:cNvSpPr>
            <a:spLocks noGrp="1"/>
          </p:cNvSpPr>
          <p:nvPr>
            <p:ph type="title"/>
          </p:nvPr>
        </p:nvSpPr>
        <p:spPr>
          <a:xfrm>
            <a:off x="440167" y="203761"/>
            <a:ext cx="10515600" cy="1325563"/>
          </a:xfrm>
        </p:spPr>
        <p:txBody>
          <a:bodyPr/>
          <a:lstStyle/>
          <a:p>
            <a:r>
              <a:rPr lang="en-US" b="1" dirty="0">
                <a:solidFill>
                  <a:schemeClr val="bg1"/>
                </a:solidFill>
              </a:rPr>
              <a:t>React DOM</a:t>
            </a:r>
          </a:p>
        </p:txBody>
      </p:sp>
      <p:sp>
        <p:nvSpPr>
          <p:cNvPr id="4" name="CuadroTexto 3">
            <a:extLst>
              <a:ext uri="{FF2B5EF4-FFF2-40B4-BE49-F238E27FC236}">
                <a16:creationId xmlns:a16="http://schemas.microsoft.com/office/drawing/2014/main" id="{6859D8EF-2418-3E4B-4125-A78709EA7708}"/>
              </a:ext>
            </a:extLst>
          </p:cNvPr>
          <p:cNvSpPr txBox="1"/>
          <p:nvPr/>
        </p:nvSpPr>
        <p:spPr>
          <a:xfrm>
            <a:off x="440167" y="1888902"/>
            <a:ext cx="6094206" cy="2031325"/>
          </a:xfrm>
          <a:prstGeom prst="rect">
            <a:avLst/>
          </a:prstGeom>
          <a:noFill/>
        </p:spPr>
        <p:txBody>
          <a:bodyPr wrap="square">
            <a:spAutoFit/>
          </a:bodyPr>
          <a:lstStyle/>
          <a:p>
            <a:pPr algn="just"/>
            <a:r>
              <a:rPr lang="es-ES" dirty="0"/>
              <a:t>React DOM es una biblioteca de JavaScript que forma parte del ecosistema de React, desarrollado por Facebook. Su propósito principal es permitir a los desarrolladores interactuar con el DOM (</a:t>
            </a:r>
            <a:r>
              <a:rPr lang="es-ES" dirty="0" err="1"/>
              <a:t>Document</a:t>
            </a:r>
            <a:r>
              <a:rPr lang="es-ES" dirty="0"/>
              <a:t> </a:t>
            </a:r>
            <a:r>
              <a:rPr lang="es-ES" dirty="0" err="1"/>
              <a:t>Object</a:t>
            </a:r>
            <a:r>
              <a:rPr lang="es-ES" dirty="0"/>
              <a:t> </a:t>
            </a:r>
            <a:r>
              <a:rPr lang="es-ES" dirty="0" err="1"/>
              <a:t>Model</a:t>
            </a:r>
            <a:r>
              <a:rPr lang="es-ES" dirty="0"/>
              <a:t>) del navegador de una manera más eficiente y efectiva. React DOM proporciona métodos específicos que ayudan a manejar y actualizar el DOM cuando se utilizan componentes de React.</a:t>
            </a:r>
            <a:endParaRPr lang="en-US" dirty="0"/>
          </a:p>
        </p:txBody>
      </p:sp>
      <p:pic>
        <p:nvPicPr>
          <p:cNvPr id="6" name="Imagen 5">
            <a:extLst>
              <a:ext uri="{FF2B5EF4-FFF2-40B4-BE49-F238E27FC236}">
                <a16:creationId xmlns:a16="http://schemas.microsoft.com/office/drawing/2014/main" id="{FFF7AEBF-91F0-15F9-53DA-D1A11F4AEF91}"/>
              </a:ext>
            </a:extLst>
          </p:cNvPr>
          <p:cNvPicPr>
            <a:picLocks noChangeAspect="1"/>
          </p:cNvPicPr>
          <p:nvPr/>
        </p:nvPicPr>
        <p:blipFill>
          <a:blip r:embed="rId2"/>
          <a:stretch>
            <a:fillRect/>
          </a:stretch>
        </p:blipFill>
        <p:spPr>
          <a:xfrm>
            <a:off x="7035139" y="1591180"/>
            <a:ext cx="4218726" cy="4400829"/>
          </a:xfrm>
          <a:prstGeom prst="rect">
            <a:avLst/>
          </a:prstGeom>
        </p:spPr>
      </p:pic>
    </p:spTree>
    <p:extLst>
      <p:ext uri="{BB962C8B-B14F-4D97-AF65-F5344CB8AC3E}">
        <p14:creationId xmlns:p14="http://schemas.microsoft.com/office/powerpoint/2010/main" val="739898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F16675-49EB-8DC0-C0D5-22926B84499F}"/>
              </a:ext>
            </a:extLst>
          </p:cNvPr>
          <p:cNvSpPr>
            <a:spLocks noGrp="1"/>
          </p:cNvSpPr>
          <p:nvPr>
            <p:ph type="title"/>
          </p:nvPr>
        </p:nvSpPr>
        <p:spPr>
          <a:xfrm>
            <a:off x="440167" y="203761"/>
            <a:ext cx="10515600" cy="1325563"/>
          </a:xfrm>
        </p:spPr>
        <p:txBody>
          <a:bodyPr/>
          <a:lstStyle/>
          <a:p>
            <a:r>
              <a:rPr lang="es-ES" b="1" dirty="0">
                <a:solidFill>
                  <a:schemeClr val="bg1"/>
                </a:solidFill>
              </a:rPr>
              <a:t>Cómo Funciona el Árbol de React DOM</a:t>
            </a:r>
            <a:endParaRPr lang="en-US" b="1" dirty="0">
              <a:solidFill>
                <a:schemeClr val="bg1"/>
              </a:solidFill>
            </a:endParaRPr>
          </a:p>
        </p:txBody>
      </p:sp>
      <p:sp>
        <p:nvSpPr>
          <p:cNvPr id="4" name="CuadroTexto 3">
            <a:extLst>
              <a:ext uri="{FF2B5EF4-FFF2-40B4-BE49-F238E27FC236}">
                <a16:creationId xmlns:a16="http://schemas.microsoft.com/office/drawing/2014/main" id="{6859D8EF-2418-3E4B-4125-A78709EA7708}"/>
              </a:ext>
            </a:extLst>
          </p:cNvPr>
          <p:cNvSpPr txBox="1"/>
          <p:nvPr/>
        </p:nvSpPr>
        <p:spPr>
          <a:xfrm>
            <a:off x="440167" y="1888902"/>
            <a:ext cx="6094206" cy="4247317"/>
          </a:xfrm>
          <a:prstGeom prst="rect">
            <a:avLst/>
          </a:prstGeom>
          <a:noFill/>
        </p:spPr>
        <p:txBody>
          <a:bodyPr wrap="square">
            <a:spAutoFit/>
          </a:bodyPr>
          <a:lstStyle/>
          <a:p>
            <a:pPr algn="just"/>
            <a:r>
              <a:rPr lang="es-ES" b="1" dirty="0"/>
              <a:t>Componentes de React: </a:t>
            </a:r>
            <a:r>
              <a:rPr lang="es-ES" dirty="0"/>
              <a:t>En React, la aplicación se divide en componentes. Cada componente es una unidad de código que puede tener su propio estado y lógica. Estos componentes pueden ser funcionales o basados en clases.</a:t>
            </a:r>
          </a:p>
          <a:p>
            <a:pPr algn="just"/>
            <a:endParaRPr lang="es-ES" dirty="0"/>
          </a:p>
          <a:p>
            <a:pPr algn="just"/>
            <a:r>
              <a:rPr lang="es-ES" b="1" dirty="0"/>
              <a:t>Virtual DOM: </a:t>
            </a:r>
            <a:r>
              <a:rPr lang="es-ES" dirty="0"/>
              <a:t>React mantiene un Virtual DOM, que es una copia ligera del DOM real. Cada vez que el estado de un componente cambia, React actualiza el Virtual DOM en lugar del DOM real. Luego, React compara el Virtual DOM con el DOM real para determinar los cambios necesarios.</a:t>
            </a:r>
          </a:p>
          <a:p>
            <a:pPr algn="just"/>
            <a:endParaRPr lang="es-ES" b="1" dirty="0"/>
          </a:p>
          <a:p>
            <a:pPr algn="just"/>
            <a:r>
              <a:rPr lang="es-ES" b="1" dirty="0"/>
              <a:t>Reconciliación: </a:t>
            </a:r>
            <a:r>
              <a:rPr lang="es-ES" dirty="0"/>
              <a:t>Durante el proceso de reconciliación, React compara el Virtual DOM con el DOM real utilizando un algoritmo eficiente. Solo los nodos que han cambiado se actualizan en el DOM real, lo que mejora el rendimiento.</a:t>
            </a:r>
            <a:endParaRPr lang="en-US" dirty="0"/>
          </a:p>
        </p:txBody>
      </p:sp>
      <p:pic>
        <p:nvPicPr>
          <p:cNvPr id="6" name="Imagen 5">
            <a:extLst>
              <a:ext uri="{FF2B5EF4-FFF2-40B4-BE49-F238E27FC236}">
                <a16:creationId xmlns:a16="http://schemas.microsoft.com/office/drawing/2014/main" id="{FFF7AEBF-91F0-15F9-53DA-D1A11F4AEF91}"/>
              </a:ext>
            </a:extLst>
          </p:cNvPr>
          <p:cNvPicPr>
            <a:picLocks noChangeAspect="1"/>
          </p:cNvPicPr>
          <p:nvPr/>
        </p:nvPicPr>
        <p:blipFill>
          <a:blip r:embed="rId2"/>
          <a:stretch>
            <a:fillRect/>
          </a:stretch>
        </p:blipFill>
        <p:spPr>
          <a:xfrm>
            <a:off x="7131957" y="1719812"/>
            <a:ext cx="4218726" cy="4400829"/>
          </a:xfrm>
          <a:prstGeom prst="rect">
            <a:avLst/>
          </a:prstGeom>
        </p:spPr>
      </p:pic>
    </p:spTree>
    <p:extLst>
      <p:ext uri="{BB962C8B-B14F-4D97-AF65-F5344CB8AC3E}">
        <p14:creationId xmlns:p14="http://schemas.microsoft.com/office/powerpoint/2010/main" val="3849801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F16675-49EB-8DC0-C0D5-22926B84499F}"/>
              </a:ext>
            </a:extLst>
          </p:cNvPr>
          <p:cNvSpPr>
            <a:spLocks noGrp="1"/>
          </p:cNvSpPr>
          <p:nvPr>
            <p:ph type="title"/>
          </p:nvPr>
        </p:nvSpPr>
        <p:spPr>
          <a:xfrm>
            <a:off x="440167" y="203761"/>
            <a:ext cx="10515600" cy="1325563"/>
          </a:xfrm>
        </p:spPr>
        <p:txBody>
          <a:bodyPr/>
          <a:lstStyle/>
          <a:p>
            <a:r>
              <a:rPr lang="es-ES" b="1" dirty="0">
                <a:solidFill>
                  <a:schemeClr val="bg1"/>
                </a:solidFill>
              </a:rPr>
              <a:t>Beneficios del Árbol de React DOM</a:t>
            </a:r>
            <a:endParaRPr lang="en-US" b="1" dirty="0">
              <a:solidFill>
                <a:schemeClr val="bg1"/>
              </a:solidFill>
            </a:endParaRPr>
          </a:p>
        </p:txBody>
      </p:sp>
      <p:sp>
        <p:nvSpPr>
          <p:cNvPr id="4" name="CuadroTexto 3">
            <a:extLst>
              <a:ext uri="{FF2B5EF4-FFF2-40B4-BE49-F238E27FC236}">
                <a16:creationId xmlns:a16="http://schemas.microsoft.com/office/drawing/2014/main" id="{6859D8EF-2418-3E4B-4125-A78709EA7708}"/>
              </a:ext>
            </a:extLst>
          </p:cNvPr>
          <p:cNvSpPr txBox="1"/>
          <p:nvPr/>
        </p:nvSpPr>
        <p:spPr>
          <a:xfrm>
            <a:off x="440167" y="1888902"/>
            <a:ext cx="6094206" cy="3139321"/>
          </a:xfrm>
          <a:prstGeom prst="rect">
            <a:avLst/>
          </a:prstGeom>
          <a:noFill/>
        </p:spPr>
        <p:txBody>
          <a:bodyPr wrap="square">
            <a:spAutoFit/>
          </a:bodyPr>
          <a:lstStyle/>
          <a:p>
            <a:pPr algn="just"/>
            <a:r>
              <a:rPr lang="es-ES" b="1" dirty="0"/>
              <a:t>Modularidad: </a:t>
            </a:r>
            <a:r>
              <a:rPr lang="es-ES" dirty="0"/>
              <a:t>La estructura jerárquica permite una organización modular del código, facilitando el desarrollo y el mantenimiento.</a:t>
            </a:r>
          </a:p>
          <a:p>
            <a:pPr algn="just"/>
            <a:endParaRPr lang="es-ES" dirty="0"/>
          </a:p>
          <a:p>
            <a:pPr algn="just"/>
            <a:r>
              <a:rPr lang="es-ES" b="1" dirty="0"/>
              <a:t>Actualización Eficiente: </a:t>
            </a:r>
            <a:r>
              <a:rPr lang="es-ES" dirty="0"/>
              <a:t>Gracias al uso del Virtual DOM y el proceso de reconciliación, las actualizaciones del DOM son eficientes y rápidas.</a:t>
            </a:r>
          </a:p>
          <a:p>
            <a:pPr algn="just"/>
            <a:endParaRPr lang="es-ES" dirty="0"/>
          </a:p>
          <a:p>
            <a:pPr algn="just"/>
            <a:r>
              <a:rPr lang="es-ES" b="1" dirty="0"/>
              <a:t>Reutilización de Componentes: </a:t>
            </a:r>
            <a:r>
              <a:rPr lang="es-ES" dirty="0"/>
              <a:t>Los componentes pueden reutilizarse en diferentes partes de la aplicación, lo que reduce la duplicación de código</a:t>
            </a:r>
            <a:endParaRPr lang="en-US" dirty="0"/>
          </a:p>
        </p:txBody>
      </p:sp>
      <p:pic>
        <p:nvPicPr>
          <p:cNvPr id="6" name="Imagen 5">
            <a:extLst>
              <a:ext uri="{FF2B5EF4-FFF2-40B4-BE49-F238E27FC236}">
                <a16:creationId xmlns:a16="http://schemas.microsoft.com/office/drawing/2014/main" id="{FFF7AEBF-91F0-15F9-53DA-D1A11F4AEF91}"/>
              </a:ext>
            </a:extLst>
          </p:cNvPr>
          <p:cNvPicPr>
            <a:picLocks noChangeAspect="1"/>
          </p:cNvPicPr>
          <p:nvPr/>
        </p:nvPicPr>
        <p:blipFill>
          <a:blip r:embed="rId2"/>
          <a:stretch>
            <a:fillRect/>
          </a:stretch>
        </p:blipFill>
        <p:spPr>
          <a:xfrm>
            <a:off x="7131957" y="1719812"/>
            <a:ext cx="4218726" cy="4400829"/>
          </a:xfrm>
          <a:prstGeom prst="rect">
            <a:avLst/>
          </a:prstGeom>
        </p:spPr>
      </p:pic>
    </p:spTree>
    <p:extLst>
      <p:ext uri="{BB962C8B-B14F-4D97-AF65-F5344CB8AC3E}">
        <p14:creationId xmlns:p14="http://schemas.microsoft.com/office/powerpoint/2010/main" val="1905425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F16675-49EB-8DC0-C0D5-22926B84499F}"/>
              </a:ext>
            </a:extLst>
          </p:cNvPr>
          <p:cNvSpPr>
            <a:spLocks noGrp="1"/>
          </p:cNvSpPr>
          <p:nvPr>
            <p:ph type="title"/>
          </p:nvPr>
        </p:nvSpPr>
        <p:spPr>
          <a:xfrm>
            <a:off x="440167" y="203761"/>
            <a:ext cx="10515600" cy="1325563"/>
          </a:xfrm>
        </p:spPr>
        <p:txBody>
          <a:bodyPr/>
          <a:lstStyle/>
          <a:p>
            <a:r>
              <a:rPr lang="es-ES" b="1" dirty="0">
                <a:solidFill>
                  <a:schemeClr val="bg1"/>
                </a:solidFill>
              </a:rPr>
              <a:t>Interacción React DOM con Virtual DOM</a:t>
            </a:r>
            <a:endParaRPr lang="en-US" b="1" dirty="0">
              <a:solidFill>
                <a:schemeClr val="bg1"/>
              </a:solidFill>
            </a:endParaRPr>
          </a:p>
        </p:txBody>
      </p:sp>
      <p:pic>
        <p:nvPicPr>
          <p:cNvPr id="5" name="Imagen 4">
            <a:extLst>
              <a:ext uri="{FF2B5EF4-FFF2-40B4-BE49-F238E27FC236}">
                <a16:creationId xmlns:a16="http://schemas.microsoft.com/office/drawing/2014/main" id="{05FE232A-E492-4C29-0146-BF9227FC883B}"/>
              </a:ext>
            </a:extLst>
          </p:cNvPr>
          <p:cNvPicPr>
            <a:picLocks noChangeAspect="1"/>
          </p:cNvPicPr>
          <p:nvPr/>
        </p:nvPicPr>
        <p:blipFill>
          <a:blip r:embed="rId2"/>
          <a:stretch>
            <a:fillRect/>
          </a:stretch>
        </p:blipFill>
        <p:spPr>
          <a:xfrm>
            <a:off x="1129553" y="1765692"/>
            <a:ext cx="9918551" cy="4784526"/>
          </a:xfrm>
          <a:prstGeom prst="rect">
            <a:avLst/>
          </a:prstGeom>
        </p:spPr>
      </p:pic>
    </p:spTree>
    <p:extLst>
      <p:ext uri="{BB962C8B-B14F-4D97-AF65-F5344CB8AC3E}">
        <p14:creationId xmlns:p14="http://schemas.microsoft.com/office/powerpoint/2010/main" val="2949637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F16675-49EB-8DC0-C0D5-22926B84499F}"/>
              </a:ext>
            </a:extLst>
          </p:cNvPr>
          <p:cNvSpPr>
            <a:spLocks noGrp="1"/>
          </p:cNvSpPr>
          <p:nvPr>
            <p:ph type="title"/>
          </p:nvPr>
        </p:nvSpPr>
        <p:spPr>
          <a:xfrm>
            <a:off x="440167" y="203761"/>
            <a:ext cx="10515600" cy="1325563"/>
          </a:xfrm>
        </p:spPr>
        <p:txBody>
          <a:bodyPr/>
          <a:lstStyle/>
          <a:p>
            <a:r>
              <a:rPr lang="es-ES" b="1" dirty="0">
                <a:solidFill>
                  <a:schemeClr val="bg1"/>
                </a:solidFill>
              </a:rPr>
              <a:t>Interacción React DOM con Virtual DOM</a:t>
            </a:r>
            <a:endParaRPr lang="en-US" b="1" dirty="0">
              <a:solidFill>
                <a:schemeClr val="bg1"/>
              </a:solidFill>
            </a:endParaRPr>
          </a:p>
        </p:txBody>
      </p:sp>
      <p:pic>
        <p:nvPicPr>
          <p:cNvPr id="4" name="Imagen 3">
            <a:extLst>
              <a:ext uri="{FF2B5EF4-FFF2-40B4-BE49-F238E27FC236}">
                <a16:creationId xmlns:a16="http://schemas.microsoft.com/office/drawing/2014/main" id="{D9EE2BD8-3823-140F-6006-23B7003B3CE2}"/>
              </a:ext>
            </a:extLst>
          </p:cNvPr>
          <p:cNvPicPr>
            <a:picLocks noChangeAspect="1"/>
          </p:cNvPicPr>
          <p:nvPr/>
        </p:nvPicPr>
        <p:blipFill>
          <a:blip r:embed="rId2"/>
          <a:stretch>
            <a:fillRect/>
          </a:stretch>
        </p:blipFill>
        <p:spPr>
          <a:xfrm>
            <a:off x="3358853" y="1586500"/>
            <a:ext cx="5151566" cy="5067739"/>
          </a:xfrm>
          <a:prstGeom prst="rect">
            <a:avLst/>
          </a:prstGeom>
        </p:spPr>
      </p:pic>
    </p:spTree>
    <p:extLst>
      <p:ext uri="{BB962C8B-B14F-4D97-AF65-F5344CB8AC3E}">
        <p14:creationId xmlns:p14="http://schemas.microsoft.com/office/powerpoint/2010/main" val="1149575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F16675-49EB-8DC0-C0D5-22926B84499F}"/>
              </a:ext>
            </a:extLst>
          </p:cNvPr>
          <p:cNvSpPr>
            <a:spLocks noGrp="1"/>
          </p:cNvSpPr>
          <p:nvPr>
            <p:ph type="title"/>
          </p:nvPr>
        </p:nvSpPr>
        <p:spPr>
          <a:xfrm>
            <a:off x="440167" y="203761"/>
            <a:ext cx="10515600" cy="1325563"/>
          </a:xfrm>
        </p:spPr>
        <p:txBody>
          <a:bodyPr/>
          <a:lstStyle/>
          <a:p>
            <a:r>
              <a:rPr lang="es-ES" b="1" dirty="0">
                <a:solidFill>
                  <a:schemeClr val="bg1"/>
                </a:solidFill>
              </a:rPr>
              <a:t>Interacción React DOM con Virtual DOM</a:t>
            </a:r>
            <a:endParaRPr lang="en-US" b="1" dirty="0">
              <a:solidFill>
                <a:schemeClr val="bg1"/>
              </a:solidFill>
            </a:endParaRPr>
          </a:p>
        </p:txBody>
      </p:sp>
      <p:pic>
        <p:nvPicPr>
          <p:cNvPr id="5" name="Imagen 4">
            <a:extLst>
              <a:ext uri="{FF2B5EF4-FFF2-40B4-BE49-F238E27FC236}">
                <a16:creationId xmlns:a16="http://schemas.microsoft.com/office/drawing/2014/main" id="{0FE6E8FA-3C0F-B5E7-8374-7BD9D8F32E81}"/>
              </a:ext>
            </a:extLst>
          </p:cNvPr>
          <p:cNvPicPr>
            <a:picLocks noChangeAspect="1"/>
          </p:cNvPicPr>
          <p:nvPr/>
        </p:nvPicPr>
        <p:blipFill>
          <a:blip r:embed="rId2"/>
          <a:stretch>
            <a:fillRect/>
          </a:stretch>
        </p:blipFill>
        <p:spPr>
          <a:xfrm>
            <a:off x="1600626" y="2065805"/>
            <a:ext cx="8535358" cy="3872417"/>
          </a:xfrm>
          <a:prstGeom prst="rect">
            <a:avLst/>
          </a:prstGeom>
        </p:spPr>
      </p:pic>
    </p:spTree>
    <p:extLst>
      <p:ext uri="{BB962C8B-B14F-4D97-AF65-F5344CB8AC3E}">
        <p14:creationId xmlns:p14="http://schemas.microsoft.com/office/powerpoint/2010/main" val="2364017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11787</TotalTime>
  <Words>547</Words>
  <Application>Microsoft Office PowerPoint</Application>
  <PresentationFormat>Panorámica</PresentationFormat>
  <Paragraphs>31</Paragraphs>
  <Slides>10</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Calibri Light</vt:lpstr>
      <vt:lpstr>Work Sans</vt:lpstr>
      <vt:lpstr>Tema de Office</vt:lpstr>
      <vt:lpstr>Presentación de PowerPoint</vt:lpstr>
      <vt:lpstr>Virtual Dom </vt:lpstr>
      <vt:lpstr>Virtual Dom Reconciliacion </vt:lpstr>
      <vt:lpstr>React DOM</vt:lpstr>
      <vt:lpstr>Cómo Funciona el Árbol de React DOM</vt:lpstr>
      <vt:lpstr>Beneficios del Árbol de React DOM</vt:lpstr>
      <vt:lpstr>Interacción React DOM con Virtual DOM</vt:lpstr>
      <vt:lpstr>Interacción React DOM con Virtual DOM</vt:lpstr>
      <vt:lpstr>Interacción React DOM con Virtual DOM</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CARLOS DANIEL GOMEZ DAZA</cp:lastModifiedBy>
  <cp:revision>121</cp:revision>
  <dcterms:created xsi:type="dcterms:W3CDTF">2020-10-01T23:51:28Z</dcterms:created>
  <dcterms:modified xsi:type="dcterms:W3CDTF">2024-07-10T03:12:44Z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