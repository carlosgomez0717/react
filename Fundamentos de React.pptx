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68" r:id="rId2"/>
    <p:sldId id="533" r:id="rId3"/>
    <p:sldId id="534" r:id="rId4"/>
    <p:sldId id="535" r:id="rId5"/>
    <p:sldId id="536" r:id="rId6"/>
    <p:sldId id="537" r:id="rId7"/>
    <p:sldId id="538" r:id="rId8"/>
    <p:sldId id="539" r:id="rId9"/>
    <p:sldId id="540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264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6369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90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240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433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5505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045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960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0857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26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938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8624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048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937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077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704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4975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4680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012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25/05/2025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hyperlink" Target="https://vitejs.dev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JavaScript/Reference/Statements/export#usando_el_export_por_defect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.mozilla.org/es/docs/Web/JavaScript/Reference/Statements/import#importa_un_solo_miembro_de_un_m%C3%B3dulo." TargetMode="External"/><Relationship Id="rId5" Type="http://schemas.openxmlformats.org/officeDocument/2006/relationships/hyperlink" Target="https://developer.mozilla.org/es/docs/Web/JavaScript/Reference/Statements/import#importaci%C3%B3n_de_elementos_por_defecto" TargetMode="External"/><Relationship Id="rId4" Type="http://schemas.openxmlformats.org/officeDocument/2006/relationships/hyperlink" Target="https://developer.mozilla.org/es/docs/Web/JavaScript/Reference/Statements/export#syntax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form.tools/html-to-js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161" y="2126013"/>
            <a:ext cx="6453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Fundamentos de React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Que es Vite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077114-14D0-410B-C12C-0ECCC444BDFB}"/>
              </a:ext>
            </a:extLst>
          </p:cNvPr>
          <p:cNvSpPr txBox="1"/>
          <p:nvPr/>
        </p:nvSpPr>
        <p:spPr>
          <a:xfrm>
            <a:off x="562087" y="1855321"/>
            <a:ext cx="6094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Vite (palabra en francés para "rápido", pronunciado como /</a:t>
            </a:r>
            <a:r>
              <a:rPr lang="es-ES" dirty="0" err="1"/>
              <a:t>vit</a:t>
            </a:r>
            <a:r>
              <a:rPr lang="es-ES" dirty="0"/>
              <a:t>/, como "</a:t>
            </a:r>
            <a:r>
              <a:rPr lang="es-ES" dirty="0" err="1"/>
              <a:t>veet</a:t>
            </a:r>
            <a:r>
              <a:rPr lang="es-ES" dirty="0"/>
              <a:t>") es una herramienta de compilación que tiene como objetivo proporcionar una experiencia de desarrollo más rápida y ágil para proyectos web modernos. Consta de dos partes principales: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 servidor de desarrollo que proporciona mejoras enriquecidas de funcionalidades sobre módulos ES nativos, por ejemplo Hot Module </a:t>
            </a:r>
            <a:r>
              <a:rPr lang="es-ES" dirty="0" err="1"/>
              <a:t>Replacement</a:t>
            </a:r>
            <a:r>
              <a:rPr lang="es-ES" dirty="0"/>
              <a:t> (HMR) extremadamente rápido.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 comando de compilación que empaqueta tu código con </a:t>
            </a:r>
            <a:r>
              <a:rPr lang="es-ES" dirty="0" err="1"/>
              <a:t>Rollup</a:t>
            </a:r>
            <a:r>
              <a:rPr lang="es-ES" dirty="0"/>
              <a:t>, preconfigurado para generar recursos estáticos altamente optimizados para producción.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E024E2B-62F3-866D-980B-8F19959509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36" t="4020" r="18719" b="4947"/>
          <a:stretch/>
        </p:blipFill>
        <p:spPr>
          <a:xfrm>
            <a:off x="7046259" y="1608166"/>
            <a:ext cx="4948518" cy="476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Compatibildad con navegadores: Vite</a:t>
            </a:r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123EDA-6E33-A9D1-0D0D-5E7FB017DA5C}"/>
              </a:ext>
            </a:extLst>
          </p:cNvPr>
          <p:cNvSpPr txBox="1"/>
          <p:nvPr/>
        </p:nvSpPr>
        <p:spPr>
          <a:xfrm>
            <a:off x="766483" y="1864729"/>
            <a:ext cx="60942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Durante el desarrollo, Vite configura </a:t>
            </a:r>
            <a:r>
              <a:rPr lang="es-ES" dirty="0" err="1"/>
              <a:t>esnext</a:t>
            </a:r>
            <a:r>
              <a:rPr lang="es-ES" dirty="0"/>
              <a:t> como el objetivo de transformación, porque asumimos que se está utilizando un navegador moderno que admite todas las características más recientes de JavaScript y CSS. Esto evita la reducción de sintaxis, permitiendo que Vite sirva módulos lo más cercanos posible al código fuente original.</a:t>
            </a:r>
          </a:p>
          <a:p>
            <a:endParaRPr lang="es-ES" dirty="0"/>
          </a:p>
          <a:p>
            <a:r>
              <a:rPr lang="es-ES" dirty="0"/>
              <a:t>Para la compilación de producción, de forma predeterminada Vite apunta a navegadores que admiten Módulos ES nativos, importación dinámica ESM nativa y </a:t>
            </a:r>
            <a:r>
              <a:rPr lang="es-ES" dirty="0" err="1"/>
              <a:t>import.meta</a:t>
            </a:r>
            <a:r>
              <a:rPr lang="es-ES" dirty="0"/>
              <a:t>. Los navegadores </a:t>
            </a:r>
            <a:r>
              <a:rPr lang="es-ES" dirty="0" err="1"/>
              <a:t>legacy</a:t>
            </a:r>
            <a:r>
              <a:rPr lang="es-ES" dirty="0"/>
              <a:t> pueden ser compatibles a través del complemento oficial @vitejs/plugin-legacy. Consulta la sección Compilación en Producción para obtener más detalles.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080EEE-BEDB-E822-441A-57CFA5F82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256" y="1564672"/>
            <a:ext cx="4950381" cy="47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Probar Vite online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D65A09-CE66-B825-F73E-268A7517FC1C}"/>
              </a:ext>
            </a:extLst>
          </p:cNvPr>
          <p:cNvSpPr txBox="1"/>
          <p:nvPr/>
        </p:nvSpPr>
        <p:spPr>
          <a:xfrm>
            <a:off x="648149" y="1685857"/>
            <a:ext cx="6094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Puedes probar Vite online en </a:t>
            </a:r>
            <a:r>
              <a:rPr lang="es-ES" dirty="0" err="1"/>
              <a:t>StackBlitz</a:t>
            </a:r>
            <a:r>
              <a:rPr lang="es-ES" dirty="0"/>
              <a:t>. Este ejecuta la configuración de compilación basada en Vite directamente en el navegador, por lo que es casi idéntica a la configuración local pero con la diferencia que no requiere que instales nada en tu máquina. Puedes navegar a </a:t>
            </a:r>
            <a:r>
              <a:rPr lang="es-ES" dirty="0" err="1"/>
              <a:t>vite.new</a:t>
            </a:r>
            <a:r>
              <a:rPr lang="es-ES" dirty="0"/>
              <a:t>/{</a:t>
            </a:r>
            <a:r>
              <a:rPr lang="es-ES" dirty="0" err="1"/>
              <a:t>template</a:t>
            </a:r>
            <a:r>
              <a:rPr lang="es-ES" dirty="0"/>
              <a:t>} para seleccionar qué marco de trabajo utilizar.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Los ajustes preestablecidos de plantilla admitidos son: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9A8BCC2-A4E7-7795-2380-E3672C953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13" y="1603274"/>
            <a:ext cx="2652297" cy="468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2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Crear un proyecto React-Vite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DD8795-ED44-E5B2-7A06-ABE45F2EA6D0}"/>
              </a:ext>
            </a:extLst>
          </p:cNvPr>
          <p:cNvSpPr txBox="1"/>
          <p:nvPr/>
        </p:nvSpPr>
        <p:spPr>
          <a:xfrm>
            <a:off x="839096" y="1807285"/>
            <a:ext cx="50453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Crear una carpeta llamada “React”</a:t>
            </a:r>
          </a:p>
          <a:p>
            <a:pPr marL="342900" indent="-342900">
              <a:buAutoNum type="arabicPeriod"/>
            </a:pPr>
            <a:r>
              <a:rPr lang="en-US" dirty="0"/>
              <a:t>Ir a cmd con la ruta de la carpeta y </a:t>
            </a:r>
            <a:r>
              <a:rPr lang="en-US" b="1" dirty="0"/>
              <a:t>escribir yarn create vite</a:t>
            </a:r>
          </a:p>
          <a:p>
            <a:pPr marL="342900" indent="-342900">
              <a:buAutoNum type="arabicPeriod"/>
            </a:pPr>
            <a:r>
              <a:rPr lang="en-US" dirty="0" err="1"/>
              <a:t>Colocar</a:t>
            </a:r>
            <a:r>
              <a:rPr lang="en-US" dirty="0"/>
              <a:t> el </a:t>
            </a:r>
            <a:r>
              <a:rPr lang="en-US" dirty="0" err="1"/>
              <a:t>nombre</a:t>
            </a:r>
            <a:r>
              <a:rPr lang="en-US" dirty="0"/>
              <a:t> del proyecto </a:t>
            </a:r>
            <a:r>
              <a:rPr lang="en-US" dirty="0" err="1"/>
              <a:t>llamado</a:t>
            </a:r>
            <a:r>
              <a:rPr lang="en-US" dirty="0"/>
              <a:t>: </a:t>
            </a:r>
            <a:r>
              <a:rPr lang="en-US" b="1" dirty="0"/>
              <a:t>01fundamentos</a:t>
            </a:r>
          </a:p>
          <a:p>
            <a:pPr marL="342900" indent="-342900">
              <a:buAutoNum type="arabicPeriod" startAt="4"/>
            </a:pPr>
            <a:r>
              <a:rPr lang="en-US" dirty="0"/>
              <a:t>Seleccionar framework </a:t>
            </a:r>
            <a:r>
              <a:rPr lang="en-US" b="1" dirty="0"/>
              <a:t>React</a:t>
            </a:r>
          </a:p>
          <a:p>
            <a:pPr marL="342900" indent="-342900">
              <a:buAutoNum type="arabicPeriod" startAt="4"/>
            </a:pPr>
            <a:r>
              <a:rPr lang="en-US" dirty="0"/>
              <a:t>Seleccionar la variante: </a:t>
            </a:r>
            <a:r>
              <a:rPr lang="en-US" b="1" dirty="0"/>
              <a:t>JavaScript</a:t>
            </a:r>
          </a:p>
          <a:p>
            <a:pPr marL="342900" indent="-342900">
              <a:buAutoNum type="arabicPeriod" startAt="4"/>
            </a:pPr>
            <a:r>
              <a:rPr lang="en-US" dirty="0"/>
              <a:t>Ir a la ruta del proyecto </a:t>
            </a:r>
            <a:r>
              <a:rPr lang="en-US" dirty="0" err="1"/>
              <a:t>creado</a:t>
            </a:r>
            <a:r>
              <a:rPr lang="en-US" dirty="0"/>
              <a:t> en cmd y escribir el </a:t>
            </a:r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b="1" dirty="0"/>
              <a:t>code . </a:t>
            </a:r>
            <a:r>
              <a:rPr lang="en-US" dirty="0"/>
              <a:t>para </a:t>
            </a:r>
            <a:r>
              <a:rPr lang="en-US" dirty="0" err="1"/>
              <a:t>abrir</a:t>
            </a:r>
            <a:r>
              <a:rPr lang="en-US" dirty="0"/>
              <a:t> vs code</a:t>
            </a:r>
          </a:p>
          <a:p>
            <a:pPr marL="342900" indent="-342900">
              <a:buAutoNum type="arabicPeriod" startAt="4"/>
            </a:pPr>
            <a:r>
              <a:rPr lang="en-US" dirty="0"/>
              <a:t>Escribir el </a:t>
            </a:r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b="1" dirty="0"/>
              <a:t>yarn </a:t>
            </a:r>
            <a:r>
              <a:rPr lang="en-US" dirty="0"/>
              <a:t>para construir el </a:t>
            </a:r>
            <a:r>
              <a:rPr lang="en-US" b="1" dirty="0" err="1"/>
              <a:t>archiv</a:t>
            </a:r>
            <a:r>
              <a:rPr lang="en-US" b="1" dirty="0"/>
              <a:t> </a:t>
            </a:r>
            <a:r>
              <a:rPr lang="en-US" b="1" dirty="0" err="1"/>
              <a:t>yarn.lock</a:t>
            </a:r>
            <a:endParaRPr lang="en-US" b="1" dirty="0"/>
          </a:p>
          <a:p>
            <a:pPr marL="342900" indent="-342900">
              <a:buAutoNum type="arabicPeriod" startAt="4"/>
            </a:pPr>
            <a:r>
              <a:rPr lang="en-US" dirty="0"/>
              <a:t>Escribir </a:t>
            </a:r>
            <a:r>
              <a:rPr lang="en-US" b="1" dirty="0"/>
              <a:t>yarn</a:t>
            </a:r>
            <a:r>
              <a:rPr lang="en-US" dirty="0"/>
              <a:t> dev para ejecutar el proyecto</a:t>
            </a:r>
          </a:p>
          <a:p>
            <a:pPr marL="342900" indent="-342900">
              <a:buAutoNum type="arabicPeriod" startAt="4"/>
            </a:pPr>
            <a:r>
              <a:rPr lang="en-US" dirty="0"/>
              <a:t>Ir a la url del servidor para su ejecucion</a:t>
            </a:r>
          </a:p>
          <a:p>
            <a:pPr marL="342900" indent="-342900">
              <a:buAutoNum type="arabicPeriod" startAt="4"/>
            </a:pPr>
            <a:r>
              <a:rPr lang="en-US" dirty="0"/>
              <a:t>Mas information: </a:t>
            </a:r>
            <a:r>
              <a:rPr lang="en-US" dirty="0">
                <a:hlinkClick r:id="rId3"/>
              </a:rPr>
              <a:t>React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Vite | Next Generation Frontend Tooling (</a:t>
            </a:r>
            <a:r>
              <a:rPr lang="en-US" dirty="0" err="1">
                <a:hlinkClick r:id="rId4"/>
              </a:rPr>
              <a:t>vitejs.dev</a:t>
            </a:r>
            <a:r>
              <a:rPr lang="en-US" dirty="0">
                <a:hlinkClick r:id="rId4"/>
              </a:rPr>
              <a:t>)</a:t>
            </a:r>
            <a:endParaRPr lang="en-US" dirty="0"/>
          </a:p>
          <a:p>
            <a:pPr marL="342900" indent="-342900">
              <a:buAutoNum type="arabicPeriod" startAt="4"/>
            </a:pPr>
            <a:endParaRPr lang="en-US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7A348FE-FDB4-0E8B-3FC2-A8C4DB0B1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970" y="1696433"/>
            <a:ext cx="2341426" cy="47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9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Work Sans Medium" pitchFamily="2" charset="77"/>
              </a:rPr>
              <a:t>Estructura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 de un proyecto en React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F0761-ECFB-F17B-C77F-D9474EB2F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53" y="1595985"/>
            <a:ext cx="2003011" cy="50398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9A12848-B347-CA6F-67CB-CFA2DD64BB71}"/>
              </a:ext>
            </a:extLst>
          </p:cNvPr>
          <p:cNvSpPr txBox="1"/>
          <p:nvPr/>
        </p:nvSpPr>
        <p:spPr>
          <a:xfrm>
            <a:off x="3861995" y="1853745"/>
            <a:ext cx="659443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 err="1"/>
              <a:t>Node_modules</a:t>
            </a:r>
            <a:r>
              <a:rPr lang="en-US" sz="2800" b="1" dirty="0"/>
              <a:t>: </a:t>
            </a:r>
            <a:r>
              <a:rPr lang="en-US" sz="2800" dirty="0" err="1"/>
              <a:t>Paquetes</a:t>
            </a:r>
            <a:r>
              <a:rPr lang="en-US" sz="2800" dirty="0"/>
              <a:t> de node</a:t>
            </a:r>
          </a:p>
          <a:p>
            <a:pPr marL="342900" indent="-342900">
              <a:buAutoNum type="arabicPeriod"/>
            </a:pPr>
            <a:r>
              <a:rPr lang="en-US" sz="2800" b="1" dirty="0"/>
              <a:t>Public: </a:t>
            </a:r>
            <a:r>
              <a:rPr lang="en-US" sz="2800" dirty="0"/>
              <a:t>Archivos </a:t>
            </a:r>
            <a:r>
              <a:rPr lang="en-US" sz="2800" dirty="0" err="1"/>
              <a:t>como</a:t>
            </a:r>
            <a:r>
              <a:rPr lang="en-US" sz="2800" dirty="0"/>
              <a:t> </a:t>
            </a:r>
            <a:r>
              <a:rPr lang="en-US" sz="2800" dirty="0" err="1"/>
              <a:t>imagenes</a:t>
            </a:r>
            <a:r>
              <a:rPr lang="en-US" sz="2800" dirty="0"/>
              <a:t> y </a:t>
            </a:r>
            <a:r>
              <a:rPr lang="en-US" sz="2800" dirty="0" err="1"/>
              <a:t>demas</a:t>
            </a: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b="1" dirty="0" err="1"/>
              <a:t>Src</a:t>
            </a:r>
            <a:r>
              <a:rPr lang="en-US" sz="2800" b="1" dirty="0"/>
              <a:t>: </a:t>
            </a:r>
            <a:r>
              <a:rPr lang="en-US" sz="2800" dirty="0" err="1"/>
              <a:t>archivos</a:t>
            </a:r>
            <a:r>
              <a:rPr lang="en-US" sz="2800" dirty="0"/>
              <a:t> de react .</a:t>
            </a:r>
            <a:r>
              <a:rPr lang="en-US" sz="2800" dirty="0" err="1"/>
              <a:t>jsx</a:t>
            </a: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b="1" dirty="0"/>
              <a:t>Index.html: </a:t>
            </a:r>
            <a:r>
              <a:rPr lang="en-US" sz="2800" dirty="0"/>
              <a:t>Principal html</a:t>
            </a:r>
          </a:p>
          <a:p>
            <a:pPr marL="342900" indent="-342900">
              <a:buAutoNum type="arabicPeriod"/>
            </a:pPr>
            <a:r>
              <a:rPr lang="en-US" sz="2800" b="1" dirty="0" err="1"/>
              <a:t>Package.json</a:t>
            </a:r>
            <a:r>
              <a:rPr lang="en-US" sz="2800" b="1" dirty="0"/>
              <a:t>: </a:t>
            </a:r>
            <a:r>
              <a:rPr lang="en-US" sz="2800" dirty="0" err="1"/>
              <a:t>Dependencias</a:t>
            </a:r>
            <a:r>
              <a:rPr lang="en-US" sz="2800" dirty="0"/>
              <a:t> </a:t>
            </a:r>
            <a:r>
              <a:rPr lang="en-US" sz="2800" dirty="0" err="1"/>
              <a:t>instaladas</a:t>
            </a:r>
            <a:r>
              <a:rPr lang="en-US" sz="2800" dirty="0"/>
              <a:t> en react</a:t>
            </a:r>
          </a:p>
          <a:p>
            <a:pPr marL="342900" indent="-342900">
              <a:buAutoNum type="arabicPeriod"/>
            </a:pPr>
            <a:r>
              <a:rPr lang="en-US" sz="2800" b="1" dirty="0"/>
              <a:t>Vite.config.js: </a:t>
            </a:r>
            <a:r>
              <a:rPr lang="en-US" sz="2800" dirty="0"/>
              <a:t>Archivo de configuracion de vite</a:t>
            </a:r>
          </a:p>
          <a:p>
            <a:pPr marL="342900" indent="-342900">
              <a:buAutoNum type="arabicPeriod"/>
            </a:pPr>
            <a:r>
              <a:rPr lang="en-US" sz="2800" b="1" dirty="0" err="1"/>
              <a:t>Yarn.lock</a:t>
            </a:r>
            <a:r>
              <a:rPr lang="en-US" sz="2800" b="1" dirty="0"/>
              <a:t>: </a:t>
            </a:r>
            <a:r>
              <a:rPr lang="en-US" sz="2800" dirty="0"/>
              <a:t>Archivos de configuracion de yarn</a:t>
            </a:r>
            <a:endParaRPr lang="en-US" sz="2800" b="1" dirty="0"/>
          </a:p>
          <a:p>
            <a:pPr marL="342900" indent="-342900">
              <a:buAutoNum type="arabicPeriod" startAt="4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271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Work Sans Medium" pitchFamily="2" charset="77"/>
              </a:rPr>
              <a:t>Sintaxis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 en React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D45BE0-258D-FC8D-37F3-97CD1060C6BA}"/>
              </a:ext>
            </a:extLst>
          </p:cNvPr>
          <p:cNvSpPr txBox="1"/>
          <p:nvPr/>
        </p:nvSpPr>
        <p:spPr>
          <a:xfrm>
            <a:off x="992394" y="2272169"/>
            <a:ext cx="48274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App= ()=&gt;{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 </a:t>
            </a:r>
            <a:r>
              <a:rPr lang="en-US" dirty="0" err="1"/>
              <a:t>className</a:t>
            </a:r>
            <a:r>
              <a:rPr lang="en-US" dirty="0"/>
              <a:t>="container"&gt;</a:t>
            </a:r>
          </a:p>
          <a:p>
            <a:endParaRPr lang="en-US" dirty="0"/>
          </a:p>
          <a:p>
            <a:r>
              <a:rPr lang="en-US" dirty="0"/>
              <a:t>      &lt;h1&gt;Hello world&lt;/h1&gt;</a:t>
            </a:r>
          </a:p>
          <a:p>
            <a:r>
              <a:rPr lang="en-US" dirty="0"/>
              <a:t>    &lt;/div&gt;</a:t>
            </a:r>
          </a:p>
          <a:p>
            <a:endParaRPr lang="en-US" dirty="0"/>
          </a:p>
          <a:p>
            <a:r>
              <a:rPr lang="en-US" dirty="0"/>
              <a:t>  )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App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75D2F0-6CCC-76C5-537C-7DA7892CC899}"/>
              </a:ext>
            </a:extLst>
          </p:cNvPr>
          <p:cNvSpPr txBox="1"/>
          <p:nvPr/>
        </p:nvSpPr>
        <p:spPr>
          <a:xfrm>
            <a:off x="4784845" y="1798320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index.css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67A93DD-8FD8-256A-8A8A-1A229544F859}"/>
              </a:ext>
            </a:extLst>
          </p:cNvPr>
          <p:cNvSpPr txBox="1"/>
          <p:nvPr/>
        </p:nvSpPr>
        <p:spPr>
          <a:xfrm>
            <a:off x="1144794" y="1798320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76A1C2-42CF-C079-7080-001704909E84}"/>
              </a:ext>
            </a:extLst>
          </p:cNvPr>
          <p:cNvSpPr txBox="1"/>
          <p:nvPr/>
        </p:nvSpPr>
        <p:spPr>
          <a:xfrm>
            <a:off x="4784845" y="2272169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.container{</a:t>
            </a:r>
          </a:p>
          <a:p>
            <a:endParaRPr lang="en-US" dirty="0"/>
          </a:p>
          <a:p>
            <a:r>
              <a:rPr lang="en-US" dirty="0"/>
              <a:t>  text-align: center;</a:t>
            </a:r>
          </a:p>
          <a:p>
            <a:r>
              <a:rPr lang="en-US" dirty="0"/>
              <a:t>}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9125DC1-735D-86B5-0BA8-9DF092A5C9AD}"/>
              </a:ext>
            </a:extLst>
          </p:cNvPr>
          <p:cNvSpPr txBox="1"/>
          <p:nvPr/>
        </p:nvSpPr>
        <p:spPr>
          <a:xfrm>
            <a:off x="4784845" y="4252135"/>
            <a:ext cx="1858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App.css</a:t>
            </a:r>
          </a:p>
          <a:p>
            <a:r>
              <a:rPr lang="en-US" dirty="0" err="1"/>
              <a:t>Borrar</a:t>
            </a:r>
            <a:r>
              <a:rPr lang="en-US" dirty="0"/>
              <a:t> </a:t>
            </a:r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B2557E-D222-C856-8177-06C42F6A1157}"/>
              </a:ext>
            </a:extLst>
          </p:cNvPr>
          <p:cNvSpPr txBox="1"/>
          <p:nvPr/>
        </p:nvSpPr>
        <p:spPr>
          <a:xfrm>
            <a:off x="6962888" y="4735628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&lt;div id="root"&gt;&lt;/div&gt;</a:t>
            </a:r>
          </a:p>
          <a:p>
            <a:r>
              <a:rPr lang="en-US" dirty="0"/>
              <a:t>    &lt;</a:t>
            </a:r>
            <a:r>
              <a:rPr lang="en-US" dirty="0" err="1"/>
              <a:t>noscript</a:t>
            </a:r>
            <a:r>
              <a:rPr lang="en-US" dirty="0"/>
              <a:t>&gt;</a:t>
            </a:r>
            <a:r>
              <a:rPr lang="en-US" dirty="0" err="1"/>
              <a:t>Necesitas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permisos</a:t>
            </a:r>
            <a:r>
              <a:rPr lang="en-US" dirty="0"/>
              <a:t> de </a:t>
            </a:r>
            <a:r>
              <a:rPr lang="en-US" dirty="0" err="1"/>
              <a:t>Javascript</a:t>
            </a:r>
            <a:r>
              <a:rPr lang="en-US" dirty="0"/>
              <a:t>&lt;/</a:t>
            </a:r>
            <a:r>
              <a:rPr lang="en-US" dirty="0" err="1"/>
              <a:t>noscript</a:t>
            </a:r>
            <a:r>
              <a:rPr lang="en-US" dirty="0"/>
              <a:t>&gt;</a:t>
            </a:r>
          </a:p>
          <a:p>
            <a:r>
              <a:rPr lang="en-US" dirty="0"/>
              <a:t>    &lt;script type="module" </a:t>
            </a:r>
            <a:r>
              <a:rPr lang="en-US" dirty="0" err="1"/>
              <a:t>src</a:t>
            </a:r>
            <a:r>
              <a:rPr lang="en-US" dirty="0"/>
              <a:t>="/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main.jsx</a:t>
            </a:r>
            <a:r>
              <a:rPr lang="en-US" dirty="0"/>
              <a:t>"&gt;&lt;/script&gt;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1B4847-D743-BFC3-2C00-EF2E53F02EEF}"/>
              </a:ext>
            </a:extLst>
          </p:cNvPr>
          <p:cNvSpPr txBox="1"/>
          <p:nvPr/>
        </p:nvSpPr>
        <p:spPr>
          <a:xfrm>
            <a:off x="7153321" y="4457400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index.html</a:t>
            </a:r>
          </a:p>
        </p:txBody>
      </p:sp>
    </p:spTree>
    <p:extLst>
      <p:ext uri="{BB962C8B-B14F-4D97-AF65-F5344CB8AC3E}">
        <p14:creationId xmlns:p14="http://schemas.microsoft.com/office/powerpoint/2010/main" val="109683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Que es un componente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D8F2AD-6FC0-8D88-F66F-F09BDBFA4457}"/>
              </a:ext>
            </a:extLst>
          </p:cNvPr>
          <p:cNvSpPr txBox="1"/>
          <p:nvPr/>
        </p:nvSpPr>
        <p:spPr>
          <a:xfrm>
            <a:off x="637391" y="1814948"/>
            <a:ext cx="6094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Las aplicaciones de </a:t>
            </a:r>
            <a:r>
              <a:rPr lang="es-ES" dirty="0" err="1"/>
              <a:t>React</a:t>
            </a:r>
            <a:r>
              <a:rPr lang="es-ES" dirty="0"/>
              <a:t> están hechas a partir de componentes. Un componente es una pieza de UI (siglas en inglés de interfaz de usuario) que tiene su propia lógica y apariencia. Un componente puede ser tan pequeño como un botón, o tan grande como toda una página.</a:t>
            </a:r>
          </a:p>
          <a:p>
            <a:endParaRPr lang="es-ES" dirty="0"/>
          </a:p>
          <a:p>
            <a:r>
              <a:rPr lang="es-ES" dirty="0"/>
              <a:t>Los componentes de </a:t>
            </a:r>
            <a:r>
              <a:rPr lang="es-ES" dirty="0" err="1"/>
              <a:t>React</a:t>
            </a:r>
            <a:r>
              <a:rPr lang="es-ES" dirty="0"/>
              <a:t> son funciones de JavaScript que devuelven </a:t>
            </a:r>
            <a:r>
              <a:rPr lang="es-ES" dirty="0" err="1"/>
              <a:t>markup</a:t>
            </a:r>
            <a:r>
              <a:rPr lang="es-ES" dirty="0"/>
              <a:t> (marcado):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A569A9-C094-A363-44DF-97C0060F149D}"/>
              </a:ext>
            </a:extLst>
          </p:cNvPr>
          <p:cNvSpPr txBox="1"/>
          <p:nvPr/>
        </p:nvSpPr>
        <p:spPr>
          <a:xfrm>
            <a:off x="723452" y="4295914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MyButton</a:t>
            </a:r>
            <a:r>
              <a:rPr lang="en-US" dirty="0"/>
              <a:t>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&lt;button&gt;Soy un </a:t>
            </a:r>
            <a:r>
              <a:rPr lang="en-US" dirty="0" err="1"/>
              <a:t>botón</a:t>
            </a:r>
            <a:r>
              <a:rPr lang="en-US" dirty="0"/>
              <a:t>&lt;/button&gt;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1C4EEB2-45F3-434C-AF0F-3253DC3FEEFC}"/>
              </a:ext>
            </a:extLst>
          </p:cNvPr>
          <p:cNvSpPr txBox="1"/>
          <p:nvPr/>
        </p:nvSpPr>
        <p:spPr>
          <a:xfrm>
            <a:off x="6817658" y="1814948"/>
            <a:ext cx="5128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Ahora que has declarado </a:t>
            </a:r>
            <a:r>
              <a:rPr lang="es-ES" dirty="0" err="1"/>
              <a:t>MyButton</a:t>
            </a:r>
            <a:r>
              <a:rPr lang="es-ES" dirty="0"/>
              <a:t>, puedes anidarlo en otro componente:</a:t>
            </a:r>
            <a:endParaRPr lang="en-U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5A1288-5D3F-7FE9-7D53-DCB5DDC3C6DD}"/>
              </a:ext>
            </a:extLst>
          </p:cNvPr>
          <p:cNvSpPr txBox="1"/>
          <p:nvPr/>
        </p:nvSpPr>
        <p:spPr>
          <a:xfrm>
            <a:off x="6817658" y="2667188"/>
            <a:ext cx="49727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export default function </a:t>
            </a:r>
            <a:r>
              <a:rPr lang="en-US" dirty="0" err="1"/>
              <a:t>MyApp</a:t>
            </a:r>
            <a:r>
              <a:rPr lang="en-US" dirty="0"/>
              <a:t>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</a:t>
            </a:r>
          </a:p>
          <a:p>
            <a:r>
              <a:rPr lang="en-US" dirty="0"/>
              <a:t>      &lt;h1&gt;Bienvenido a mi </a:t>
            </a:r>
            <a:r>
              <a:rPr lang="en-US" dirty="0" err="1"/>
              <a:t>aplicación</a:t>
            </a:r>
            <a:r>
              <a:rPr lang="en-US" dirty="0"/>
              <a:t>&lt;/h1&gt;</a:t>
            </a:r>
          </a:p>
          <a:p>
            <a:r>
              <a:rPr lang="en-US" dirty="0"/>
              <a:t>      &lt;</a:t>
            </a:r>
            <a:r>
              <a:rPr lang="en-US" dirty="0" err="1"/>
              <a:t>MyButton</a:t>
            </a:r>
            <a:r>
              <a:rPr lang="en-US" dirty="0"/>
              <a:t> /&gt;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785657-C70A-14B1-33B1-C6D61FBC7910}"/>
              </a:ext>
            </a:extLst>
          </p:cNvPr>
          <p:cNvSpPr txBox="1"/>
          <p:nvPr/>
        </p:nvSpPr>
        <p:spPr>
          <a:xfrm>
            <a:off x="6096000" y="5119246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Nota que &lt;</a:t>
            </a:r>
            <a:r>
              <a:rPr lang="es-ES" dirty="0" err="1"/>
              <a:t>MyButton</a:t>
            </a:r>
            <a:r>
              <a:rPr lang="es-ES" dirty="0"/>
              <a:t> /&gt; empieza con mayúscula. Así es como sabes que es un componente de </a:t>
            </a:r>
            <a:r>
              <a:rPr lang="es-ES" dirty="0" err="1"/>
              <a:t>React</a:t>
            </a:r>
            <a:r>
              <a:rPr lang="es-ES" dirty="0"/>
              <a:t>. Los nombres de los componentes de </a:t>
            </a:r>
            <a:r>
              <a:rPr lang="es-ES" dirty="0" err="1"/>
              <a:t>React</a:t>
            </a:r>
            <a:r>
              <a:rPr lang="es-ES" dirty="0"/>
              <a:t> siempre deben comenzar con mayúscula, mientras las etiquetas HTML deben estar minúsculas.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3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Exportar e importar componentes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5DDA00-A959-19B2-DB33-80C97EF128C7}"/>
              </a:ext>
            </a:extLst>
          </p:cNvPr>
          <p:cNvSpPr txBox="1"/>
          <p:nvPr/>
        </p:nvSpPr>
        <p:spPr>
          <a:xfrm>
            <a:off x="712694" y="1684508"/>
            <a:ext cx="60942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s-ES" b="1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Crea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un nuevo archivo JSX para poner los componentes dentro.</a:t>
            </a:r>
          </a:p>
          <a:p>
            <a:pPr algn="just">
              <a:buFont typeface="+mj-lt"/>
              <a:buAutoNum type="arabicPeriod"/>
            </a:pPr>
            <a:r>
              <a:rPr lang="es-ES" b="1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Exporta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tu componente de función desde ese archivo (ya sea usando </a:t>
            </a:r>
            <a:r>
              <a:rPr lang="es-ES" b="0" i="0" dirty="0" err="1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exports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  <a:hlinkClick r:id="rId3"/>
              </a:rPr>
              <a:t>por defecto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o 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  <a:hlinkClick r:id="rId4"/>
              </a:rPr>
              <a:t>con nombre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).</a:t>
            </a:r>
          </a:p>
          <a:p>
            <a:pPr algn="just">
              <a:buFont typeface="+mj-lt"/>
              <a:buAutoNum type="arabicPeriod"/>
            </a:pPr>
            <a:r>
              <a:rPr lang="es-ES" b="1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Impórtalo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en el archivo en el que usarás el componente (usando la técnica correspondiente de importar </a:t>
            </a:r>
            <a:r>
              <a:rPr lang="es-ES" b="0" i="0" dirty="0" err="1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exports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  <a:hlinkClick r:id="rId5"/>
              </a:rPr>
              <a:t>por defecto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 o 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  <a:hlinkClick r:id="rId6"/>
              </a:rPr>
              <a:t>con nombre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).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08F0364-2B58-AB10-E10D-37E45C6212E9}"/>
              </a:ext>
            </a:extLst>
          </p:cNvPr>
          <p:cNvSpPr txBox="1"/>
          <p:nvPr/>
        </p:nvSpPr>
        <p:spPr>
          <a:xfrm>
            <a:off x="7694407" y="1502688"/>
            <a:ext cx="60942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Profile()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&lt;</a:t>
            </a:r>
            <a:r>
              <a:rPr lang="en-US" dirty="0" err="1"/>
              <a:t>img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src</a:t>
            </a:r>
            <a:r>
              <a:rPr lang="en-US" dirty="0"/>
              <a:t>="https://i.imgur.com/QIrZWGIs.jpg"</a:t>
            </a:r>
          </a:p>
          <a:p>
            <a:r>
              <a:rPr lang="en-US" dirty="0"/>
              <a:t>        alt="Alan L. Hart"</a:t>
            </a:r>
          </a:p>
          <a:p>
            <a:r>
              <a:rPr lang="en-US" dirty="0"/>
              <a:t>      /&gt;</a:t>
            </a:r>
          </a:p>
          <a:p>
            <a:r>
              <a:rPr lang="en-US" dirty="0"/>
              <a:t>    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export default function Gallery() {</a:t>
            </a:r>
          </a:p>
          <a:p>
            <a:r>
              <a:rPr lang="en-US" dirty="0"/>
              <a:t>    return (</a:t>
            </a:r>
          </a:p>
          <a:p>
            <a:r>
              <a:rPr lang="en-US" dirty="0"/>
              <a:t>      &lt;section&gt;</a:t>
            </a:r>
          </a:p>
          <a:p>
            <a:r>
              <a:rPr lang="en-US" dirty="0"/>
              <a:t>        &lt;h1&gt;</a:t>
            </a:r>
            <a:r>
              <a:rPr lang="en-US" dirty="0" err="1"/>
              <a:t>Científicos</a:t>
            </a:r>
            <a:r>
              <a:rPr lang="en-US" dirty="0"/>
              <a:t> </a:t>
            </a:r>
            <a:r>
              <a:rPr lang="en-US" dirty="0" err="1"/>
              <a:t>increíbles</a:t>
            </a:r>
            <a:r>
              <a:rPr lang="en-US" dirty="0"/>
              <a:t>&lt;/h1&gt;</a:t>
            </a:r>
          </a:p>
          <a:p>
            <a:r>
              <a:rPr lang="en-US" dirty="0"/>
              <a:t>        &lt;Profile /&gt;</a:t>
            </a:r>
          </a:p>
          <a:p>
            <a:r>
              <a:rPr lang="en-US" dirty="0"/>
              <a:t>        &lt;Profile /&gt;</a:t>
            </a:r>
          </a:p>
          <a:p>
            <a:r>
              <a:rPr lang="en-US" dirty="0"/>
              <a:t>        &lt;Profile /&gt;</a:t>
            </a:r>
          </a:p>
          <a:p>
            <a:r>
              <a:rPr lang="en-US" dirty="0"/>
              <a:t>      &lt;/section&gt;</a:t>
            </a:r>
          </a:p>
          <a:p>
            <a:r>
              <a:rPr lang="en-US" dirty="0"/>
              <a:t>    );</a:t>
            </a:r>
          </a:p>
          <a:p>
            <a:r>
              <a:rPr lang="en-US" dirty="0"/>
              <a:t>  }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A6CC35E-5AAB-AC6F-6AA5-8308CC45128E}"/>
              </a:ext>
            </a:extLst>
          </p:cNvPr>
          <p:cNvSpPr txBox="1"/>
          <p:nvPr/>
        </p:nvSpPr>
        <p:spPr>
          <a:xfrm>
            <a:off x="10204974" y="1436044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Gallery.jsx</a:t>
            </a:r>
            <a:endParaRPr lang="en-US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042FFA7-2D8A-F57C-FF12-FFDF88875610}"/>
              </a:ext>
            </a:extLst>
          </p:cNvPr>
          <p:cNvSpPr txBox="1"/>
          <p:nvPr/>
        </p:nvSpPr>
        <p:spPr>
          <a:xfrm>
            <a:off x="919779" y="4157829"/>
            <a:ext cx="3577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Gallery from './</a:t>
            </a:r>
            <a:r>
              <a:rPr lang="en-US" dirty="0" err="1"/>
              <a:t>Gallery.jsx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export default function App()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&lt;Gallery /&gt;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A4A72E8-77A2-1852-B3B7-21FED0962A13}"/>
              </a:ext>
            </a:extLst>
          </p:cNvPr>
          <p:cNvSpPr txBox="1"/>
          <p:nvPr/>
        </p:nvSpPr>
        <p:spPr>
          <a:xfrm>
            <a:off x="850304" y="6106656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578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Escribir marcado con JSX 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B8A11C-D15F-E7E3-E078-2D159E63CE85}"/>
              </a:ext>
            </a:extLst>
          </p:cNvPr>
          <p:cNvSpPr txBox="1"/>
          <p:nvPr/>
        </p:nvSpPr>
        <p:spPr>
          <a:xfrm>
            <a:off x="540572" y="1679149"/>
            <a:ext cx="60942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sintaxis de marcado que viste arriba se llama JSX. Es totalmente opcional, pero la mayoría de los proyectos de </a:t>
            </a:r>
            <a:r>
              <a:rPr lang="es-ES" dirty="0" err="1"/>
              <a:t>React</a:t>
            </a:r>
            <a:r>
              <a:rPr lang="es-ES" dirty="0"/>
              <a:t> usan JSX por la comodidad que ofrece. Todas las herramientas que recomendamos para el desarrollo local son compatibles con JSX sin ningún tipo de configuración.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JSX es más estricto que HTML. Tienes que cerrar etiquetas como &lt;</a:t>
            </a:r>
            <a:r>
              <a:rPr lang="es-ES" dirty="0" err="1"/>
              <a:t>br</a:t>
            </a:r>
            <a:r>
              <a:rPr lang="es-ES" dirty="0"/>
              <a:t> /&gt;. Tu componente tampoco puede devolver múltiples etiquetas de JSX. Debes envolverlas en un padre compartido, como &lt;</a:t>
            </a:r>
            <a:r>
              <a:rPr lang="es-ES" dirty="0" err="1"/>
              <a:t>div</a:t>
            </a:r>
            <a:r>
              <a:rPr lang="es-ES" dirty="0"/>
              <a:t>&gt;...&lt;/</a:t>
            </a:r>
            <a:r>
              <a:rPr lang="es-ES" dirty="0" err="1"/>
              <a:t>div</a:t>
            </a:r>
            <a:r>
              <a:rPr lang="es-ES" dirty="0"/>
              <a:t>&gt; o en un envoltorio vacío &lt;&gt;...&lt;/&gt;: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D9A87C-3815-8F93-E808-8C937E4C8505}"/>
              </a:ext>
            </a:extLst>
          </p:cNvPr>
          <p:cNvSpPr txBox="1"/>
          <p:nvPr/>
        </p:nvSpPr>
        <p:spPr>
          <a:xfrm>
            <a:off x="7242586" y="1679149"/>
            <a:ext cx="6094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AboutPage</a:t>
            </a:r>
            <a:r>
              <a:rPr lang="pt-BR" dirty="0"/>
              <a:t>() {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(</a:t>
            </a:r>
          </a:p>
          <a:p>
            <a:r>
              <a:rPr lang="pt-BR" dirty="0"/>
              <a:t>    &lt;&gt;</a:t>
            </a:r>
          </a:p>
          <a:p>
            <a:r>
              <a:rPr lang="pt-BR" dirty="0"/>
              <a:t>      &lt;h1&gt;Acerca de&lt;/h1&gt;</a:t>
            </a:r>
          </a:p>
          <a:p>
            <a:r>
              <a:rPr lang="pt-BR" dirty="0"/>
              <a:t>      &lt;p&gt;</a:t>
            </a:r>
            <a:r>
              <a:rPr lang="pt-BR" dirty="0" err="1"/>
              <a:t>Hola</a:t>
            </a:r>
            <a:r>
              <a:rPr lang="pt-BR" dirty="0"/>
              <a:t>.&lt;</a:t>
            </a:r>
            <a:r>
              <a:rPr lang="pt-BR" dirty="0" err="1"/>
              <a:t>br</a:t>
            </a:r>
            <a:r>
              <a:rPr lang="pt-BR" dirty="0"/>
              <a:t> /&gt;¿</a:t>
            </a:r>
            <a:r>
              <a:rPr lang="pt-BR" dirty="0" err="1"/>
              <a:t>Cómo</a:t>
            </a:r>
            <a:r>
              <a:rPr lang="pt-BR" dirty="0"/>
              <a:t> </a:t>
            </a:r>
            <a:r>
              <a:rPr lang="pt-BR" dirty="0" err="1"/>
              <a:t>vas</a:t>
            </a:r>
            <a:r>
              <a:rPr lang="pt-BR" dirty="0"/>
              <a:t>?&lt;/p&gt;</a:t>
            </a:r>
          </a:p>
          <a:p>
            <a:r>
              <a:rPr lang="pt-BR" dirty="0"/>
              <a:t>    &lt;/&gt;</a:t>
            </a:r>
          </a:p>
          <a:p>
            <a:r>
              <a:rPr lang="pt-BR" dirty="0"/>
              <a:t>  );</a:t>
            </a:r>
          </a:p>
          <a:p>
            <a:r>
              <a:rPr lang="pt-BR" dirty="0"/>
              <a:t>}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2D264B-4428-4954-9E63-88927CD7F914}"/>
              </a:ext>
            </a:extLst>
          </p:cNvPr>
          <p:cNvSpPr txBox="1"/>
          <p:nvPr/>
        </p:nvSpPr>
        <p:spPr>
          <a:xfrm>
            <a:off x="540572" y="5178851"/>
            <a:ext cx="6669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Si tienes mucho HTML que convertir a JSX, puedes utilizar un </a:t>
            </a:r>
            <a:r>
              <a:rPr lang="es-ES" b="0" i="0" dirty="0">
                <a:effectLst/>
                <a:highlight>
                  <a:srgbClr val="FFFFFF"/>
                </a:highlight>
                <a:latin typeface="Optimistic Text"/>
                <a:hlinkClick r:id="rId3"/>
              </a:rPr>
              <a:t>convertidor en línea</a:t>
            </a:r>
            <a:r>
              <a:rPr lang="es-ES" b="0" i="0" dirty="0">
                <a:solidFill>
                  <a:srgbClr val="23272F"/>
                </a:solidFill>
                <a:effectLst/>
                <a:highlight>
                  <a:srgbClr val="FFFFFF"/>
                </a:highlight>
                <a:latin typeface="Optimistic Tex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95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>
                <a:solidFill>
                  <a:schemeClr val="bg1"/>
                </a:solidFill>
                <a:latin typeface="Work Sans Medium" pitchFamily="2" charset="77"/>
              </a:rPr>
              <a:t>  </a:t>
            </a:r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Añadir estilos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2DCEDF-3A2B-25CB-0C28-A94368C38585}"/>
              </a:ext>
            </a:extLst>
          </p:cNvPr>
          <p:cNvSpPr txBox="1"/>
          <p:nvPr/>
        </p:nvSpPr>
        <p:spPr>
          <a:xfrm>
            <a:off x="831029" y="1774576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</a:t>
            </a:r>
            <a:r>
              <a:rPr lang="es-ES" dirty="0" err="1"/>
              <a:t>React</a:t>
            </a:r>
            <a:r>
              <a:rPr lang="es-ES" dirty="0"/>
              <a:t>, especificas una clase de CSS con </a:t>
            </a:r>
            <a:r>
              <a:rPr lang="es-ES" dirty="0" err="1"/>
              <a:t>className</a:t>
            </a:r>
            <a:r>
              <a:rPr lang="es-ES" dirty="0"/>
              <a:t>. Funciona de la misma forma que el atributo </a:t>
            </a:r>
            <a:r>
              <a:rPr lang="es-ES" dirty="0" err="1"/>
              <a:t>class</a:t>
            </a:r>
            <a:r>
              <a:rPr lang="es-ES" dirty="0"/>
              <a:t> de HTML: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F1994B-8BFC-D9B7-CA34-D7370C30CBD8}"/>
              </a:ext>
            </a:extLst>
          </p:cNvPr>
          <p:cNvSpPr txBox="1"/>
          <p:nvPr/>
        </p:nvSpPr>
        <p:spPr>
          <a:xfrm>
            <a:off x="831029" y="2759439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="avatar" /&gt;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C44365-7EF4-D3AB-4748-7F04E591B398}"/>
              </a:ext>
            </a:extLst>
          </p:cNvPr>
          <p:cNvSpPr txBox="1"/>
          <p:nvPr/>
        </p:nvSpPr>
        <p:spPr>
          <a:xfrm>
            <a:off x="831029" y="3463629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Luego escribes las reglas CSS para esa clase en un archivo CSS aparte: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54750A-8BEC-2822-8C09-B8ECBB72FE9D}"/>
              </a:ext>
            </a:extLst>
          </p:cNvPr>
          <p:cNvSpPr txBox="1"/>
          <p:nvPr/>
        </p:nvSpPr>
        <p:spPr>
          <a:xfrm>
            <a:off x="831029" y="4240777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/* index.css*/</a:t>
            </a:r>
          </a:p>
          <a:p>
            <a:r>
              <a:rPr lang="en-US" dirty="0"/>
              <a:t>.avatar {</a:t>
            </a:r>
          </a:p>
          <a:p>
            <a:r>
              <a:rPr lang="en-US" dirty="0"/>
              <a:t>  border-radius: 50%;</a:t>
            </a:r>
          </a:p>
          <a:p>
            <a:r>
              <a:rPr lang="en-US" dirty="0"/>
              <a:t>}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EDEBC19-E1E8-698D-B2EB-5F57D99A6F2D}"/>
              </a:ext>
            </a:extLst>
          </p:cNvPr>
          <p:cNvSpPr txBox="1"/>
          <p:nvPr/>
        </p:nvSpPr>
        <p:spPr>
          <a:xfrm>
            <a:off x="7221071" y="1755469"/>
            <a:ext cx="43120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React</a:t>
            </a:r>
            <a:r>
              <a:rPr lang="es-ES" dirty="0"/>
              <a:t> no prescribe como debes añadir tus archivos CSS. En el caso más simple, añades una etiqueta &lt;link&gt; a tu HTML. Si utilizas una herramienta de construcción o un </a:t>
            </a:r>
            <a:r>
              <a:rPr lang="es-ES" dirty="0" err="1"/>
              <a:t>framework</a:t>
            </a:r>
            <a:r>
              <a:rPr lang="es-ES" dirty="0"/>
              <a:t>, consulta su documentación para saber como añadir un archivo CSS a tu proyecto.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7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Mostrar datos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1F4F7F-3BE5-9410-EE7E-D0ACD7D69CE8}"/>
              </a:ext>
            </a:extLst>
          </p:cNvPr>
          <p:cNvSpPr txBox="1"/>
          <p:nvPr/>
        </p:nvSpPr>
        <p:spPr>
          <a:xfrm>
            <a:off x="456236" y="1680457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JSX te permite poner marcado dentro de JavaScript. Las llaves te permiten «escapar de nuevo» hacia JavaScript de forma tal que puedas incrustar una variable de tu código y mostrársela al usuario. Por ejemplo, esto mostrará user.name: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A1F4D6-47A1-5366-FEF3-90AA5656ECC9}"/>
              </a:ext>
            </a:extLst>
          </p:cNvPr>
          <p:cNvSpPr txBox="1"/>
          <p:nvPr/>
        </p:nvSpPr>
        <p:spPr>
          <a:xfrm>
            <a:off x="572845" y="3048028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return</a:t>
            </a:r>
            <a:r>
              <a:rPr lang="pt-BR" dirty="0"/>
              <a:t> (</a:t>
            </a:r>
          </a:p>
          <a:p>
            <a:r>
              <a:rPr lang="pt-BR" dirty="0"/>
              <a:t>  &lt;h1&gt;</a:t>
            </a:r>
          </a:p>
          <a:p>
            <a:r>
              <a:rPr lang="pt-BR" dirty="0"/>
              <a:t>    {user.name}</a:t>
            </a:r>
          </a:p>
          <a:p>
            <a:r>
              <a:rPr lang="pt-BR" dirty="0"/>
              <a:t>  &lt;/h1&gt;</a:t>
            </a:r>
          </a:p>
          <a:p>
            <a:r>
              <a:rPr lang="pt-BR" dirty="0"/>
              <a:t>);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F223C8-69AD-C2D5-7330-E0C7232551E6}"/>
              </a:ext>
            </a:extLst>
          </p:cNvPr>
          <p:cNvSpPr txBox="1"/>
          <p:nvPr/>
        </p:nvSpPr>
        <p:spPr>
          <a:xfrm>
            <a:off x="572845" y="4692598"/>
            <a:ext cx="60942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También puedes «escaparte hacia JavaScript» en los atributos JSX, pero tienes que utilizar llaves en lugar de comillas. Por ejemplo, </a:t>
            </a:r>
            <a:r>
              <a:rPr lang="es-ES" dirty="0" err="1"/>
              <a:t>className</a:t>
            </a:r>
            <a:r>
              <a:rPr lang="es-ES" dirty="0"/>
              <a:t>="avatar" pasa la cadena "avatar" como la clase CSS, pero </a:t>
            </a:r>
            <a:r>
              <a:rPr lang="es-ES" dirty="0" err="1"/>
              <a:t>src</a:t>
            </a:r>
            <a:r>
              <a:rPr lang="es-ES" dirty="0"/>
              <a:t>={</a:t>
            </a:r>
            <a:r>
              <a:rPr lang="es-ES" dirty="0" err="1"/>
              <a:t>user.imageUrl</a:t>
            </a:r>
            <a:r>
              <a:rPr lang="es-ES" dirty="0"/>
              <a:t>} lee el valor de la variable de JavaScript </a:t>
            </a:r>
            <a:r>
              <a:rPr lang="es-ES" dirty="0" err="1"/>
              <a:t>user.imageUrl</a:t>
            </a:r>
            <a:r>
              <a:rPr lang="es-ES" dirty="0"/>
              <a:t> y luego pasa el valor como el atributo </a:t>
            </a:r>
            <a:r>
              <a:rPr lang="es-ES" dirty="0" err="1"/>
              <a:t>src</a:t>
            </a:r>
            <a:r>
              <a:rPr lang="es-ES" dirty="0"/>
              <a:t>: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016049-B5B9-0346-3A0D-DC90E2ED9A56}"/>
              </a:ext>
            </a:extLst>
          </p:cNvPr>
          <p:cNvSpPr txBox="1"/>
          <p:nvPr/>
        </p:nvSpPr>
        <p:spPr>
          <a:xfrm>
            <a:off x="6801523" y="1674674"/>
            <a:ext cx="60942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 (</a:t>
            </a:r>
          </a:p>
          <a:p>
            <a:r>
              <a:rPr lang="en-US" dirty="0"/>
              <a:t>  &lt;</a:t>
            </a:r>
            <a:r>
              <a:rPr lang="en-US" dirty="0" err="1"/>
              <a:t>img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className</a:t>
            </a:r>
            <a:r>
              <a:rPr lang="en-US" dirty="0"/>
              <a:t>="avatar"</a:t>
            </a:r>
          </a:p>
          <a:p>
            <a:r>
              <a:rPr lang="en-US" dirty="0"/>
              <a:t>    </a:t>
            </a:r>
            <a:r>
              <a:rPr lang="en-US" dirty="0" err="1"/>
              <a:t>src</a:t>
            </a:r>
            <a:r>
              <a:rPr lang="en-US" dirty="0"/>
              <a:t>={</a:t>
            </a:r>
            <a:r>
              <a:rPr lang="en-US" dirty="0" err="1"/>
              <a:t>user.imageUrl</a:t>
            </a:r>
            <a:r>
              <a:rPr lang="en-US" dirty="0"/>
              <a:t>}</a:t>
            </a:r>
          </a:p>
          <a:p>
            <a:r>
              <a:rPr lang="en-US" dirty="0"/>
              <a:t>  /&gt;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19484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Código completo con estilos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BF0E648-DD2E-E96C-043D-C00469CECAE3}"/>
              </a:ext>
            </a:extLst>
          </p:cNvPr>
          <p:cNvSpPr txBox="1"/>
          <p:nvPr/>
        </p:nvSpPr>
        <p:spPr>
          <a:xfrm>
            <a:off x="456236" y="1687662"/>
            <a:ext cx="609420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const user = {</a:t>
            </a:r>
          </a:p>
          <a:p>
            <a:r>
              <a:rPr lang="en-US" sz="1400" dirty="0"/>
              <a:t>  name: 'Hedy </a:t>
            </a:r>
            <a:r>
              <a:rPr lang="en-US" sz="1400" dirty="0" err="1"/>
              <a:t>Lamarr</a:t>
            </a:r>
            <a:r>
              <a:rPr lang="en-US" sz="1400" dirty="0"/>
              <a:t>',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imageUrl</a:t>
            </a:r>
            <a:r>
              <a:rPr lang="en-US" sz="1400" dirty="0"/>
              <a:t>: 'https://i.imgur.com/yXOvdOSs.jpg',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imageSize</a:t>
            </a:r>
            <a:r>
              <a:rPr lang="en-US" sz="1400" dirty="0"/>
              <a:t>: 90,</a:t>
            </a:r>
          </a:p>
          <a:p>
            <a:r>
              <a:rPr lang="en-US" sz="1400" dirty="0"/>
              <a:t>};</a:t>
            </a:r>
          </a:p>
          <a:p>
            <a:endParaRPr lang="en-US" sz="1400" dirty="0"/>
          </a:p>
          <a:p>
            <a:r>
              <a:rPr lang="en-US" sz="1400" dirty="0"/>
              <a:t>export default function Profile() {</a:t>
            </a:r>
          </a:p>
          <a:p>
            <a:r>
              <a:rPr lang="en-US" sz="1400" dirty="0"/>
              <a:t>  return (</a:t>
            </a:r>
          </a:p>
          <a:p>
            <a:r>
              <a:rPr lang="en-US" sz="1400" dirty="0"/>
              <a:t>    &lt;&gt;</a:t>
            </a:r>
          </a:p>
          <a:p>
            <a:r>
              <a:rPr lang="en-US" sz="1400" dirty="0"/>
              <a:t>      &lt;h1&gt;{user.name}&lt;/h1&gt;</a:t>
            </a:r>
          </a:p>
          <a:p>
            <a:r>
              <a:rPr lang="en-US" sz="1400" dirty="0"/>
              <a:t>      &lt;</a:t>
            </a:r>
            <a:r>
              <a:rPr lang="en-US" sz="1400" dirty="0" err="1"/>
              <a:t>img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className</a:t>
            </a:r>
            <a:r>
              <a:rPr lang="en-US" sz="1400" dirty="0"/>
              <a:t>="avatar"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src</a:t>
            </a:r>
            <a:r>
              <a:rPr lang="en-US" sz="1400" dirty="0"/>
              <a:t>={</a:t>
            </a:r>
            <a:r>
              <a:rPr lang="en-US" sz="1400" dirty="0" err="1"/>
              <a:t>user.imageUrl</a:t>
            </a:r>
            <a:r>
              <a:rPr lang="en-US" sz="1400" dirty="0"/>
              <a:t>}</a:t>
            </a:r>
          </a:p>
          <a:p>
            <a:r>
              <a:rPr lang="en-US" sz="1400" dirty="0"/>
              <a:t>        alt={'Foto de ' + user.name}</a:t>
            </a:r>
          </a:p>
          <a:p>
            <a:r>
              <a:rPr lang="en-US" sz="1400" dirty="0"/>
              <a:t>        style={{</a:t>
            </a:r>
          </a:p>
          <a:p>
            <a:r>
              <a:rPr lang="en-US" sz="1400" dirty="0"/>
              <a:t>          width: </a:t>
            </a:r>
            <a:r>
              <a:rPr lang="en-US" sz="1400" dirty="0" err="1"/>
              <a:t>user.imageSize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height: </a:t>
            </a:r>
            <a:r>
              <a:rPr lang="en-US" sz="1400" dirty="0" err="1"/>
              <a:t>user.imageSize</a:t>
            </a:r>
            <a:endParaRPr lang="en-US" sz="1400" dirty="0"/>
          </a:p>
          <a:p>
            <a:r>
              <a:rPr lang="en-US" sz="1400" dirty="0"/>
              <a:t>        }}</a:t>
            </a:r>
          </a:p>
          <a:p>
            <a:r>
              <a:rPr lang="en-US" sz="1400" dirty="0"/>
              <a:t>      /&gt;</a:t>
            </a:r>
          </a:p>
          <a:p>
            <a:r>
              <a:rPr lang="en-US" sz="1400" dirty="0"/>
              <a:t>    &lt;/&gt;</a:t>
            </a:r>
          </a:p>
          <a:p>
            <a:r>
              <a:rPr lang="en-US" sz="1400" dirty="0"/>
              <a:t>  );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D63493-D35B-5B07-7578-A5BDEB0362E9}"/>
              </a:ext>
            </a:extLst>
          </p:cNvPr>
          <p:cNvSpPr txBox="1"/>
          <p:nvPr/>
        </p:nvSpPr>
        <p:spPr>
          <a:xfrm>
            <a:off x="850304" y="6106656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401C1D-DDAE-BAA8-9C42-C35C1C0EB8B6}"/>
              </a:ext>
            </a:extLst>
          </p:cNvPr>
          <p:cNvSpPr txBox="1"/>
          <p:nvPr/>
        </p:nvSpPr>
        <p:spPr>
          <a:xfrm>
            <a:off x="4877630" y="6150422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index.css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16BD527-79EE-C95C-8E83-A2ABABC32B99}"/>
              </a:ext>
            </a:extLst>
          </p:cNvPr>
          <p:cNvSpPr txBox="1"/>
          <p:nvPr/>
        </p:nvSpPr>
        <p:spPr>
          <a:xfrm>
            <a:off x="4305749" y="3642043"/>
            <a:ext cx="609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.avatar {</a:t>
            </a:r>
          </a:p>
          <a:p>
            <a:r>
              <a:rPr lang="en-US" dirty="0"/>
              <a:t>  border-radius: 50%;</a:t>
            </a:r>
          </a:p>
          <a:p>
            <a:r>
              <a:rPr lang="en-US" dirty="0"/>
              <a:t>}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2AA8E3E-8F77-9A97-C096-0945D3B76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417" y="2247797"/>
            <a:ext cx="2702291" cy="267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20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Work Sans Medium" pitchFamily="2" charset="77"/>
              </a:rPr>
              <a:t>Props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88F3C9-2BC3-306F-11CC-C5B3CC30B17C}"/>
              </a:ext>
            </a:extLst>
          </p:cNvPr>
          <p:cNvSpPr txBox="1"/>
          <p:nvPr/>
        </p:nvSpPr>
        <p:spPr>
          <a:xfrm>
            <a:off x="456236" y="1726187"/>
            <a:ext cx="44492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Los componentes de </a:t>
            </a:r>
            <a:r>
              <a:rPr lang="es-ES" dirty="0" err="1"/>
              <a:t>React</a:t>
            </a:r>
            <a:r>
              <a:rPr lang="es-ES" dirty="0"/>
              <a:t> utilizan </a:t>
            </a:r>
            <a:r>
              <a:rPr lang="es-ES" dirty="0" err="1"/>
              <a:t>props</a:t>
            </a:r>
            <a:r>
              <a:rPr lang="es-ES" dirty="0"/>
              <a:t> para comunicarse entre sí. Cada componente padre puede enviar información a sus componentes hijos mediante el uso de </a:t>
            </a:r>
            <a:r>
              <a:rPr lang="es-ES" dirty="0" err="1"/>
              <a:t>props</a:t>
            </a:r>
            <a:r>
              <a:rPr lang="es-ES" dirty="0"/>
              <a:t>. Las </a:t>
            </a:r>
            <a:r>
              <a:rPr lang="es-ES" dirty="0" err="1"/>
              <a:t>props</a:t>
            </a:r>
            <a:r>
              <a:rPr lang="es-ES" dirty="0"/>
              <a:t> pueden parecerte similares a los atributos HTML, pero permiten pasar cualquier valor de JavaScript a través de ellas, como objetos, </a:t>
            </a:r>
            <a:r>
              <a:rPr lang="es-ES" dirty="0" err="1"/>
              <a:t>arrays</a:t>
            </a:r>
            <a:r>
              <a:rPr lang="es-ES" dirty="0"/>
              <a:t> y funciones.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B7C1125-C9BA-02D5-24C1-12D0200C658F}"/>
              </a:ext>
            </a:extLst>
          </p:cNvPr>
          <p:cNvSpPr txBox="1"/>
          <p:nvPr/>
        </p:nvSpPr>
        <p:spPr>
          <a:xfrm>
            <a:off x="536055" y="4324654"/>
            <a:ext cx="42896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Las </a:t>
            </a:r>
            <a:r>
              <a:rPr lang="es-ES" dirty="0" err="1"/>
              <a:t>props</a:t>
            </a:r>
            <a:r>
              <a:rPr lang="es-ES" dirty="0"/>
              <a:t> son los datos que se pasan a un elemento JSX. Por ejemplo, </a:t>
            </a:r>
            <a:r>
              <a:rPr lang="es-ES" dirty="0" err="1"/>
              <a:t>className</a:t>
            </a:r>
            <a:r>
              <a:rPr lang="es-ES" dirty="0"/>
              <a:t>, </a:t>
            </a:r>
            <a:r>
              <a:rPr lang="es-ES" dirty="0" err="1"/>
              <a:t>src</a:t>
            </a:r>
            <a:r>
              <a:rPr lang="es-ES" dirty="0"/>
              <a:t>, </a:t>
            </a:r>
            <a:r>
              <a:rPr lang="es-ES" dirty="0" err="1"/>
              <a:t>alt</a:t>
            </a:r>
            <a:r>
              <a:rPr lang="es-ES" dirty="0"/>
              <a:t>, </a:t>
            </a:r>
            <a:r>
              <a:rPr lang="es-ES" dirty="0" err="1"/>
              <a:t>width</a:t>
            </a:r>
            <a:r>
              <a:rPr lang="es-ES" dirty="0"/>
              <a:t> y </a:t>
            </a:r>
            <a:r>
              <a:rPr lang="es-ES" dirty="0" err="1"/>
              <a:t>height</a:t>
            </a:r>
            <a:r>
              <a:rPr lang="es-ES" dirty="0"/>
              <a:t> son algunas de las </a:t>
            </a:r>
            <a:r>
              <a:rPr lang="es-ES" dirty="0" err="1"/>
              <a:t>props</a:t>
            </a:r>
            <a:r>
              <a:rPr lang="es-ES" dirty="0"/>
              <a:t> que se pueden pasar a un elemento &lt;</a:t>
            </a:r>
            <a:r>
              <a:rPr lang="es-ES" dirty="0" err="1"/>
              <a:t>img</a:t>
            </a:r>
            <a:r>
              <a:rPr lang="es-ES" dirty="0"/>
              <a:t>&gt;: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9FE459-AAA2-287B-E8DA-386959DBF781}"/>
              </a:ext>
            </a:extLst>
          </p:cNvPr>
          <p:cNvSpPr txBox="1"/>
          <p:nvPr/>
        </p:nvSpPr>
        <p:spPr>
          <a:xfrm>
            <a:off x="5951669" y="1633854"/>
            <a:ext cx="60942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Avatar()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</a:t>
            </a:r>
            <a:r>
              <a:rPr lang="en-US" dirty="0" err="1"/>
              <a:t>img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className</a:t>
            </a:r>
            <a:r>
              <a:rPr lang="en-US" dirty="0"/>
              <a:t>="avatar"</a:t>
            </a:r>
          </a:p>
          <a:p>
            <a:r>
              <a:rPr lang="en-US" dirty="0"/>
              <a:t>      </a:t>
            </a:r>
            <a:r>
              <a:rPr lang="en-US" dirty="0" err="1"/>
              <a:t>src</a:t>
            </a:r>
            <a:r>
              <a:rPr lang="en-US" dirty="0"/>
              <a:t>="https://i.imgur.com/1bX5QH6.jpg"</a:t>
            </a:r>
          </a:p>
          <a:p>
            <a:r>
              <a:rPr lang="en-US" dirty="0"/>
              <a:t>      alt="Lin Lanying"</a:t>
            </a:r>
          </a:p>
          <a:p>
            <a:r>
              <a:rPr lang="en-US" dirty="0"/>
              <a:t>      width={100}</a:t>
            </a:r>
          </a:p>
          <a:p>
            <a:r>
              <a:rPr lang="en-US" dirty="0"/>
              <a:t>      height={100}</a:t>
            </a:r>
          </a:p>
          <a:p>
            <a:r>
              <a:rPr lang="en-US" dirty="0"/>
              <a:t>    /&gt;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export default function Profile()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&lt;Avatar /&gt;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879484-0999-292A-FACE-8201D7212939}"/>
              </a:ext>
            </a:extLst>
          </p:cNvPr>
          <p:cNvSpPr txBox="1"/>
          <p:nvPr/>
        </p:nvSpPr>
        <p:spPr>
          <a:xfrm>
            <a:off x="5951669" y="6371001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6518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Pasar Props de un componente a otro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879484-0999-292A-FACE-8201D7212939}"/>
              </a:ext>
            </a:extLst>
          </p:cNvPr>
          <p:cNvSpPr txBox="1"/>
          <p:nvPr/>
        </p:nvSpPr>
        <p:spPr>
          <a:xfrm>
            <a:off x="553191" y="2893907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Hello.jsx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8A8CFC-B5BD-5C68-876C-3A576AAB7683}"/>
              </a:ext>
            </a:extLst>
          </p:cNvPr>
          <p:cNvSpPr txBox="1"/>
          <p:nvPr/>
        </p:nvSpPr>
        <p:spPr>
          <a:xfrm>
            <a:off x="553191" y="1797440"/>
            <a:ext cx="609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Hello = (props) =&gt; &lt;h2&gt;{</a:t>
            </a:r>
            <a:r>
              <a:rPr lang="en-US" dirty="0" err="1"/>
              <a:t>props.title</a:t>
            </a:r>
            <a:r>
              <a:rPr lang="en-US" dirty="0"/>
              <a:t>}&lt;/h2&gt;;</a:t>
            </a:r>
          </a:p>
          <a:p>
            <a:endParaRPr lang="en-US" dirty="0"/>
          </a:p>
          <a:p>
            <a:r>
              <a:rPr lang="en-US" dirty="0"/>
              <a:t>export default Hello;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5EA7B7-44EB-921B-09A1-4401A38BDBF6}"/>
              </a:ext>
            </a:extLst>
          </p:cNvPr>
          <p:cNvSpPr txBox="1"/>
          <p:nvPr/>
        </p:nvSpPr>
        <p:spPr>
          <a:xfrm>
            <a:off x="553191" y="5681930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0AF90D-6EC6-E447-FA54-45634C828826}"/>
              </a:ext>
            </a:extLst>
          </p:cNvPr>
          <p:cNvSpPr txBox="1"/>
          <p:nvPr/>
        </p:nvSpPr>
        <p:spPr>
          <a:xfrm>
            <a:off x="553191" y="3847549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Hello from './Hello';</a:t>
            </a:r>
          </a:p>
          <a:p>
            <a:endParaRPr lang="en-US" dirty="0"/>
          </a:p>
          <a:p>
            <a:r>
              <a:rPr lang="en-US" dirty="0"/>
              <a:t>const App =() =&gt; &lt;Hello title="</a:t>
            </a:r>
            <a:r>
              <a:rPr lang="en-US" dirty="0" err="1"/>
              <a:t>hola</a:t>
            </a:r>
            <a:r>
              <a:rPr lang="en-US" dirty="0"/>
              <a:t> </a:t>
            </a:r>
            <a:r>
              <a:rPr lang="en-US" dirty="0" err="1"/>
              <a:t>pepito</a:t>
            </a:r>
            <a:r>
              <a:rPr lang="en-US" dirty="0"/>
              <a:t>"/&gt;;</a:t>
            </a:r>
          </a:p>
          <a:p>
            <a:endParaRPr lang="en-US" dirty="0"/>
          </a:p>
          <a:p>
            <a:r>
              <a:rPr lang="en-US" dirty="0"/>
              <a:t>export default App;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CED3554-FDA5-60BF-E32F-217D987D1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397" y="2719080"/>
            <a:ext cx="4240159" cy="205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71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Props por defecto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7FF365-C9D4-4D3B-BC13-848CBD0BDF1C}"/>
              </a:ext>
            </a:extLst>
          </p:cNvPr>
          <p:cNvSpPr txBox="1"/>
          <p:nvPr/>
        </p:nvSpPr>
        <p:spPr>
          <a:xfrm>
            <a:off x="456236" y="1688641"/>
            <a:ext cx="609420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// Componente </a:t>
            </a:r>
            <a:r>
              <a:rPr lang="en-US" sz="1100" dirty="0" err="1"/>
              <a:t>hijo</a:t>
            </a:r>
            <a:endParaRPr lang="en-US" sz="1100" dirty="0"/>
          </a:p>
          <a:p>
            <a:r>
              <a:rPr lang="en-US" sz="1100" dirty="0"/>
              <a:t>function </a:t>
            </a:r>
            <a:r>
              <a:rPr lang="en-US" sz="1100" dirty="0" err="1"/>
              <a:t>Tarjeta</a:t>
            </a:r>
            <a:r>
              <a:rPr lang="en-US" sz="1100" dirty="0"/>
              <a:t>(props) {</a:t>
            </a:r>
          </a:p>
          <a:p>
            <a:r>
              <a:rPr lang="en-US" sz="1100" dirty="0"/>
              <a:t>  return (</a:t>
            </a:r>
          </a:p>
          <a:p>
            <a:r>
              <a:rPr lang="en-US" sz="1100" dirty="0"/>
              <a:t>    &lt;div </a:t>
            </a:r>
            <a:r>
              <a:rPr lang="en-US" sz="1100" dirty="0" err="1"/>
              <a:t>className</a:t>
            </a:r>
            <a:r>
              <a:rPr lang="en-US" sz="1100" dirty="0"/>
              <a:t>="</a:t>
            </a:r>
            <a:r>
              <a:rPr lang="en-US" sz="1100" dirty="0" err="1"/>
              <a:t>tarjeta</a:t>
            </a:r>
            <a:r>
              <a:rPr lang="en-US" sz="1100" dirty="0"/>
              <a:t>"&gt;</a:t>
            </a:r>
          </a:p>
          <a:p>
            <a:r>
              <a:rPr lang="en-US" sz="1100" dirty="0"/>
              <a:t>      &lt;h2&gt;{</a:t>
            </a:r>
            <a:r>
              <a:rPr lang="en-US" sz="1100" dirty="0" err="1"/>
              <a:t>props.titulo</a:t>
            </a:r>
            <a:r>
              <a:rPr lang="en-US" sz="1100" dirty="0"/>
              <a:t>}&lt;/h2&gt;</a:t>
            </a:r>
          </a:p>
          <a:p>
            <a:r>
              <a:rPr lang="en-US" sz="1100" dirty="0"/>
              <a:t>      &lt;p&gt;{</a:t>
            </a:r>
            <a:r>
              <a:rPr lang="en-US" sz="1100" dirty="0" err="1"/>
              <a:t>props.descripcion</a:t>
            </a:r>
            <a:r>
              <a:rPr lang="en-US" sz="1100" dirty="0"/>
              <a:t>}&lt;/p&gt;</a:t>
            </a:r>
          </a:p>
          <a:p>
            <a:r>
              <a:rPr lang="en-US" sz="1100" dirty="0"/>
              <a:t>    &lt;/div&gt;</a:t>
            </a:r>
          </a:p>
          <a:p>
            <a:r>
              <a:rPr lang="en-US" sz="1100" dirty="0"/>
              <a:t>  );</a:t>
            </a:r>
          </a:p>
          <a:p>
            <a:r>
              <a:rPr lang="en-US" sz="1100" dirty="0"/>
              <a:t>}</a:t>
            </a:r>
          </a:p>
          <a:p>
            <a:endParaRPr lang="en-US" sz="1100" dirty="0"/>
          </a:p>
          <a:p>
            <a:r>
              <a:rPr lang="en-US" sz="1100" dirty="0" err="1"/>
              <a:t>Tarjeta.defaultProps</a:t>
            </a:r>
            <a:r>
              <a:rPr lang="en-US" sz="1100" dirty="0"/>
              <a:t> = {</a:t>
            </a:r>
          </a:p>
          <a:p>
            <a:r>
              <a:rPr lang="en-US" sz="1100" dirty="0"/>
              <a:t>  </a:t>
            </a:r>
            <a:r>
              <a:rPr lang="en-US" sz="1100" dirty="0" err="1"/>
              <a:t>titulo</a:t>
            </a:r>
            <a:r>
              <a:rPr lang="en-US" sz="1100" dirty="0"/>
              <a:t>: '</a:t>
            </a:r>
            <a:r>
              <a:rPr lang="en-US" sz="1100" dirty="0" err="1"/>
              <a:t>Título</a:t>
            </a:r>
            <a:r>
              <a:rPr lang="en-US" sz="1100" dirty="0"/>
              <a:t> por defecto',</a:t>
            </a:r>
          </a:p>
          <a:p>
            <a:r>
              <a:rPr lang="en-US" sz="1100" dirty="0"/>
              <a:t>  </a:t>
            </a:r>
            <a:r>
              <a:rPr lang="en-US" sz="1100" dirty="0" err="1"/>
              <a:t>descripcion</a:t>
            </a:r>
            <a:r>
              <a:rPr lang="en-US" sz="1100" dirty="0"/>
              <a:t>: '</a:t>
            </a:r>
            <a:r>
              <a:rPr lang="en-US" sz="1100" dirty="0" err="1"/>
              <a:t>Descripción</a:t>
            </a:r>
            <a:r>
              <a:rPr lang="en-US" sz="1100" dirty="0"/>
              <a:t> por defecto',</a:t>
            </a:r>
          </a:p>
          <a:p>
            <a:r>
              <a:rPr lang="en-US" sz="1100" dirty="0"/>
              <a:t>};</a:t>
            </a:r>
          </a:p>
          <a:p>
            <a:endParaRPr lang="en-US" sz="1100" dirty="0"/>
          </a:p>
          <a:p>
            <a:r>
              <a:rPr lang="en-US" sz="1100" dirty="0"/>
              <a:t>// Componente padre</a:t>
            </a:r>
          </a:p>
          <a:p>
            <a:r>
              <a:rPr lang="en-US" sz="1100" dirty="0"/>
              <a:t>function App() {</a:t>
            </a:r>
          </a:p>
          <a:p>
            <a:r>
              <a:rPr lang="en-US" sz="1100" dirty="0"/>
              <a:t>  return (</a:t>
            </a:r>
          </a:p>
          <a:p>
            <a:r>
              <a:rPr lang="en-US" sz="1100" dirty="0"/>
              <a:t>    &lt;div&gt;</a:t>
            </a:r>
          </a:p>
          <a:p>
            <a:r>
              <a:rPr lang="en-US" sz="1100" dirty="0"/>
              <a:t>      &lt;</a:t>
            </a:r>
            <a:r>
              <a:rPr lang="en-US" sz="1100" dirty="0" err="1"/>
              <a:t>Tarjeta</a:t>
            </a:r>
            <a:r>
              <a:rPr lang="en-US" sz="1100" dirty="0"/>
              <a:t> /&gt;</a:t>
            </a:r>
          </a:p>
          <a:p>
            <a:r>
              <a:rPr lang="en-US" sz="1100" dirty="0"/>
              <a:t>      &lt;</a:t>
            </a:r>
            <a:r>
              <a:rPr lang="en-US" sz="1100" dirty="0" err="1"/>
              <a:t>Tarjeta</a:t>
            </a:r>
            <a:r>
              <a:rPr lang="en-US" sz="1100" dirty="0"/>
              <a:t> </a:t>
            </a:r>
            <a:r>
              <a:rPr lang="en-US" sz="1100" dirty="0" err="1"/>
              <a:t>titulo</a:t>
            </a:r>
            <a:r>
              <a:rPr lang="en-US" sz="1100" dirty="0"/>
              <a:t>="</a:t>
            </a:r>
            <a:r>
              <a:rPr lang="en-US" sz="1100" dirty="0" err="1"/>
              <a:t>Título</a:t>
            </a:r>
            <a:r>
              <a:rPr lang="en-US" sz="1100" dirty="0"/>
              <a:t> </a:t>
            </a:r>
            <a:r>
              <a:rPr lang="en-US" sz="1100" dirty="0" err="1"/>
              <a:t>personalizado</a:t>
            </a:r>
            <a:r>
              <a:rPr lang="en-US" sz="1100" dirty="0"/>
              <a:t>" </a:t>
            </a:r>
            <a:r>
              <a:rPr lang="en-US" sz="1100" dirty="0" err="1"/>
              <a:t>descripcion</a:t>
            </a:r>
            <a:r>
              <a:rPr lang="en-US" sz="1100" dirty="0"/>
              <a:t>="</a:t>
            </a:r>
            <a:r>
              <a:rPr lang="en-US" sz="1100" dirty="0" err="1"/>
              <a:t>Descripción</a:t>
            </a:r>
            <a:r>
              <a:rPr lang="en-US" sz="1100" dirty="0"/>
              <a:t> </a:t>
            </a:r>
            <a:r>
              <a:rPr lang="en-US" sz="1100" dirty="0" err="1"/>
              <a:t>personalizada</a:t>
            </a:r>
            <a:r>
              <a:rPr lang="en-US" sz="1100" dirty="0"/>
              <a:t>" /&gt;</a:t>
            </a:r>
          </a:p>
          <a:p>
            <a:r>
              <a:rPr lang="en-US" sz="1100" dirty="0"/>
              <a:t>    &lt;/div&gt;</a:t>
            </a:r>
          </a:p>
          <a:p>
            <a:r>
              <a:rPr lang="en-US" sz="1100" dirty="0"/>
              <a:t>  );</a:t>
            </a:r>
          </a:p>
          <a:p>
            <a:r>
              <a:rPr lang="en-US" sz="1100" dirty="0"/>
              <a:t>}</a:t>
            </a:r>
          </a:p>
          <a:p>
            <a:r>
              <a:rPr lang="en-US" sz="1100" dirty="0"/>
              <a:t>export default App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9E707A-22D1-9251-8A8F-40E7C387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611" y="1925083"/>
            <a:ext cx="5327401" cy="369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58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Work Sans Medium" pitchFamily="2" charset="77"/>
              </a:rPr>
              <a:t>Eventos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4E4F0B-E47E-1A42-A15E-66464B8F276C}"/>
              </a:ext>
            </a:extLst>
          </p:cNvPr>
          <p:cNvSpPr txBox="1"/>
          <p:nvPr/>
        </p:nvSpPr>
        <p:spPr>
          <a:xfrm>
            <a:off x="456236" y="1745002"/>
            <a:ext cx="52130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 err="1"/>
              <a:t>React</a:t>
            </a:r>
            <a:r>
              <a:rPr lang="es-ES" dirty="0"/>
              <a:t> te permite añadir controladores de eventos a tu JSX. Los controladores de eventos son tus propias funciones que se ejecutarán en respuesta a interacciones como hacer clic, </a:t>
            </a:r>
            <a:r>
              <a:rPr lang="es-ES" dirty="0" err="1"/>
              <a:t>hover</a:t>
            </a:r>
            <a:r>
              <a:rPr lang="es-ES" dirty="0"/>
              <a:t>, enfocar inputs en formularios, entre otras.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6B449B-0C85-66E3-D798-F1EEF550B63C}"/>
              </a:ext>
            </a:extLst>
          </p:cNvPr>
          <p:cNvSpPr txBox="1"/>
          <p:nvPr/>
        </p:nvSpPr>
        <p:spPr>
          <a:xfrm>
            <a:off x="6231367" y="1594481"/>
            <a:ext cx="609420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</a:t>
            </a:r>
            <a:r>
              <a:rPr lang="en-US" sz="1600" dirty="0"/>
              <a:t>nction </a:t>
            </a:r>
            <a:r>
              <a:rPr lang="en-US" sz="1600" dirty="0" err="1"/>
              <a:t>AlertButton</a:t>
            </a:r>
            <a:r>
              <a:rPr lang="en-US" sz="1600" dirty="0"/>
              <a:t>({ message, children })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&lt;button </a:t>
            </a:r>
            <a:r>
              <a:rPr lang="en-US" sz="1600" dirty="0" err="1"/>
              <a:t>onClick</a:t>
            </a:r>
            <a:r>
              <a:rPr lang="en-US" sz="1600" dirty="0"/>
              <a:t>={() =&gt; alert(message)}&gt;</a:t>
            </a:r>
          </a:p>
          <a:p>
            <a:r>
              <a:rPr lang="en-US" sz="1600" dirty="0"/>
              <a:t>      {children}</a:t>
            </a:r>
          </a:p>
          <a:p>
            <a:r>
              <a:rPr lang="en-US" sz="1600" dirty="0"/>
              <a:t>    &lt;/button&gt;</a:t>
            </a:r>
          </a:p>
          <a:p>
            <a:r>
              <a:rPr lang="en-US" sz="1600" dirty="0"/>
              <a:t>  );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export default function Toolbar()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&lt;div&gt;</a:t>
            </a:r>
          </a:p>
          <a:p>
            <a:r>
              <a:rPr lang="en-US" sz="1600" dirty="0"/>
              <a:t>      &lt;</a:t>
            </a:r>
            <a:r>
              <a:rPr lang="en-US" sz="1600" dirty="0" err="1"/>
              <a:t>AlertButton</a:t>
            </a:r>
            <a:r>
              <a:rPr lang="en-US" sz="1600" dirty="0"/>
              <a:t> message="¡</a:t>
            </a:r>
            <a:r>
              <a:rPr lang="en-US" sz="1600" dirty="0" err="1"/>
              <a:t>Reproduciendo</a:t>
            </a:r>
            <a:r>
              <a:rPr lang="en-US" sz="1600" dirty="0"/>
              <a:t>!"&gt;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Reproducir</a:t>
            </a:r>
            <a:r>
              <a:rPr lang="en-US" sz="1600" dirty="0"/>
              <a:t> </a:t>
            </a:r>
            <a:r>
              <a:rPr lang="en-US" sz="1600" dirty="0" err="1"/>
              <a:t>película</a:t>
            </a:r>
            <a:endParaRPr lang="en-US" sz="1600" dirty="0"/>
          </a:p>
          <a:p>
            <a:r>
              <a:rPr lang="en-US" sz="1600" dirty="0"/>
              <a:t>      &lt;/</a:t>
            </a:r>
            <a:r>
              <a:rPr lang="en-US" sz="1600" dirty="0" err="1"/>
              <a:t>AlertButton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&lt;</a:t>
            </a:r>
            <a:r>
              <a:rPr lang="en-US" sz="1600" dirty="0" err="1"/>
              <a:t>AlertButton</a:t>
            </a:r>
            <a:r>
              <a:rPr lang="en-US" sz="1600" dirty="0"/>
              <a:t> message="¡</a:t>
            </a:r>
            <a:r>
              <a:rPr lang="en-US" sz="1600" dirty="0" err="1"/>
              <a:t>Subiendo</a:t>
            </a:r>
            <a:r>
              <a:rPr lang="en-US" sz="1600" dirty="0"/>
              <a:t>!"&gt;</a:t>
            </a:r>
          </a:p>
          <a:p>
            <a:r>
              <a:rPr lang="en-US" sz="1600" dirty="0"/>
              <a:t>        Subir imagen</a:t>
            </a:r>
          </a:p>
          <a:p>
            <a:r>
              <a:rPr lang="en-US" sz="1600" dirty="0"/>
              <a:t>      &lt;/</a:t>
            </a:r>
            <a:r>
              <a:rPr lang="en-US" sz="1600" dirty="0" err="1"/>
              <a:t>AlertButton</a:t>
            </a:r>
            <a:r>
              <a:rPr lang="en-US" sz="1600" dirty="0"/>
              <a:t>&gt;</a:t>
            </a:r>
          </a:p>
          <a:p>
            <a:r>
              <a:rPr lang="en-US" sz="1600" dirty="0"/>
              <a:t>    &lt;/div&gt;</a:t>
            </a:r>
          </a:p>
          <a:p>
            <a:r>
              <a:rPr lang="en-US" sz="1600" dirty="0"/>
              <a:t>  );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A0911F-F426-DE56-F29F-71249C410B76}"/>
              </a:ext>
            </a:extLst>
          </p:cNvPr>
          <p:cNvSpPr txBox="1"/>
          <p:nvPr/>
        </p:nvSpPr>
        <p:spPr>
          <a:xfrm>
            <a:off x="6480655" y="6453758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9305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Work Sans Medium" pitchFamily="2" charset="77"/>
              </a:rPr>
              <a:t>Estados</a:t>
            </a:r>
            <a:endParaRPr lang="es-CO" sz="40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A0911F-F426-DE56-F29F-71249C410B76}"/>
              </a:ext>
            </a:extLst>
          </p:cNvPr>
          <p:cNvSpPr txBox="1"/>
          <p:nvPr/>
        </p:nvSpPr>
        <p:spPr>
          <a:xfrm>
            <a:off x="7924733" y="6371001"/>
            <a:ext cx="185838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App.jsx</a:t>
            </a:r>
            <a:endParaRPr lang="en-US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D57E00-E538-A4BA-45B9-CAC48807709A}"/>
              </a:ext>
            </a:extLst>
          </p:cNvPr>
          <p:cNvSpPr txBox="1"/>
          <p:nvPr/>
        </p:nvSpPr>
        <p:spPr>
          <a:xfrm>
            <a:off x="7924733" y="1590410"/>
            <a:ext cx="609420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import { </a:t>
            </a:r>
            <a:r>
              <a:rPr lang="en-US" sz="1200" dirty="0" err="1"/>
              <a:t>useState</a:t>
            </a:r>
            <a:r>
              <a:rPr lang="en-US" sz="1200" dirty="0"/>
              <a:t> } from 'react';</a:t>
            </a:r>
          </a:p>
          <a:p>
            <a:r>
              <a:rPr lang="en-US" sz="1200" dirty="0"/>
              <a:t>function </a:t>
            </a:r>
            <a:r>
              <a:rPr lang="en-US" sz="1200" dirty="0" err="1"/>
              <a:t>MyButton</a:t>
            </a:r>
            <a:r>
              <a:rPr lang="en-US" sz="1200" dirty="0"/>
              <a:t>() {</a:t>
            </a:r>
          </a:p>
          <a:p>
            <a:r>
              <a:rPr lang="en-US" sz="1200" dirty="0"/>
              <a:t>  const [count, </a:t>
            </a:r>
            <a:r>
              <a:rPr lang="en-US" sz="1200" dirty="0" err="1"/>
              <a:t>setCount</a:t>
            </a:r>
            <a:r>
              <a:rPr lang="en-US" sz="1200" dirty="0"/>
              <a:t>] = </a:t>
            </a:r>
            <a:r>
              <a:rPr lang="en-US" sz="1200" dirty="0" err="1"/>
              <a:t>useState</a:t>
            </a:r>
            <a:r>
              <a:rPr lang="en-US" sz="1200" dirty="0"/>
              <a:t>(0);</a:t>
            </a:r>
          </a:p>
          <a:p>
            <a:endParaRPr lang="en-US" sz="1200" dirty="0"/>
          </a:p>
          <a:p>
            <a:r>
              <a:rPr lang="en-US" sz="1200" dirty="0"/>
              <a:t>  function </a:t>
            </a:r>
            <a:r>
              <a:rPr lang="en-US" sz="1200" dirty="0" err="1"/>
              <a:t>handleClick</a:t>
            </a:r>
            <a:r>
              <a:rPr lang="en-US" sz="1200" dirty="0"/>
              <a:t>() 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setCount</a:t>
            </a:r>
            <a:r>
              <a:rPr lang="en-US" sz="1200" dirty="0"/>
              <a:t>(count + 1);</a:t>
            </a:r>
          </a:p>
          <a:p>
            <a:r>
              <a:rPr lang="en-US" sz="1200" dirty="0"/>
              <a:t>  }</a:t>
            </a:r>
          </a:p>
          <a:p>
            <a:endParaRPr lang="en-US" sz="1200" dirty="0"/>
          </a:p>
          <a:p>
            <a:r>
              <a:rPr lang="en-US" sz="1200" dirty="0"/>
              <a:t>  return (</a:t>
            </a:r>
          </a:p>
          <a:p>
            <a:r>
              <a:rPr lang="en-US" sz="1200" dirty="0"/>
              <a:t>    &lt;button </a:t>
            </a:r>
            <a:r>
              <a:rPr lang="en-US" sz="1200" dirty="0" err="1"/>
              <a:t>onClick</a:t>
            </a:r>
            <a:r>
              <a:rPr lang="en-US" sz="1200" dirty="0"/>
              <a:t>={</a:t>
            </a:r>
            <a:r>
              <a:rPr lang="en-US" sz="1200" dirty="0" err="1"/>
              <a:t>handleClick</a:t>
            </a:r>
            <a:r>
              <a:rPr lang="en-US" sz="1200" dirty="0"/>
              <a:t>}&gt;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Hiciste</a:t>
            </a:r>
            <a:r>
              <a:rPr lang="en-US" sz="1200" dirty="0"/>
              <a:t> </a:t>
            </a:r>
            <a:r>
              <a:rPr lang="en-US" sz="1200" dirty="0" err="1"/>
              <a:t>clic</a:t>
            </a:r>
            <a:r>
              <a:rPr lang="en-US" sz="1200" dirty="0"/>
              <a:t> {count} </a:t>
            </a:r>
            <a:r>
              <a:rPr lang="en-US" sz="1200" dirty="0" err="1"/>
              <a:t>veces</a:t>
            </a:r>
            <a:endParaRPr lang="en-US" sz="1200" dirty="0"/>
          </a:p>
          <a:p>
            <a:r>
              <a:rPr lang="en-US" sz="1200" dirty="0"/>
              <a:t>    &lt;/button&gt;</a:t>
            </a:r>
          </a:p>
          <a:p>
            <a:r>
              <a:rPr lang="en-US" sz="1200" dirty="0"/>
              <a:t>  );</a:t>
            </a:r>
          </a:p>
          <a:p>
            <a:endParaRPr lang="en-US" sz="1200" dirty="0"/>
          </a:p>
          <a:p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/>
              <a:t>export default function </a:t>
            </a:r>
            <a:r>
              <a:rPr lang="en-US" sz="1200" dirty="0" err="1"/>
              <a:t>MyApp</a:t>
            </a:r>
            <a:r>
              <a:rPr lang="en-US" sz="1200" dirty="0"/>
              <a:t>() {</a:t>
            </a:r>
          </a:p>
          <a:p>
            <a:r>
              <a:rPr lang="en-US" sz="1200" dirty="0"/>
              <a:t>  return (</a:t>
            </a:r>
          </a:p>
          <a:p>
            <a:r>
              <a:rPr lang="en-US" sz="1200" dirty="0"/>
              <a:t>    &lt;div&gt;</a:t>
            </a:r>
          </a:p>
          <a:p>
            <a:r>
              <a:rPr lang="en-US" sz="1200" dirty="0"/>
              <a:t>      &lt;h1&gt;Contador&lt;/h1&gt;</a:t>
            </a:r>
          </a:p>
          <a:p>
            <a:r>
              <a:rPr lang="en-US" sz="1200" dirty="0"/>
              <a:t>      &lt;</a:t>
            </a:r>
            <a:r>
              <a:rPr lang="en-US" sz="1200" dirty="0" err="1"/>
              <a:t>MyButton</a:t>
            </a:r>
            <a:r>
              <a:rPr lang="en-US" sz="1200" dirty="0"/>
              <a:t> /&gt;</a:t>
            </a:r>
          </a:p>
          <a:p>
            <a:r>
              <a:rPr lang="en-US" sz="1200" dirty="0"/>
              <a:t>     </a:t>
            </a:r>
          </a:p>
          <a:p>
            <a:r>
              <a:rPr lang="en-US" sz="1200" dirty="0"/>
              <a:t>    &lt;/div&gt;</a:t>
            </a:r>
          </a:p>
          <a:p>
            <a:r>
              <a:rPr lang="en-US" sz="1200" dirty="0"/>
              <a:t>  );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E1AD163-B162-9ACC-00F2-4713B0A0F1C0}"/>
              </a:ext>
            </a:extLst>
          </p:cNvPr>
          <p:cNvSpPr txBox="1"/>
          <p:nvPr/>
        </p:nvSpPr>
        <p:spPr>
          <a:xfrm>
            <a:off x="456236" y="1794783"/>
            <a:ext cx="58692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estado es un objeto que contiene datos que pueden cambiar en el tiempo. En </a:t>
            </a:r>
            <a:r>
              <a:rPr lang="es-ES" dirty="0" err="1"/>
              <a:t>React</a:t>
            </a:r>
            <a:r>
              <a:rPr lang="es-ES" dirty="0"/>
              <a:t>, el estado se usa para controlar los cambios en la interfaz.</a:t>
            </a:r>
          </a:p>
          <a:p>
            <a:endParaRPr lang="es-ES" dirty="0"/>
          </a:p>
          <a:p>
            <a:r>
              <a:rPr lang="es-ES" dirty="0"/>
              <a:t>Para que entiendas el concepto, piensa en el interruptor de una habitación. Estos interruptores suelen tener dos estados: encendido y apagado. Cuando accionamos el interruptor y lo ponemos en </a:t>
            </a:r>
            <a:r>
              <a:rPr lang="es-ES" dirty="0" err="1"/>
              <a:t>on</a:t>
            </a:r>
            <a:r>
              <a:rPr lang="es-ES" dirty="0"/>
              <a:t> entonces la luz se enciende y cuando lo ponemos en off la luz se apaga.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2961CE-5691-6A87-85A2-76A820426C14}"/>
              </a:ext>
            </a:extLst>
          </p:cNvPr>
          <p:cNvSpPr txBox="1"/>
          <p:nvPr/>
        </p:nvSpPr>
        <p:spPr>
          <a:xfrm>
            <a:off x="456236" y="4738845"/>
            <a:ext cx="5976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Este mismo concepto se puede aplicar a la interfaz de usuario. Por ejemplo, el botón Me Gusta de Facebook tendría el estado de </a:t>
            </a:r>
            <a:r>
              <a:rPr lang="es-ES" dirty="0" err="1"/>
              <a:t>meGusta</a:t>
            </a:r>
            <a:r>
              <a:rPr lang="es-ES" dirty="0"/>
              <a:t> a true cuando el usuario le ha dado a Me Gusta y a false cuando no lo ha hecho.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908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11810</TotalTime>
  <Words>2146</Words>
  <Application>Microsoft Office PowerPoint</Application>
  <PresentationFormat>Panorámica</PresentationFormat>
  <Paragraphs>306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Optimistic Text</vt:lpstr>
      <vt:lpstr>Work Sans</vt:lpstr>
      <vt:lpstr>Work Sans Medium</vt:lpstr>
      <vt:lpstr>Tema de Office</vt:lpstr>
      <vt:lpstr>Presentación de PowerPoint</vt:lpstr>
      <vt:lpstr>Que es Vite </vt:lpstr>
      <vt:lpstr>Compatibildad con navegadores: Vite </vt:lpstr>
      <vt:lpstr> Probar Vite online</vt:lpstr>
      <vt:lpstr> Crear un proyecto React-Vite</vt:lpstr>
      <vt:lpstr> Estructura de un proyecto en React</vt:lpstr>
      <vt:lpstr> Sintaxis en React</vt:lpstr>
      <vt:lpstr> Que es un componente</vt:lpstr>
      <vt:lpstr> Exportar e importar componentes</vt:lpstr>
      <vt:lpstr> Escribir marcado con JSX </vt:lpstr>
      <vt:lpstr>  Añadir estilos</vt:lpstr>
      <vt:lpstr>Mostrar datos</vt:lpstr>
      <vt:lpstr>Código completo con estilos</vt:lpstr>
      <vt:lpstr>Props</vt:lpstr>
      <vt:lpstr>Pasar Props de un componente a otro</vt:lpstr>
      <vt:lpstr>Props por defecto</vt:lpstr>
      <vt:lpstr>Eventos</vt:lpstr>
      <vt:lpstr>Estados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118</cp:revision>
  <dcterms:created xsi:type="dcterms:W3CDTF">2020-10-01T23:51:28Z</dcterms:created>
  <dcterms:modified xsi:type="dcterms:W3CDTF">2025-05-25T20:40:25Z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