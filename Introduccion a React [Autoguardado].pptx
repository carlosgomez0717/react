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468" r:id="rId2"/>
    <p:sldId id="533" r:id="rId3"/>
    <p:sldId id="534" r:id="rId4"/>
    <p:sldId id="535" r:id="rId5"/>
    <p:sldId id="536" r:id="rId6"/>
    <p:sldId id="537" r:id="rId7"/>
    <p:sldId id="538" r:id="rId8"/>
    <p:sldId id="539" r:id="rId9"/>
    <p:sldId id="264" r:id="rId1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DAVID BENAVIDES SANCHEZ" initials="DDBS" lastIdx="1" clrIdx="0">
    <p:extLst>
      <p:ext uri="{19B8F6BF-5375-455C-9EA6-DF929625EA0E}">
        <p15:presenceInfo xmlns:p15="http://schemas.microsoft.com/office/powerpoint/2012/main" userId="DANIEL DAVID BENAVIDES SANCH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FFFFFF"/>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6369"/>
  </p:normalViewPr>
  <p:slideViewPr>
    <p:cSldViewPr snapToGrid="0">
      <p:cViewPr varScale="1">
        <p:scale>
          <a:sx n="71" d="100"/>
          <a:sy n="71" d="100"/>
        </p:scale>
        <p:origin x="1138" y="4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25/06/2024</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25/06/2024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2</a:t>
            </a:fld>
            <a:endParaRPr lang="es-CO"/>
          </a:p>
        </p:txBody>
      </p:sp>
    </p:spTree>
    <p:extLst>
      <p:ext uri="{BB962C8B-B14F-4D97-AF65-F5344CB8AC3E}">
        <p14:creationId xmlns:p14="http://schemas.microsoft.com/office/powerpoint/2010/main" val="551907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3</a:t>
            </a:fld>
            <a:endParaRPr lang="es-CO"/>
          </a:p>
        </p:txBody>
      </p:sp>
    </p:spTree>
    <p:extLst>
      <p:ext uri="{BB962C8B-B14F-4D97-AF65-F5344CB8AC3E}">
        <p14:creationId xmlns:p14="http://schemas.microsoft.com/office/powerpoint/2010/main" val="24293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4</a:t>
            </a:fld>
            <a:endParaRPr lang="es-CO"/>
          </a:p>
        </p:txBody>
      </p:sp>
    </p:spTree>
    <p:extLst>
      <p:ext uri="{BB962C8B-B14F-4D97-AF65-F5344CB8AC3E}">
        <p14:creationId xmlns:p14="http://schemas.microsoft.com/office/powerpoint/2010/main" val="424932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1526034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6</a:t>
            </a:fld>
            <a:endParaRPr lang="es-CO"/>
          </a:p>
        </p:txBody>
      </p:sp>
    </p:spTree>
    <p:extLst>
      <p:ext uri="{BB962C8B-B14F-4D97-AF65-F5344CB8AC3E}">
        <p14:creationId xmlns:p14="http://schemas.microsoft.com/office/powerpoint/2010/main" val="4001833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7</a:t>
            </a:fld>
            <a:endParaRPr lang="es-CO"/>
          </a:p>
        </p:txBody>
      </p:sp>
    </p:spTree>
    <p:extLst>
      <p:ext uri="{BB962C8B-B14F-4D97-AF65-F5344CB8AC3E}">
        <p14:creationId xmlns:p14="http://schemas.microsoft.com/office/powerpoint/2010/main" val="3781601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8</a:t>
            </a:fld>
            <a:endParaRPr lang="es-CO"/>
          </a:p>
        </p:txBody>
      </p:sp>
    </p:spTree>
    <p:extLst>
      <p:ext uri="{BB962C8B-B14F-4D97-AF65-F5344CB8AC3E}">
        <p14:creationId xmlns:p14="http://schemas.microsoft.com/office/powerpoint/2010/main" val="2865972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25/06/2024</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25/06/2024</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hyperlink" Target="https://classic.yarnpkg.com/lang/en/docs/install/#windows-stable" TargetMode="External"/><Relationship Id="rId4" Type="http://schemas.openxmlformats.org/officeDocument/2006/relationships/hyperlink" Target="https://nodejs.org/en"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869161" y="2190559"/>
            <a:ext cx="6453678"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Work Sans" pitchFamily="2" charset="77"/>
              </a:rPr>
              <a:t>Introduccion a React</a:t>
            </a:r>
            <a:endParaRPr lang="es-ES" sz="4000" b="1" dirty="0">
              <a:solidFill>
                <a:schemeClr val="tx1">
                  <a:lumMod val="75000"/>
                  <a:lumOff val="25000"/>
                </a:schemeClr>
              </a:solidFill>
              <a:latin typeface="Work Sans" pitchFamily="2" charset="77"/>
            </a:endParaRPr>
          </a:p>
        </p:txBody>
      </p:sp>
      <p:sp>
        <p:nvSpPr>
          <p:cNvPr id="2" name="Rectángulo 1"/>
          <p:cNvSpPr/>
          <p:nvPr/>
        </p:nvSpPr>
        <p:spPr>
          <a:xfrm>
            <a:off x="3064021" y="3578275"/>
            <a:ext cx="6065520" cy="1200329"/>
          </a:xfrm>
          <a:prstGeom prst="rect">
            <a:avLst/>
          </a:prstGeom>
        </p:spPr>
        <p:txBody>
          <a:bodyPr wrap="square">
            <a:spAutoFit/>
          </a:bodyPr>
          <a:lstStyle/>
          <a:p>
            <a:pPr algn="ctr"/>
            <a:r>
              <a:rPr lang="en-001" sz="3600" b="1" dirty="0">
                <a:solidFill>
                  <a:srgbClr val="38AA00"/>
                </a:solidFill>
                <a:latin typeface="Work Sans" pitchFamily="2" charset="77"/>
              </a:rPr>
              <a:t>Instructor:</a:t>
            </a:r>
          </a:p>
          <a:p>
            <a:pPr algn="ctr"/>
            <a:r>
              <a:rPr lang="en-001" sz="3600" b="1" dirty="0">
                <a:solidFill>
                  <a:srgbClr val="00324D"/>
                </a:solidFill>
                <a:latin typeface="Work Sans" pitchFamily="2" charset="77"/>
              </a:rPr>
              <a:t>Carlos Daniel Gomez Daza</a:t>
            </a:r>
            <a:endParaRPr lang="es-ES" sz="3600" b="1" dirty="0">
              <a:solidFill>
                <a:srgbClr val="00324D"/>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Que es React</a:t>
            </a:r>
            <a:r>
              <a:rPr lang="en-001" dirty="0">
                <a:solidFill>
                  <a:schemeClr val="bg1"/>
                </a:solidFill>
                <a:latin typeface="Work Sans Medium" pitchFamily="2" charset="77"/>
              </a:rPr>
              <a:t> </a:t>
            </a:r>
            <a:endParaRPr lang="es-CO" dirty="0">
              <a:solidFill>
                <a:schemeClr val="bg1"/>
              </a:solidFill>
              <a:latin typeface="Work Sans Medium" pitchFamily="2" charset="77"/>
            </a:endParaRPr>
          </a:p>
        </p:txBody>
      </p:sp>
      <p:pic>
        <p:nvPicPr>
          <p:cNvPr id="6" name="Imagen 5">
            <a:extLst>
              <a:ext uri="{FF2B5EF4-FFF2-40B4-BE49-F238E27FC236}">
                <a16:creationId xmlns:a16="http://schemas.microsoft.com/office/drawing/2014/main" id="{A74BC8B0-19A6-14ED-0FED-42E5A7ED50B4}"/>
              </a:ext>
            </a:extLst>
          </p:cNvPr>
          <p:cNvPicPr>
            <a:picLocks noChangeAspect="1"/>
          </p:cNvPicPr>
          <p:nvPr/>
        </p:nvPicPr>
        <p:blipFill>
          <a:blip r:embed="rId3"/>
          <a:stretch>
            <a:fillRect/>
          </a:stretch>
        </p:blipFill>
        <p:spPr>
          <a:xfrm>
            <a:off x="784947" y="1928648"/>
            <a:ext cx="5174789" cy="4045519"/>
          </a:xfrm>
          <a:prstGeom prst="rect">
            <a:avLst/>
          </a:prstGeom>
        </p:spPr>
      </p:pic>
      <p:pic>
        <p:nvPicPr>
          <p:cNvPr id="1026" name="Picture 2" descr="React - Wikipedia, la enciclopedia libre">
            <a:extLst>
              <a:ext uri="{FF2B5EF4-FFF2-40B4-BE49-F238E27FC236}">
                <a16:creationId xmlns:a16="http://schemas.microsoft.com/office/drawing/2014/main" id="{C85B1402-574E-562D-CCD2-829B1526B0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061" y="2087094"/>
            <a:ext cx="4138713" cy="3752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812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SPA: Single Page Application</a:t>
            </a:r>
            <a:r>
              <a:rPr lang="en-001" dirty="0">
                <a:solidFill>
                  <a:schemeClr val="bg1"/>
                </a:solidFill>
                <a:latin typeface="Work Sans Medium" pitchFamily="2" charset="77"/>
              </a:rPr>
              <a:t> </a:t>
            </a:r>
            <a:endParaRPr lang="es-CO" dirty="0">
              <a:solidFill>
                <a:schemeClr val="bg1"/>
              </a:solidFill>
              <a:latin typeface="Work Sans Medium" pitchFamily="2" charset="77"/>
            </a:endParaRPr>
          </a:p>
        </p:txBody>
      </p:sp>
      <p:pic>
        <p:nvPicPr>
          <p:cNvPr id="4" name="Imagen 3">
            <a:extLst>
              <a:ext uri="{FF2B5EF4-FFF2-40B4-BE49-F238E27FC236}">
                <a16:creationId xmlns:a16="http://schemas.microsoft.com/office/drawing/2014/main" id="{CD8E3D5A-9258-FD1F-3C46-23F93556D1AC}"/>
              </a:ext>
            </a:extLst>
          </p:cNvPr>
          <p:cNvPicPr>
            <a:picLocks noChangeAspect="1"/>
          </p:cNvPicPr>
          <p:nvPr/>
        </p:nvPicPr>
        <p:blipFill>
          <a:blip r:embed="rId3"/>
          <a:stretch>
            <a:fillRect/>
          </a:stretch>
        </p:blipFill>
        <p:spPr>
          <a:xfrm>
            <a:off x="632073" y="1818151"/>
            <a:ext cx="5801635" cy="4442800"/>
          </a:xfrm>
          <a:prstGeom prst="rect">
            <a:avLst/>
          </a:prstGeom>
        </p:spPr>
      </p:pic>
      <p:pic>
        <p:nvPicPr>
          <p:cNvPr id="5" name="Imagen 4">
            <a:extLst>
              <a:ext uri="{FF2B5EF4-FFF2-40B4-BE49-F238E27FC236}">
                <a16:creationId xmlns:a16="http://schemas.microsoft.com/office/drawing/2014/main" id="{2F40E553-999F-87A0-E688-0A8C9EFC72D3}"/>
              </a:ext>
            </a:extLst>
          </p:cNvPr>
          <p:cNvPicPr>
            <a:picLocks noChangeAspect="1"/>
          </p:cNvPicPr>
          <p:nvPr/>
        </p:nvPicPr>
        <p:blipFill rotWithShape="1">
          <a:blip r:embed="rId4"/>
          <a:srcRect t="51338"/>
          <a:stretch/>
        </p:blipFill>
        <p:spPr>
          <a:xfrm>
            <a:off x="6593672" y="2269863"/>
            <a:ext cx="4966255" cy="2678653"/>
          </a:xfrm>
          <a:prstGeom prst="rect">
            <a:avLst/>
          </a:prstGeom>
        </p:spPr>
      </p:pic>
    </p:spTree>
    <p:extLst>
      <p:ext uri="{BB962C8B-B14F-4D97-AF65-F5344CB8AC3E}">
        <p14:creationId xmlns:p14="http://schemas.microsoft.com/office/powerpoint/2010/main" val="3219235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MPA:</a:t>
            </a:r>
            <a:r>
              <a:rPr lang="en-001" dirty="0">
                <a:solidFill>
                  <a:schemeClr val="bg1"/>
                </a:solidFill>
                <a:latin typeface="Work Sans Medium" pitchFamily="2" charset="77"/>
              </a:rPr>
              <a:t> Multi-Page Application </a:t>
            </a:r>
            <a:endParaRPr lang="es-CO" dirty="0">
              <a:solidFill>
                <a:schemeClr val="bg1"/>
              </a:solidFill>
              <a:latin typeface="Work Sans Medium" pitchFamily="2" charset="77"/>
            </a:endParaRPr>
          </a:p>
        </p:txBody>
      </p:sp>
      <p:pic>
        <p:nvPicPr>
          <p:cNvPr id="5" name="Imagen 4">
            <a:extLst>
              <a:ext uri="{FF2B5EF4-FFF2-40B4-BE49-F238E27FC236}">
                <a16:creationId xmlns:a16="http://schemas.microsoft.com/office/drawing/2014/main" id="{2F40E553-999F-87A0-E688-0A8C9EFC72D3}"/>
              </a:ext>
            </a:extLst>
          </p:cNvPr>
          <p:cNvPicPr>
            <a:picLocks noChangeAspect="1"/>
          </p:cNvPicPr>
          <p:nvPr/>
        </p:nvPicPr>
        <p:blipFill rotWithShape="1">
          <a:blip r:embed="rId3"/>
          <a:srcRect b="52224"/>
          <a:stretch/>
        </p:blipFill>
        <p:spPr>
          <a:xfrm>
            <a:off x="6791957" y="1919826"/>
            <a:ext cx="4966255" cy="2624866"/>
          </a:xfrm>
          <a:prstGeom prst="rect">
            <a:avLst/>
          </a:prstGeom>
        </p:spPr>
      </p:pic>
      <p:sp>
        <p:nvSpPr>
          <p:cNvPr id="6" name="CuadroTexto 5">
            <a:extLst>
              <a:ext uri="{FF2B5EF4-FFF2-40B4-BE49-F238E27FC236}">
                <a16:creationId xmlns:a16="http://schemas.microsoft.com/office/drawing/2014/main" id="{2739FCF8-32AF-3E4E-2B28-41E17400DD6F}"/>
              </a:ext>
            </a:extLst>
          </p:cNvPr>
          <p:cNvSpPr txBox="1"/>
          <p:nvPr/>
        </p:nvSpPr>
        <p:spPr>
          <a:xfrm>
            <a:off x="551329" y="1919826"/>
            <a:ext cx="5935531" cy="1754326"/>
          </a:xfrm>
          <a:prstGeom prst="rect">
            <a:avLst/>
          </a:prstGeom>
          <a:noFill/>
        </p:spPr>
        <p:txBody>
          <a:bodyPr wrap="square">
            <a:spAutoFit/>
          </a:bodyPr>
          <a:lstStyle/>
          <a:p>
            <a:pPr algn="just"/>
            <a:r>
              <a:rPr lang="es-ES" dirty="0"/>
              <a:t>Es el tradicional sitio web, donde cada página representa una petición especifica a un servidor que nos devuelve, tanto en imágenes como en contenido, un HTML nuevo que corresponde a la página que hemos pedido. Teniendo todo esto en cuenta, podemos imaginar que el volumen de contenido que gestionan es considerable.</a:t>
            </a:r>
            <a:endParaRPr lang="en-US" dirty="0"/>
          </a:p>
        </p:txBody>
      </p:sp>
    </p:spTree>
    <p:extLst>
      <p:ext uri="{BB962C8B-B14F-4D97-AF65-F5344CB8AC3E}">
        <p14:creationId xmlns:p14="http://schemas.microsoft.com/office/powerpoint/2010/main" val="3796214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Beneficios de SPA</a:t>
            </a:r>
            <a:r>
              <a:rPr lang="en-001" dirty="0">
                <a:solidFill>
                  <a:schemeClr val="bg1"/>
                </a:solidFill>
                <a:latin typeface="Work Sans Medium" pitchFamily="2" charset="77"/>
              </a:rPr>
              <a:t> </a:t>
            </a:r>
            <a:endParaRPr lang="es-CO" dirty="0">
              <a:solidFill>
                <a:schemeClr val="bg1"/>
              </a:solidFill>
              <a:latin typeface="Work Sans Medium" pitchFamily="2" charset="77"/>
            </a:endParaRPr>
          </a:p>
        </p:txBody>
      </p:sp>
      <p:pic>
        <p:nvPicPr>
          <p:cNvPr id="5" name="Imagen 4">
            <a:extLst>
              <a:ext uri="{FF2B5EF4-FFF2-40B4-BE49-F238E27FC236}">
                <a16:creationId xmlns:a16="http://schemas.microsoft.com/office/drawing/2014/main" id="{2F40E553-999F-87A0-E688-0A8C9EFC72D3}"/>
              </a:ext>
            </a:extLst>
          </p:cNvPr>
          <p:cNvPicPr>
            <a:picLocks noChangeAspect="1"/>
          </p:cNvPicPr>
          <p:nvPr/>
        </p:nvPicPr>
        <p:blipFill>
          <a:blip r:embed="rId3"/>
          <a:stretch>
            <a:fillRect/>
          </a:stretch>
        </p:blipFill>
        <p:spPr>
          <a:xfrm>
            <a:off x="6791957" y="1613647"/>
            <a:ext cx="4966255" cy="5133872"/>
          </a:xfrm>
          <a:prstGeom prst="rect">
            <a:avLst/>
          </a:prstGeom>
        </p:spPr>
      </p:pic>
      <p:sp>
        <p:nvSpPr>
          <p:cNvPr id="4" name="CuadroTexto 3">
            <a:extLst>
              <a:ext uri="{FF2B5EF4-FFF2-40B4-BE49-F238E27FC236}">
                <a16:creationId xmlns:a16="http://schemas.microsoft.com/office/drawing/2014/main" id="{ABDE65A9-E698-9C49-106B-F6BB76B85769}"/>
              </a:ext>
            </a:extLst>
          </p:cNvPr>
          <p:cNvSpPr txBox="1"/>
          <p:nvPr/>
        </p:nvSpPr>
        <p:spPr>
          <a:xfrm>
            <a:off x="562087" y="1718172"/>
            <a:ext cx="6094206" cy="4524315"/>
          </a:xfrm>
          <a:prstGeom prst="rect">
            <a:avLst/>
          </a:prstGeom>
          <a:noFill/>
        </p:spPr>
        <p:txBody>
          <a:bodyPr wrap="square">
            <a:spAutoFit/>
          </a:bodyPr>
          <a:lstStyle/>
          <a:p>
            <a:r>
              <a:rPr lang="es-ES" b="1" dirty="0"/>
              <a:t>Tiempos de carga rápidos: </a:t>
            </a:r>
            <a:r>
              <a:rPr lang="es-ES" dirty="0"/>
              <a:t>unos tiempos de carga lentos pueden afectar negativamente tanto la experiencia de usuario, como las conversiones de un negocio online.</a:t>
            </a:r>
          </a:p>
          <a:p>
            <a:r>
              <a:rPr lang="es-ES" dirty="0"/>
              <a:t>En una SPA, los tiempos de son carga mucho más rápido que una web tradicional, dado que carga una página solo una vez (y luego solo “actualiza” el contenido pertinente). En una web tradicional, como hemos visto anteriormente, cada página es un HTML nuevo, por lo que tardará mas tiempo en cargar.</a:t>
            </a:r>
          </a:p>
          <a:p>
            <a:endParaRPr lang="es-ES" b="1" dirty="0"/>
          </a:p>
          <a:p>
            <a:r>
              <a:rPr lang="es-ES" b="1" dirty="0"/>
              <a:t>Experiencia de usuario mejorada: </a:t>
            </a:r>
            <a:r>
              <a:rPr lang="es-ES" dirty="0"/>
              <a:t>en una SPA la navegación del usuario es fluida y linear (tanto en desktop, como en </a:t>
            </a:r>
            <a:r>
              <a:rPr lang="es-ES" dirty="0" err="1"/>
              <a:t>mobile</a:t>
            </a:r>
            <a:r>
              <a:rPr lang="es-ES" dirty="0"/>
              <a:t>), el usuario no nota que su navegación ocurre siempre en una misma página.</a:t>
            </a:r>
          </a:p>
          <a:p>
            <a:r>
              <a:rPr lang="es-ES" dirty="0"/>
              <a:t>Tiempos de desarrollo: una SPA está formadas por “componentes” que se pueden </a:t>
            </a:r>
            <a:r>
              <a:rPr lang="es-ES" dirty="0" err="1"/>
              <a:t>re-usar</a:t>
            </a:r>
            <a:r>
              <a:rPr lang="es-ES" dirty="0"/>
              <a:t> mas veces (ahorrando tiempo y coste de desarrollo).</a:t>
            </a:r>
            <a:endParaRPr lang="en-US" dirty="0"/>
          </a:p>
        </p:txBody>
      </p:sp>
    </p:spTree>
    <p:extLst>
      <p:ext uri="{BB962C8B-B14F-4D97-AF65-F5344CB8AC3E}">
        <p14:creationId xmlns:p14="http://schemas.microsoft.com/office/powerpoint/2010/main" val="675397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Beneficios de SPA</a:t>
            </a:r>
            <a:r>
              <a:rPr lang="en-001" dirty="0">
                <a:solidFill>
                  <a:schemeClr val="bg1"/>
                </a:solidFill>
                <a:latin typeface="Work Sans Medium" pitchFamily="2" charset="77"/>
              </a:rPr>
              <a:t> </a:t>
            </a:r>
            <a:endParaRPr lang="es-CO" dirty="0">
              <a:solidFill>
                <a:schemeClr val="bg1"/>
              </a:solidFill>
              <a:latin typeface="Work Sans Medium" pitchFamily="2" charset="77"/>
            </a:endParaRPr>
          </a:p>
        </p:txBody>
      </p:sp>
      <p:pic>
        <p:nvPicPr>
          <p:cNvPr id="5" name="Imagen 4">
            <a:extLst>
              <a:ext uri="{FF2B5EF4-FFF2-40B4-BE49-F238E27FC236}">
                <a16:creationId xmlns:a16="http://schemas.microsoft.com/office/drawing/2014/main" id="{2F40E553-999F-87A0-E688-0A8C9EFC72D3}"/>
              </a:ext>
            </a:extLst>
          </p:cNvPr>
          <p:cNvPicPr>
            <a:picLocks noChangeAspect="1"/>
          </p:cNvPicPr>
          <p:nvPr/>
        </p:nvPicPr>
        <p:blipFill>
          <a:blip r:embed="rId3"/>
          <a:stretch>
            <a:fillRect/>
          </a:stretch>
        </p:blipFill>
        <p:spPr>
          <a:xfrm>
            <a:off x="6791957" y="1613647"/>
            <a:ext cx="4966255" cy="5133872"/>
          </a:xfrm>
          <a:prstGeom prst="rect">
            <a:avLst/>
          </a:prstGeom>
        </p:spPr>
      </p:pic>
      <p:sp>
        <p:nvSpPr>
          <p:cNvPr id="8" name="CuadroTexto 7">
            <a:extLst>
              <a:ext uri="{FF2B5EF4-FFF2-40B4-BE49-F238E27FC236}">
                <a16:creationId xmlns:a16="http://schemas.microsoft.com/office/drawing/2014/main" id="{BAFE8274-87AA-FE85-5AEA-AF18F87FF70D}"/>
              </a:ext>
            </a:extLst>
          </p:cNvPr>
          <p:cNvSpPr txBox="1"/>
          <p:nvPr/>
        </p:nvSpPr>
        <p:spPr>
          <a:xfrm>
            <a:off x="697751" y="2105032"/>
            <a:ext cx="6094206" cy="3693319"/>
          </a:xfrm>
          <a:prstGeom prst="rect">
            <a:avLst/>
          </a:prstGeom>
          <a:noFill/>
        </p:spPr>
        <p:txBody>
          <a:bodyPr wrap="square">
            <a:spAutoFit/>
          </a:bodyPr>
          <a:lstStyle/>
          <a:p>
            <a:pPr algn="just" fontAlgn="base"/>
            <a:r>
              <a:rPr lang="es-ES" b="0" i="0" dirty="0">
                <a:effectLst/>
                <a:highlight>
                  <a:srgbClr val="FFFFFF"/>
                </a:highlight>
                <a:latin typeface="Graphik"/>
              </a:rPr>
              <a:t>Sin embargo, una SPA también presenta algunos inconvenientes que debemos tener en consideración:</a:t>
            </a:r>
          </a:p>
          <a:p>
            <a:pPr algn="just" fontAlgn="base"/>
            <a:endParaRPr lang="es-ES" b="0" i="0" dirty="0">
              <a:effectLst/>
              <a:highlight>
                <a:srgbClr val="FFFFFF"/>
              </a:highlight>
              <a:latin typeface="Graphik"/>
            </a:endParaRPr>
          </a:p>
          <a:p>
            <a:pPr algn="just" fontAlgn="base"/>
            <a:r>
              <a:rPr lang="es-ES" b="1" i="0" dirty="0">
                <a:effectLst/>
                <a:highlight>
                  <a:srgbClr val="FFFFFF"/>
                </a:highlight>
                <a:latin typeface="Graphik"/>
              </a:rPr>
              <a:t>Problemas con SEO</a:t>
            </a:r>
            <a:r>
              <a:rPr lang="es-ES" b="0" i="0" dirty="0">
                <a:effectLst/>
                <a:highlight>
                  <a:srgbClr val="FFFFFF"/>
                </a:highlight>
                <a:latin typeface="Graphik"/>
              </a:rPr>
              <a:t>: una SPA se ejecuta en código </a:t>
            </a:r>
            <a:r>
              <a:rPr lang="es-ES" b="0" i="0" dirty="0" err="1">
                <a:effectLst/>
                <a:highlight>
                  <a:srgbClr val="FFFFFF"/>
                </a:highlight>
                <a:latin typeface="Graphik"/>
              </a:rPr>
              <a:t>Javascript</a:t>
            </a:r>
            <a:r>
              <a:rPr lang="es-ES" b="0" i="0" dirty="0">
                <a:effectLst/>
                <a:highlight>
                  <a:srgbClr val="FFFFFF"/>
                </a:highlight>
                <a:latin typeface="Graphik"/>
              </a:rPr>
              <a:t> y sin recargar ninguna página nueva. Eso implica que no hay </a:t>
            </a:r>
            <a:r>
              <a:rPr lang="es-ES" b="0" i="0" dirty="0" err="1">
                <a:effectLst/>
                <a:highlight>
                  <a:srgbClr val="FFFFFF"/>
                </a:highlight>
                <a:latin typeface="Graphik"/>
              </a:rPr>
              <a:t>urls</a:t>
            </a:r>
            <a:r>
              <a:rPr lang="es-ES" b="0" i="0" dirty="0">
                <a:effectLst/>
                <a:highlight>
                  <a:srgbClr val="FFFFFF"/>
                </a:highlight>
                <a:latin typeface="Graphik"/>
              </a:rPr>
              <a:t> especificas que podamos optimizar para el SEO, por lo que los motores de búsqueda no ven ningún contenido.</a:t>
            </a:r>
          </a:p>
          <a:p>
            <a:pPr algn="just" fontAlgn="base"/>
            <a:endParaRPr lang="es-ES" b="0" i="0" dirty="0">
              <a:effectLst/>
              <a:highlight>
                <a:srgbClr val="FFFFFF"/>
              </a:highlight>
              <a:latin typeface="Graphik"/>
            </a:endParaRPr>
          </a:p>
          <a:p>
            <a:pPr algn="just" fontAlgn="base"/>
            <a:r>
              <a:rPr lang="es-ES" b="1" i="0" dirty="0">
                <a:effectLst/>
                <a:highlight>
                  <a:srgbClr val="FFFFFF"/>
                </a:highlight>
                <a:latin typeface="Graphik"/>
              </a:rPr>
              <a:t>Tracking de página vista</a:t>
            </a:r>
            <a:r>
              <a:rPr lang="es-ES" b="0" i="0" dirty="0">
                <a:effectLst/>
                <a:highlight>
                  <a:srgbClr val="FFFFFF"/>
                </a:highlight>
                <a:latin typeface="Graphik"/>
              </a:rPr>
              <a:t>: al no recargar una nueva página (ni una nueva </a:t>
            </a:r>
            <a:r>
              <a:rPr lang="es-ES" b="0" i="0" dirty="0" err="1">
                <a:effectLst/>
                <a:highlight>
                  <a:srgbClr val="FFFFFF"/>
                </a:highlight>
                <a:latin typeface="Graphik"/>
              </a:rPr>
              <a:t>url</a:t>
            </a:r>
            <a:r>
              <a:rPr lang="es-ES" b="0" i="0" dirty="0">
                <a:effectLst/>
                <a:highlight>
                  <a:srgbClr val="FFFFFF"/>
                </a:highlight>
                <a:latin typeface="Graphik"/>
              </a:rPr>
              <a:t>) es necesario una configuración extra en código para que podamos medir las páginas vistas (GTM ofrece una solución al respecto, que puede dar problemas de cara a activación de </a:t>
            </a:r>
            <a:r>
              <a:rPr lang="es-ES" b="0" i="0" dirty="0" err="1">
                <a:effectLst/>
                <a:highlight>
                  <a:srgbClr val="FFFFFF"/>
                </a:highlight>
                <a:latin typeface="Graphik"/>
              </a:rPr>
              <a:t>pixels</a:t>
            </a:r>
            <a:r>
              <a:rPr lang="es-ES" b="0" i="0" dirty="0">
                <a:effectLst/>
                <a:highlight>
                  <a:srgbClr val="FFFFFF"/>
                </a:highlight>
                <a:latin typeface="Graphik"/>
              </a:rPr>
              <a:t>, parámetros en las </a:t>
            </a:r>
            <a:r>
              <a:rPr lang="es-ES" b="0" i="0" dirty="0" err="1">
                <a:effectLst/>
                <a:highlight>
                  <a:srgbClr val="FFFFFF"/>
                </a:highlight>
                <a:latin typeface="Graphik"/>
              </a:rPr>
              <a:t>urls</a:t>
            </a:r>
            <a:r>
              <a:rPr lang="es-ES" b="0" i="0" dirty="0">
                <a:effectLst/>
                <a:highlight>
                  <a:srgbClr val="FFFFFF"/>
                </a:highlight>
                <a:latin typeface="Graphik"/>
              </a:rPr>
              <a:t> y atribución).</a:t>
            </a:r>
          </a:p>
        </p:txBody>
      </p:sp>
    </p:spTree>
    <p:extLst>
      <p:ext uri="{BB962C8B-B14F-4D97-AF65-F5344CB8AC3E}">
        <p14:creationId xmlns:p14="http://schemas.microsoft.com/office/powerpoint/2010/main" val="2567035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JSX</a:t>
            </a:r>
            <a:r>
              <a:rPr lang="en-001" dirty="0">
                <a:solidFill>
                  <a:schemeClr val="bg1"/>
                </a:solidFill>
                <a:latin typeface="Work Sans Medium" pitchFamily="2" charset="77"/>
              </a:rPr>
              <a:t> </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DD5599ED-8995-DD1B-4205-0CED498D15D9}"/>
              </a:ext>
            </a:extLst>
          </p:cNvPr>
          <p:cNvSpPr txBox="1"/>
          <p:nvPr/>
        </p:nvSpPr>
        <p:spPr>
          <a:xfrm>
            <a:off x="744968" y="1839163"/>
            <a:ext cx="6094206" cy="3416320"/>
          </a:xfrm>
          <a:prstGeom prst="rect">
            <a:avLst/>
          </a:prstGeom>
          <a:noFill/>
        </p:spPr>
        <p:txBody>
          <a:bodyPr wrap="square">
            <a:spAutoFit/>
          </a:bodyPr>
          <a:lstStyle/>
          <a:p>
            <a:pPr algn="just"/>
            <a:r>
              <a:rPr lang="es-ES" dirty="0"/>
              <a:t>Se llama JSX, y es una extensión de la sintaxis de JavaScript. Recomendamos usarlo con </a:t>
            </a:r>
            <a:r>
              <a:rPr lang="es-ES" dirty="0" err="1"/>
              <a:t>React</a:t>
            </a:r>
            <a:r>
              <a:rPr lang="es-ES" dirty="0"/>
              <a:t> para describir cómo debería ser la interfaz de usuario. JSX puede recordarte a un lenguaje de plantillas, pero viene con todo el poder de JavaScript.</a:t>
            </a:r>
          </a:p>
          <a:p>
            <a:pPr algn="just"/>
            <a:endParaRPr lang="es-ES" dirty="0"/>
          </a:p>
          <a:p>
            <a:pPr algn="just"/>
            <a:r>
              <a:rPr lang="es-ES" dirty="0"/>
              <a:t>JSX (JavaScript XML) es una extensión sintáctica para JavaScript que permite a los desarrolladores escribir código similar al HTML dentro de un archivo JavaScript. Fue desarrollada por Meta (antes Facebook).</a:t>
            </a:r>
          </a:p>
          <a:p>
            <a:pPr algn="just"/>
            <a:endParaRPr lang="es-ES" dirty="0"/>
          </a:p>
          <a:p>
            <a:pPr algn="just"/>
            <a:r>
              <a:rPr lang="es-ES" dirty="0"/>
              <a:t>La sintaxis de JSX se parece a la de HTML, con etiquetas de apertura y cierre, atributos y elementos anidados.</a:t>
            </a:r>
          </a:p>
        </p:txBody>
      </p:sp>
      <p:pic>
        <p:nvPicPr>
          <p:cNvPr id="7" name="Imagen 6">
            <a:extLst>
              <a:ext uri="{FF2B5EF4-FFF2-40B4-BE49-F238E27FC236}">
                <a16:creationId xmlns:a16="http://schemas.microsoft.com/office/drawing/2014/main" id="{498A4A1C-CC81-C640-F06F-997DBB0654CC}"/>
              </a:ext>
            </a:extLst>
          </p:cNvPr>
          <p:cNvPicPr>
            <a:picLocks noChangeAspect="1"/>
          </p:cNvPicPr>
          <p:nvPr/>
        </p:nvPicPr>
        <p:blipFill>
          <a:blip r:embed="rId3"/>
          <a:stretch>
            <a:fillRect/>
          </a:stretch>
        </p:blipFill>
        <p:spPr>
          <a:xfrm>
            <a:off x="7262839" y="3082054"/>
            <a:ext cx="4095887" cy="693892"/>
          </a:xfrm>
          <a:prstGeom prst="rect">
            <a:avLst/>
          </a:prstGeom>
        </p:spPr>
      </p:pic>
    </p:spTree>
    <p:extLst>
      <p:ext uri="{BB962C8B-B14F-4D97-AF65-F5344CB8AC3E}">
        <p14:creationId xmlns:p14="http://schemas.microsoft.com/office/powerpoint/2010/main" val="80030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Instalaciones </a:t>
            </a:r>
            <a:r>
              <a:rPr lang="en-US" dirty="0" err="1">
                <a:solidFill>
                  <a:schemeClr val="bg1"/>
                </a:solidFill>
                <a:latin typeface="Work Sans Medium" pitchFamily="2" charset="77"/>
              </a:rPr>
              <a:t>necesarias</a:t>
            </a:r>
            <a:r>
              <a:rPr lang="en-001" dirty="0">
                <a:solidFill>
                  <a:schemeClr val="bg1"/>
                </a:solidFill>
                <a:latin typeface="Work Sans Medium" pitchFamily="2" charset="77"/>
              </a:rPr>
              <a:t> </a:t>
            </a:r>
            <a:endParaRPr lang="es-CO" dirty="0">
              <a:solidFill>
                <a:schemeClr val="bg1"/>
              </a:solidFill>
              <a:latin typeface="Work Sans Medium" pitchFamily="2" charset="77"/>
            </a:endParaRPr>
          </a:p>
        </p:txBody>
      </p:sp>
      <p:sp>
        <p:nvSpPr>
          <p:cNvPr id="3" name="CuadroTexto 2">
            <a:extLst>
              <a:ext uri="{FF2B5EF4-FFF2-40B4-BE49-F238E27FC236}">
                <a16:creationId xmlns:a16="http://schemas.microsoft.com/office/drawing/2014/main" id="{81C25295-A7E5-2AEF-AA07-F7337ACB0982}"/>
              </a:ext>
            </a:extLst>
          </p:cNvPr>
          <p:cNvSpPr txBox="1"/>
          <p:nvPr/>
        </p:nvSpPr>
        <p:spPr>
          <a:xfrm>
            <a:off x="456236" y="1699709"/>
            <a:ext cx="5927464" cy="5355312"/>
          </a:xfrm>
          <a:prstGeom prst="rect">
            <a:avLst/>
          </a:prstGeom>
          <a:noFill/>
        </p:spPr>
        <p:txBody>
          <a:bodyPr wrap="square" rtlCol="0">
            <a:spAutoFit/>
          </a:bodyPr>
          <a:lstStyle/>
          <a:p>
            <a:pPr marL="342900" indent="-342900">
              <a:buAutoNum type="arabicPeriod"/>
            </a:pPr>
            <a:r>
              <a:rPr lang="en-US" dirty="0"/>
              <a:t>Descargar Visual Studio Code:   </a:t>
            </a:r>
            <a:r>
              <a:rPr lang="it-IT" dirty="0">
                <a:hlinkClick r:id="rId3"/>
              </a:rPr>
              <a:t>Visual Studio Code - Code Editing. Redefined</a:t>
            </a:r>
            <a:endParaRPr lang="it-IT" dirty="0"/>
          </a:p>
          <a:p>
            <a:pPr marL="342900" indent="-342900">
              <a:buAutoNum type="arabicPeriod"/>
            </a:pPr>
            <a:r>
              <a:rPr lang="it-IT" dirty="0"/>
              <a:t>Descargar Node JS: </a:t>
            </a:r>
            <a:r>
              <a:rPr lang="en-US" dirty="0"/>
              <a:t> </a:t>
            </a:r>
            <a:r>
              <a:rPr lang="en-US" dirty="0">
                <a:hlinkClick r:id="rId4"/>
              </a:rPr>
              <a:t>Node.js — Run JavaScript Everywhere (nodejs.org)</a:t>
            </a:r>
            <a:endParaRPr lang="en-US" dirty="0"/>
          </a:p>
          <a:p>
            <a:pPr marL="342900" indent="-342900">
              <a:buAutoNum type="arabicPeriod"/>
            </a:pPr>
            <a:r>
              <a:rPr lang="en-US" dirty="0"/>
              <a:t>Descargar yarn via </a:t>
            </a:r>
            <a:r>
              <a:rPr lang="en-US" dirty="0" err="1"/>
              <a:t>npm</a:t>
            </a:r>
            <a:r>
              <a:rPr lang="en-US" dirty="0"/>
              <a:t> : </a:t>
            </a:r>
          </a:p>
          <a:p>
            <a:r>
              <a:rPr lang="en-US" dirty="0"/>
              <a:t>   3.1 </a:t>
            </a:r>
            <a:r>
              <a:rPr lang="en-US" dirty="0" err="1"/>
              <a:t>ir</a:t>
            </a:r>
            <a:r>
              <a:rPr lang="en-US" dirty="0"/>
              <a:t> a </a:t>
            </a:r>
            <a:r>
              <a:rPr lang="en-US" dirty="0" err="1"/>
              <a:t>cmd</a:t>
            </a:r>
            <a:r>
              <a:rPr lang="en-US" dirty="0"/>
              <a:t> y </a:t>
            </a:r>
            <a:r>
              <a:rPr lang="en-US" dirty="0" err="1"/>
              <a:t>colocar</a:t>
            </a:r>
            <a:r>
              <a:rPr lang="en-US" dirty="0"/>
              <a:t> </a:t>
            </a:r>
            <a:r>
              <a:rPr lang="en-US" dirty="0" err="1"/>
              <a:t>el</a:t>
            </a:r>
            <a:r>
              <a:rPr lang="en-US" dirty="0"/>
              <a:t> </a:t>
            </a:r>
            <a:r>
              <a:rPr lang="en-US" dirty="0" err="1"/>
              <a:t>comando</a:t>
            </a:r>
            <a:r>
              <a:rPr lang="en-US" dirty="0"/>
              <a:t>: </a:t>
            </a:r>
            <a:r>
              <a:rPr lang="en-US" b="1" dirty="0" err="1"/>
              <a:t>npm</a:t>
            </a:r>
            <a:r>
              <a:rPr lang="en-US" b="1" dirty="0"/>
              <a:t> install --global yarn.</a:t>
            </a:r>
          </a:p>
          <a:p>
            <a:r>
              <a:rPr lang="en-US" dirty="0"/>
              <a:t>   3.2 </a:t>
            </a:r>
            <a:r>
              <a:rPr lang="en-US" dirty="0" err="1"/>
              <a:t>verificar</a:t>
            </a:r>
            <a:r>
              <a:rPr lang="en-US" dirty="0"/>
              <a:t> la version de yarn con: </a:t>
            </a:r>
            <a:r>
              <a:rPr lang="en-US" b="1" dirty="0"/>
              <a:t>yarn –v</a:t>
            </a:r>
          </a:p>
          <a:p>
            <a:r>
              <a:rPr lang="en-US" dirty="0"/>
              <a:t>   3.3 Para mayor </a:t>
            </a:r>
            <a:r>
              <a:rPr lang="en-US" dirty="0" err="1"/>
              <a:t>informacion</a:t>
            </a:r>
            <a:r>
              <a:rPr lang="en-US" dirty="0"/>
              <a:t> </a:t>
            </a:r>
            <a:r>
              <a:rPr lang="en-US" dirty="0" err="1"/>
              <a:t>ir</a:t>
            </a:r>
            <a:r>
              <a:rPr lang="en-US" dirty="0"/>
              <a:t> a: </a:t>
            </a:r>
            <a:r>
              <a:rPr lang="en-US" dirty="0">
                <a:hlinkClick r:id="rId5"/>
              </a:rPr>
              <a:t>Installation | Yarn (yarnpkg.com)</a:t>
            </a:r>
            <a:endParaRPr lang="en-US" dirty="0"/>
          </a:p>
          <a:p>
            <a:pPr marL="342900" indent="-342900">
              <a:buAutoNum type="arabicPeriod" startAt="4"/>
            </a:pPr>
            <a:r>
              <a:rPr lang="en-US" dirty="0"/>
              <a:t>Descargar </a:t>
            </a:r>
            <a:r>
              <a:rPr lang="en-US" dirty="0" err="1"/>
              <a:t>extensiones</a:t>
            </a:r>
            <a:r>
              <a:rPr lang="en-US" dirty="0"/>
              <a:t> </a:t>
            </a:r>
            <a:r>
              <a:rPr lang="en-US" dirty="0" err="1"/>
              <a:t>en</a:t>
            </a:r>
            <a:r>
              <a:rPr lang="en-US" dirty="0"/>
              <a:t> VS Code:</a:t>
            </a:r>
          </a:p>
          <a:p>
            <a:r>
              <a:rPr lang="en-US" dirty="0"/>
              <a:t>    4.1 </a:t>
            </a:r>
            <a:r>
              <a:rPr lang="en-US" dirty="0" err="1"/>
              <a:t>Blacket</a:t>
            </a:r>
            <a:r>
              <a:rPr lang="en-US" dirty="0"/>
              <a:t> pair Colorizer 2</a:t>
            </a:r>
          </a:p>
          <a:p>
            <a:r>
              <a:rPr lang="en-US" dirty="0"/>
              <a:t>    4.2 CSS Peek</a:t>
            </a:r>
          </a:p>
          <a:p>
            <a:r>
              <a:rPr lang="en-US" dirty="0"/>
              <a:t>    4.3 CSS Snippets</a:t>
            </a:r>
          </a:p>
          <a:p>
            <a:r>
              <a:rPr lang="en-US" dirty="0"/>
              <a:t>    4.4 Html CSS Support</a:t>
            </a:r>
          </a:p>
          <a:p>
            <a:r>
              <a:rPr lang="en-US" dirty="0"/>
              <a:t>    4.4 Docker</a:t>
            </a:r>
          </a:p>
          <a:p>
            <a:r>
              <a:rPr lang="en-US" dirty="0"/>
              <a:t>    4.5 ES7+React/Redux/React-Native snippets</a:t>
            </a:r>
          </a:p>
          <a:p>
            <a:r>
              <a:rPr lang="en-US" dirty="0"/>
              <a:t>    4.6 WSL</a:t>
            </a:r>
          </a:p>
          <a:p>
            <a:r>
              <a:rPr lang="en-US" dirty="0"/>
              <a:t>    4.7 Live Server</a:t>
            </a:r>
          </a:p>
          <a:p>
            <a:endParaRPr lang="en-US" dirty="0"/>
          </a:p>
        </p:txBody>
      </p:sp>
    </p:spTree>
    <p:extLst>
      <p:ext uri="{BB962C8B-B14F-4D97-AF65-F5344CB8AC3E}">
        <p14:creationId xmlns:p14="http://schemas.microsoft.com/office/powerpoint/2010/main" val="358444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7675</TotalTime>
  <Words>592</Words>
  <Application>Microsoft Office PowerPoint</Application>
  <PresentationFormat>Panorámica</PresentationFormat>
  <Paragraphs>49</Paragraphs>
  <Slides>9</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9</vt:i4>
      </vt:variant>
    </vt:vector>
  </HeadingPairs>
  <TitlesOfParts>
    <vt:vector size="16" baseType="lpstr">
      <vt:lpstr>Arial</vt:lpstr>
      <vt:lpstr>Calibri</vt:lpstr>
      <vt:lpstr>Calibri Light</vt:lpstr>
      <vt:lpstr>Graphik</vt:lpstr>
      <vt:lpstr>Work Sans</vt:lpstr>
      <vt:lpstr>Work Sans Medium</vt:lpstr>
      <vt:lpstr>Tema de Office</vt:lpstr>
      <vt:lpstr>Presentación de PowerPoint</vt:lpstr>
      <vt:lpstr>Que es React </vt:lpstr>
      <vt:lpstr>SPA: Single Page Application </vt:lpstr>
      <vt:lpstr>MPA: Multi-Page Application </vt:lpstr>
      <vt:lpstr>Beneficios de SPA </vt:lpstr>
      <vt:lpstr>Beneficios de SPA </vt:lpstr>
      <vt:lpstr>JSX </vt:lpstr>
      <vt:lpstr>Instalaciones necesarias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CARLOS DANIEL GOMEZ DAZA</cp:lastModifiedBy>
  <cp:revision>113</cp:revision>
  <dcterms:created xsi:type="dcterms:W3CDTF">2020-10-01T23:51:28Z</dcterms:created>
  <dcterms:modified xsi:type="dcterms:W3CDTF">2024-06-26T15:40:30Z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