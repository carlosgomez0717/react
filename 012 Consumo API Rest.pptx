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handoutMasterIdLst>
    <p:handoutMasterId r:id="rId11"/>
  </p:handoutMasterIdLst>
  <p:sldIdLst>
    <p:sldId id="468" r:id="rId2"/>
    <p:sldId id="533" r:id="rId3"/>
    <p:sldId id="534" r:id="rId4"/>
    <p:sldId id="535" r:id="rId5"/>
    <p:sldId id="536" r:id="rId6"/>
    <p:sldId id="538" r:id="rId7"/>
    <p:sldId id="537" r:id="rId8"/>
    <p:sldId id="264" r:id="rId9"/>
  </p:sldIdLst>
  <p:sldSz cx="12192000" cy="6858000"/>
  <p:notesSz cx="6858000" cy="9144000"/>
  <p:defaultText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DANIEL DAVID BENAVIDES SANCHEZ" initials="DDBS" lastIdx="1" clrIdx="0">
    <p:extLst>
      <p:ext uri="{19B8F6BF-5375-455C-9EA6-DF929625EA0E}">
        <p15:presenceInfo xmlns:p15="http://schemas.microsoft.com/office/powerpoint/2012/main" userId="DANIEL DAVID BENAVIDES SANCHEZ"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8AA00"/>
    <a:srgbClr val="FFFFFF"/>
    <a:srgbClr val="766363"/>
    <a:srgbClr val="FFF5EA"/>
    <a:srgbClr val="00324D"/>
    <a:srgbClr val="FF6C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BA0472C-E42D-409B-8C27-DB2E802EEC81}" v="33" dt="2022-10-19T17:09:15.352"/>
  </p1510:revLst>
</p1510:revInfo>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Estilo medio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304"/>
    <p:restoredTop sz="86369"/>
  </p:normalViewPr>
  <p:slideViewPr>
    <p:cSldViewPr snapToGrid="0">
      <p:cViewPr varScale="1">
        <p:scale>
          <a:sx n="71" d="100"/>
          <a:sy n="71" d="100"/>
        </p:scale>
        <p:origin x="1032" y="58"/>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80" d="100"/>
        <a:sy n="80" d="100"/>
      </p:scale>
      <p:origin x="0" y="0"/>
    </p:cViewPr>
  </p:sorterViewPr>
  <p:notesViewPr>
    <p:cSldViewPr snapToGrid="0">
      <p:cViewPr varScale="1">
        <p:scale>
          <a:sx n="97" d="100"/>
          <a:sy n="97" d="100"/>
        </p:scale>
        <p:origin x="5336" y="20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commentAuthors" Target="commentAuthors.xml"/><Relationship Id="rId17"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a:extLst>
              <a:ext uri="{FF2B5EF4-FFF2-40B4-BE49-F238E27FC236}">
                <a16:creationId xmlns:a16="http://schemas.microsoft.com/office/drawing/2014/main" id="{9999AFE6-721E-1D92-FFC0-72E02DBB97BE}"/>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CO"/>
          </a:p>
        </p:txBody>
      </p:sp>
      <p:sp>
        <p:nvSpPr>
          <p:cNvPr id="3" name="Marcador de fecha 2">
            <a:extLst>
              <a:ext uri="{FF2B5EF4-FFF2-40B4-BE49-F238E27FC236}">
                <a16:creationId xmlns:a16="http://schemas.microsoft.com/office/drawing/2014/main" id="{BA598C0A-ECF9-B897-80D5-1AE7ABA3058B}"/>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8369B9F-131C-2846-AB8F-CEE154B4CAEB}" type="datetimeFigureOut">
              <a:rPr lang="es-CO" smtClean="0"/>
              <a:t>18/08/2024</a:t>
            </a:fld>
            <a:endParaRPr lang="es-CO"/>
          </a:p>
        </p:txBody>
      </p:sp>
      <p:sp>
        <p:nvSpPr>
          <p:cNvPr id="4" name="Marcador de pie de página 3">
            <a:extLst>
              <a:ext uri="{FF2B5EF4-FFF2-40B4-BE49-F238E27FC236}">
                <a16:creationId xmlns:a16="http://schemas.microsoft.com/office/drawing/2014/main" id="{788F308B-0102-A0B4-9A23-E807C735E852}"/>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s-CO"/>
          </a:p>
        </p:txBody>
      </p:sp>
      <p:sp>
        <p:nvSpPr>
          <p:cNvPr id="5" name="Marcador de número de diapositiva 4">
            <a:extLst>
              <a:ext uri="{FF2B5EF4-FFF2-40B4-BE49-F238E27FC236}">
                <a16:creationId xmlns:a16="http://schemas.microsoft.com/office/drawing/2014/main" id="{1E7CACDD-5D14-572A-2591-609B03F16820}"/>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293070F-3F68-E043-9CC3-B53B4F22454C}" type="slidenum">
              <a:rPr lang="es-CO" smtClean="0"/>
              <a:t>‹Nº›</a:t>
            </a:fld>
            <a:endParaRPr lang="es-CO"/>
          </a:p>
        </p:txBody>
      </p:sp>
    </p:spTree>
    <p:extLst>
      <p:ext uri="{BB962C8B-B14F-4D97-AF65-F5344CB8AC3E}">
        <p14:creationId xmlns:p14="http://schemas.microsoft.com/office/powerpoint/2010/main" val="347004591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CO"/>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660CB96-A603-FF42-AE46-F5F75F80A67B}" type="datetimeFigureOut">
              <a:rPr lang="es-CO" smtClean="0"/>
              <a:t>18/08/2024</a:t>
            </a:fld>
            <a:endParaRPr lang="es-CO"/>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CO"/>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CO"/>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906C58E-460D-4A4B-B0C2-1191B9D14FCB}" type="slidenum">
              <a:rPr lang="es-CO" smtClean="0"/>
              <a:t>‹Nº›</a:t>
            </a:fld>
            <a:endParaRPr lang="es-CO"/>
          </a:p>
        </p:txBody>
      </p:sp>
    </p:spTree>
    <p:extLst>
      <p:ext uri="{BB962C8B-B14F-4D97-AF65-F5344CB8AC3E}">
        <p14:creationId xmlns:p14="http://schemas.microsoft.com/office/powerpoint/2010/main" val="102130263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a:p>
        </p:txBody>
      </p:sp>
      <p:sp>
        <p:nvSpPr>
          <p:cNvPr id="4" name="Marcador de número de diapositiva 3"/>
          <p:cNvSpPr>
            <a:spLocks noGrp="1"/>
          </p:cNvSpPr>
          <p:nvPr>
            <p:ph type="sldNum" sz="quarter" idx="5"/>
          </p:nvPr>
        </p:nvSpPr>
        <p:spPr/>
        <p:txBody>
          <a:bodyPr/>
          <a:lstStyle/>
          <a:p>
            <a:fld id="{6906C58E-460D-4A4B-B0C2-1191B9D14FCB}" type="slidenum">
              <a:rPr lang="es-CO" smtClean="0"/>
              <a:t>1</a:t>
            </a:fld>
            <a:endParaRPr lang="es-CO"/>
          </a:p>
        </p:txBody>
      </p:sp>
    </p:spTree>
    <p:extLst>
      <p:ext uri="{BB962C8B-B14F-4D97-AF65-F5344CB8AC3E}">
        <p14:creationId xmlns:p14="http://schemas.microsoft.com/office/powerpoint/2010/main" val="117892723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095260C-E8AD-B240-9481-5B2FE14A606C}"/>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CO"/>
          </a:p>
        </p:txBody>
      </p:sp>
      <p:sp>
        <p:nvSpPr>
          <p:cNvPr id="3" name="Subtítulo 2">
            <a:extLst>
              <a:ext uri="{FF2B5EF4-FFF2-40B4-BE49-F238E27FC236}">
                <a16:creationId xmlns:a16="http://schemas.microsoft.com/office/drawing/2014/main" id="{A8F4960B-AC04-294C-9B8A-B10830EF5F0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CO"/>
          </a:p>
        </p:txBody>
      </p:sp>
      <p:sp>
        <p:nvSpPr>
          <p:cNvPr id="4" name="Marcador de fecha 3">
            <a:extLst>
              <a:ext uri="{FF2B5EF4-FFF2-40B4-BE49-F238E27FC236}">
                <a16:creationId xmlns:a16="http://schemas.microsoft.com/office/drawing/2014/main" id="{89F720DD-BA8F-C443-A59E-F0EEAF843AB1}"/>
              </a:ext>
            </a:extLst>
          </p:cNvPr>
          <p:cNvSpPr>
            <a:spLocks noGrp="1"/>
          </p:cNvSpPr>
          <p:nvPr>
            <p:ph type="dt" sz="half" idx="10"/>
          </p:nvPr>
        </p:nvSpPr>
        <p:spPr/>
        <p:txBody>
          <a:bodyPr/>
          <a:lstStyle/>
          <a:p>
            <a:fld id="{BD986248-06F7-A441-A47A-264EBD310E11}" type="datetimeFigureOut">
              <a:rPr lang="es-CO" smtClean="0"/>
              <a:t>18/08/2024</a:t>
            </a:fld>
            <a:endParaRPr lang="es-CO"/>
          </a:p>
        </p:txBody>
      </p:sp>
      <p:sp>
        <p:nvSpPr>
          <p:cNvPr id="5" name="Marcador de pie de página 4">
            <a:extLst>
              <a:ext uri="{FF2B5EF4-FFF2-40B4-BE49-F238E27FC236}">
                <a16:creationId xmlns:a16="http://schemas.microsoft.com/office/drawing/2014/main" id="{F9A1676A-B50F-4048-B9A0-67475225D0C3}"/>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90B408DD-191C-9940-B5DC-9B04378C876B}"/>
              </a:ext>
            </a:extLst>
          </p:cNvPr>
          <p:cNvSpPr>
            <a:spLocks noGrp="1"/>
          </p:cNvSpPr>
          <p:nvPr>
            <p:ph type="sldNum" sz="quarter" idx="12"/>
          </p:nvPr>
        </p:nvSpPr>
        <p:spPr/>
        <p:txBody>
          <a:bodyPr/>
          <a:lstStyle/>
          <a:p>
            <a:fld id="{63E15DF6-230E-2E43-B847-68755106EC6D}" type="slidenum">
              <a:rPr lang="es-CO" smtClean="0"/>
              <a:t>‹Nº›</a:t>
            </a:fld>
            <a:endParaRPr lang="es-CO"/>
          </a:p>
        </p:txBody>
      </p:sp>
    </p:spTree>
    <p:extLst>
      <p:ext uri="{BB962C8B-B14F-4D97-AF65-F5344CB8AC3E}">
        <p14:creationId xmlns:p14="http://schemas.microsoft.com/office/powerpoint/2010/main" val="23794502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7817F6C-CDBB-234C-B00B-255C60E54836}"/>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contenido 2">
            <a:extLst>
              <a:ext uri="{FF2B5EF4-FFF2-40B4-BE49-F238E27FC236}">
                <a16:creationId xmlns:a16="http://schemas.microsoft.com/office/drawing/2014/main" id="{29743F10-0075-0F47-A0C2-0071CB2B3840}"/>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3AB4C6E2-1F45-C54F-A384-6BA60BB5E5E7}"/>
              </a:ext>
            </a:extLst>
          </p:cNvPr>
          <p:cNvSpPr>
            <a:spLocks noGrp="1"/>
          </p:cNvSpPr>
          <p:nvPr>
            <p:ph type="dt" sz="half" idx="10"/>
          </p:nvPr>
        </p:nvSpPr>
        <p:spPr/>
        <p:txBody>
          <a:bodyPr/>
          <a:lstStyle/>
          <a:p>
            <a:fld id="{BD986248-06F7-A441-A47A-264EBD310E11}" type="datetimeFigureOut">
              <a:rPr lang="es-CO" smtClean="0"/>
              <a:t>18/08/2024</a:t>
            </a:fld>
            <a:endParaRPr lang="es-CO"/>
          </a:p>
        </p:txBody>
      </p:sp>
      <p:sp>
        <p:nvSpPr>
          <p:cNvPr id="5" name="Marcador de pie de página 4">
            <a:extLst>
              <a:ext uri="{FF2B5EF4-FFF2-40B4-BE49-F238E27FC236}">
                <a16:creationId xmlns:a16="http://schemas.microsoft.com/office/drawing/2014/main" id="{EF44B0E8-9C87-6C41-96F5-6419B5000575}"/>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2DD08979-815A-D443-B424-FB031F975D72}"/>
              </a:ext>
            </a:extLst>
          </p:cNvPr>
          <p:cNvSpPr>
            <a:spLocks noGrp="1"/>
          </p:cNvSpPr>
          <p:nvPr>
            <p:ph type="sldNum" sz="quarter" idx="12"/>
          </p:nvPr>
        </p:nvSpPr>
        <p:spPr/>
        <p:txBody>
          <a:bodyPr/>
          <a:lstStyle/>
          <a:p>
            <a:fld id="{63E15DF6-230E-2E43-B847-68755106EC6D}" type="slidenum">
              <a:rPr lang="es-CO" smtClean="0"/>
              <a:t>‹Nº›</a:t>
            </a:fld>
            <a:endParaRPr lang="es-CO"/>
          </a:p>
        </p:txBody>
      </p:sp>
    </p:spTree>
    <p:extLst>
      <p:ext uri="{BB962C8B-B14F-4D97-AF65-F5344CB8AC3E}">
        <p14:creationId xmlns:p14="http://schemas.microsoft.com/office/powerpoint/2010/main" val="164220367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B4B3E04-413C-394A-94BD-6FD1D56E17FC}"/>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CO"/>
          </a:p>
        </p:txBody>
      </p:sp>
      <p:sp>
        <p:nvSpPr>
          <p:cNvPr id="3" name="Marcador de texto 2">
            <a:extLst>
              <a:ext uri="{FF2B5EF4-FFF2-40B4-BE49-F238E27FC236}">
                <a16:creationId xmlns:a16="http://schemas.microsoft.com/office/drawing/2014/main" id="{D2E8DEAC-948A-0F4A-9098-1EA5A30BE36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BF0E9B39-9659-7747-851C-17A0C73C8B12}"/>
              </a:ext>
            </a:extLst>
          </p:cNvPr>
          <p:cNvSpPr>
            <a:spLocks noGrp="1"/>
          </p:cNvSpPr>
          <p:nvPr>
            <p:ph type="dt" sz="half" idx="10"/>
          </p:nvPr>
        </p:nvSpPr>
        <p:spPr/>
        <p:txBody>
          <a:bodyPr/>
          <a:lstStyle/>
          <a:p>
            <a:fld id="{BD986248-06F7-A441-A47A-264EBD310E11}" type="datetimeFigureOut">
              <a:rPr lang="es-CO" smtClean="0"/>
              <a:t>18/08/2024</a:t>
            </a:fld>
            <a:endParaRPr lang="es-CO"/>
          </a:p>
        </p:txBody>
      </p:sp>
      <p:sp>
        <p:nvSpPr>
          <p:cNvPr id="5" name="Marcador de pie de página 4">
            <a:extLst>
              <a:ext uri="{FF2B5EF4-FFF2-40B4-BE49-F238E27FC236}">
                <a16:creationId xmlns:a16="http://schemas.microsoft.com/office/drawing/2014/main" id="{5990AE33-28EE-274E-8E15-02A1474831B8}"/>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4EA1D99B-0619-1847-8509-03589920E86F}"/>
              </a:ext>
            </a:extLst>
          </p:cNvPr>
          <p:cNvSpPr>
            <a:spLocks noGrp="1"/>
          </p:cNvSpPr>
          <p:nvPr>
            <p:ph type="sldNum" sz="quarter" idx="12"/>
          </p:nvPr>
        </p:nvSpPr>
        <p:spPr/>
        <p:txBody>
          <a:bodyPr/>
          <a:lstStyle/>
          <a:p>
            <a:fld id="{63E15DF6-230E-2E43-B847-68755106EC6D}" type="slidenum">
              <a:rPr lang="es-CO" smtClean="0"/>
              <a:t>‹Nº›</a:t>
            </a:fld>
            <a:endParaRPr lang="es-CO"/>
          </a:p>
        </p:txBody>
      </p:sp>
    </p:spTree>
    <p:extLst>
      <p:ext uri="{BB962C8B-B14F-4D97-AF65-F5344CB8AC3E}">
        <p14:creationId xmlns:p14="http://schemas.microsoft.com/office/powerpoint/2010/main" val="11303769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F0119BB-39AA-4B48-BB60-3EE344FF24B4}"/>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contenido 2">
            <a:extLst>
              <a:ext uri="{FF2B5EF4-FFF2-40B4-BE49-F238E27FC236}">
                <a16:creationId xmlns:a16="http://schemas.microsoft.com/office/drawing/2014/main" id="{58E8365F-8201-9D4B-85A4-E53E8819A86D}"/>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contenido 3">
            <a:extLst>
              <a:ext uri="{FF2B5EF4-FFF2-40B4-BE49-F238E27FC236}">
                <a16:creationId xmlns:a16="http://schemas.microsoft.com/office/drawing/2014/main" id="{C674364B-4945-0A4D-A279-35519E3F46DE}"/>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5" name="Marcador de fecha 4">
            <a:extLst>
              <a:ext uri="{FF2B5EF4-FFF2-40B4-BE49-F238E27FC236}">
                <a16:creationId xmlns:a16="http://schemas.microsoft.com/office/drawing/2014/main" id="{2868BFB1-0C38-A141-AB7B-22CD10FF3F3D}"/>
              </a:ext>
            </a:extLst>
          </p:cNvPr>
          <p:cNvSpPr>
            <a:spLocks noGrp="1"/>
          </p:cNvSpPr>
          <p:nvPr>
            <p:ph type="dt" sz="half" idx="10"/>
          </p:nvPr>
        </p:nvSpPr>
        <p:spPr/>
        <p:txBody>
          <a:bodyPr/>
          <a:lstStyle/>
          <a:p>
            <a:fld id="{BD986248-06F7-A441-A47A-264EBD310E11}" type="datetimeFigureOut">
              <a:rPr lang="es-CO" smtClean="0"/>
              <a:t>18/08/2024</a:t>
            </a:fld>
            <a:endParaRPr lang="es-CO"/>
          </a:p>
        </p:txBody>
      </p:sp>
      <p:sp>
        <p:nvSpPr>
          <p:cNvPr id="6" name="Marcador de pie de página 5">
            <a:extLst>
              <a:ext uri="{FF2B5EF4-FFF2-40B4-BE49-F238E27FC236}">
                <a16:creationId xmlns:a16="http://schemas.microsoft.com/office/drawing/2014/main" id="{9FF6516E-C104-3E4A-BC0F-DC137BD98C42}"/>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F2C08597-16B2-3B42-B59A-8815DD747357}"/>
              </a:ext>
            </a:extLst>
          </p:cNvPr>
          <p:cNvSpPr>
            <a:spLocks noGrp="1"/>
          </p:cNvSpPr>
          <p:nvPr>
            <p:ph type="sldNum" sz="quarter" idx="12"/>
          </p:nvPr>
        </p:nvSpPr>
        <p:spPr/>
        <p:txBody>
          <a:bodyPr/>
          <a:lstStyle/>
          <a:p>
            <a:fld id="{63E15DF6-230E-2E43-B847-68755106EC6D}" type="slidenum">
              <a:rPr lang="es-CO" smtClean="0"/>
              <a:t>‹Nº›</a:t>
            </a:fld>
            <a:endParaRPr lang="es-CO"/>
          </a:p>
        </p:txBody>
      </p:sp>
    </p:spTree>
    <p:extLst>
      <p:ext uri="{BB962C8B-B14F-4D97-AF65-F5344CB8AC3E}">
        <p14:creationId xmlns:p14="http://schemas.microsoft.com/office/powerpoint/2010/main" val="21425473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B44272C-3F8B-AF4A-82BE-E5BE9107D7B0}"/>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CO"/>
          </a:p>
        </p:txBody>
      </p:sp>
      <p:sp>
        <p:nvSpPr>
          <p:cNvPr id="3" name="Marcador de texto 2">
            <a:extLst>
              <a:ext uri="{FF2B5EF4-FFF2-40B4-BE49-F238E27FC236}">
                <a16:creationId xmlns:a16="http://schemas.microsoft.com/office/drawing/2014/main" id="{44B8DA00-E62A-A54E-BC50-AEBAAF25160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36E9F7D8-1A62-544F-A4E2-23A591854BA4}"/>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5" name="Marcador de texto 4">
            <a:extLst>
              <a:ext uri="{FF2B5EF4-FFF2-40B4-BE49-F238E27FC236}">
                <a16:creationId xmlns:a16="http://schemas.microsoft.com/office/drawing/2014/main" id="{21895FC1-5F27-B640-81B9-33366BECB58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400D0329-F1AE-FE44-A7B4-B16B429A0C9A}"/>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7" name="Marcador de fecha 6">
            <a:extLst>
              <a:ext uri="{FF2B5EF4-FFF2-40B4-BE49-F238E27FC236}">
                <a16:creationId xmlns:a16="http://schemas.microsoft.com/office/drawing/2014/main" id="{5A80CE19-B065-6E4F-A207-999BBF94CA15}"/>
              </a:ext>
            </a:extLst>
          </p:cNvPr>
          <p:cNvSpPr>
            <a:spLocks noGrp="1"/>
          </p:cNvSpPr>
          <p:nvPr>
            <p:ph type="dt" sz="half" idx="10"/>
          </p:nvPr>
        </p:nvSpPr>
        <p:spPr/>
        <p:txBody>
          <a:bodyPr/>
          <a:lstStyle/>
          <a:p>
            <a:fld id="{BD986248-06F7-A441-A47A-264EBD310E11}" type="datetimeFigureOut">
              <a:rPr lang="es-CO" smtClean="0"/>
              <a:t>18/08/2024</a:t>
            </a:fld>
            <a:endParaRPr lang="es-CO"/>
          </a:p>
        </p:txBody>
      </p:sp>
      <p:sp>
        <p:nvSpPr>
          <p:cNvPr id="8" name="Marcador de pie de página 7">
            <a:extLst>
              <a:ext uri="{FF2B5EF4-FFF2-40B4-BE49-F238E27FC236}">
                <a16:creationId xmlns:a16="http://schemas.microsoft.com/office/drawing/2014/main" id="{299C46BF-4920-E443-B109-668969C5EB88}"/>
              </a:ext>
            </a:extLst>
          </p:cNvPr>
          <p:cNvSpPr>
            <a:spLocks noGrp="1"/>
          </p:cNvSpPr>
          <p:nvPr>
            <p:ph type="ftr" sz="quarter" idx="11"/>
          </p:nvPr>
        </p:nvSpPr>
        <p:spPr/>
        <p:txBody>
          <a:bodyPr/>
          <a:lstStyle/>
          <a:p>
            <a:endParaRPr lang="es-CO"/>
          </a:p>
        </p:txBody>
      </p:sp>
      <p:sp>
        <p:nvSpPr>
          <p:cNvPr id="9" name="Marcador de número de diapositiva 8">
            <a:extLst>
              <a:ext uri="{FF2B5EF4-FFF2-40B4-BE49-F238E27FC236}">
                <a16:creationId xmlns:a16="http://schemas.microsoft.com/office/drawing/2014/main" id="{9C417FDA-D0D0-AD4C-9F49-6FFEC4BC64C3}"/>
              </a:ext>
            </a:extLst>
          </p:cNvPr>
          <p:cNvSpPr>
            <a:spLocks noGrp="1"/>
          </p:cNvSpPr>
          <p:nvPr>
            <p:ph type="sldNum" sz="quarter" idx="12"/>
          </p:nvPr>
        </p:nvSpPr>
        <p:spPr/>
        <p:txBody>
          <a:bodyPr/>
          <a:lstStyle/>
          <a:p>
            <a:fld id="{63E15DF6-230E-2E43-B847-68755106EC6D}" type="slidenum">
              <a:rPr lang="es-CO" smtClean="0"/>
              <a:t>‹Nº›</a:t>
            </a:fld>
            <a:endParaRPr lang="es-CO"/>
          </a:p>
        </p:txBody>
      </p:sp>
    </p:spTree>
    <p:extLst>
      <p:ext uri="{BB962C8B-B14F-4D97-AF65-F5344CB8AC3E}">
        <p14:creationId xmlns:p14="http://schemas.microsoft.com/office/powerpoint/2010/main" val="21695401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4C92FB5-1F0C-DE4B-8A05-DE0792814E4F}"/>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fecha 2">
            <a:extLst>
              <a:ext uri="{FF2B5EF4-FFF2-40B4-BE49-F238E27FC236}">
                <a16:creationId xmlns:a16="http://schemas.microsoft.com/office/drawing/2014/main" id="{5AF7F14C-AA7D-3049-A400-4AC6EED53745}"/>
              </a:ext>
            </a:extLst>
          </p:cNvPr>
          <p:cNvSpPr>
            <a:spLocks noGrp="1"/>
          </p:cNvSpPr>
          <p:nvPr>
            <p:ph type="dt" sz="half" idx="10"/>
          </p:nvPr>
        </p:nvSpPr>
        <p:spPr/>
        <p:txBody>
          <a:bodyPr/>
          <a:lstStyle/>
          <a:p>
            <a:fld id="{BD986248-06F7-A441-A47A-264EBD310E11}" type="datetimeFigureOut">
              <a:rPr lang="es-CO" smtClean="0"/>
              <a:t>18/08/2024</a:t>
            </a:fld>
            <a:endParaRPr lang="es-CO"/>
          </a:p>
        </p:txBody>
      </p:sp>
      <p:sp>
        <p:nvSpPr>
          <p:cNvPr id="4" name="Marcador de pie de página 3">
            <a:extLst>
              <a:ext uri="{FF2B5EF4-FFF2-40B4-BE49-F238E27FC236}">
                <a16:creationId xmlns:a16="http://schemas.microsoft.com/office/drawing/2014/main" id="{E746EF7E-3912-BF43-BEB6-49819D4EEF21}"/>
              </a:ext>
            </a:extLst>
          </p:cNvPr>
          <p:cNvSpPr>
            <a:spLocks noGrp="1"/>
          </p:cNvSpPr>
          <p:nvPr>
            <p:ph type="ftr" sz="quarter" idx="11"/>
          </p:nvPr>
        </p:nvSpPr>
        <p:spPr/>
        <p:txBody>
          <a:bodyPr/>
          <a:lstStyle/>
          <a:p>
            <a:endParaRPr lang="es-CO"/>
          </a:p>
        </p:txBody>
      </p:sp>
      <p:sp>
        <p:nvSpPr>
          <p:cNvPr id="5" name="Marcador de número de diapositiva 4">
            <a:extLst>
              <a:ext uri="{FF2B5EF4-FFF2-40B4-BE49-F238E27FC236}">
                <a16:creationId xmlns:a16="http://schemas.microsoft.com/office/drawing/2014/main" id="{9BD767C9-209C-E54C-90E7-5176E4464B89}"/>
              </a:ext>
            </a:extLst>
          </p:cNvPr>
          <p:cNvSpPr>
            <a:spLocks noGrp="1"/>
          </p:cNvSpPr>
          <p:nvPr>
            <p:ph type="sldNum" sz="quarter" idx="12"/>
          </p:nvPr>
        </p:nvSpPr>
        <p:spPr/>
        <p:txBody>
          <a:bodyPr/>
          <a:lstStyle/>
          <a:p>
            <a:fld id="{63E15DF6-230E-2E43-B847-68755106EC6D}" type="slidenum">
              <a:rPr lang="es-CO" smtClean="0"/>
              <a:t>‹Nº›</a:t>
            </a:fld>
            <a:endParaRPr lang="es-CO"/>
          </a:p>
        </p:txBody>
      </p:sp>
    </p:spTree>
    <p:extLst>
      <p:ext uri="{BB962C8B-B14F-4D97-AF65-F5344CB8AC3E}">
        <p14:creationId xmlns:p14="http://schemas.microsoft.com/office/powerpoint/2010/main" val="182285114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77E92712-14E7-954C-8C23-33CD3DBD715B}"/>
              </a:ext>
            </a:extLst>
          </p:cNvPr>
          <p:cNvSpPr>
            <a:spLocks noGrp="1"/>
          </p:cNvSpPr>
          <p:nvPr>
            <p:ph type="dt" sz="half" idx="10"/>
          </p:nvPr>
        </p:nvSpPr>
        <p:spPr/>
        <p:txBody>
          <a:bodyPr/>
          <a:lstStyle/>
          <a:p>
            <a:fld id="{BD986248-06F7-A441-A47A-264EBD310E11}" type="datetimeFigureOut">
              <a:rPr lang="es-CO" smtClean="0"/>
              <a:t>18/08/2024</a:t>
            </a:fld>
            <a:endParaRPr lang="es-CO"/>
          </a:p>
        </p:txBody>
      </p:sp>
      <p:sp>
        <p:nvSpPr>
          <p:cNvPr id="3" name="Marcador de pie de página 2">
            <a:extLst>
              <a:ext uri="{FF2B5EF4-FFF2-40B4-BE49-F238E27FC236}">
                <a16:creationId xmlns:a16="http://schemas.microsoft.com/office/drawing/2014/main" id="{FD7BCE5F-F417-1247-9F26-F4B713468517}"/>
              </a:ext>
            </a:extLst>
          </p:cNvPr>
          <p:cNvSpPr>
            <a:spLocks noGrp="1"/>
          </p:cNvSpPr>
          <p:nvPr>
            <p:ph type="ftr" sz="quarter" idx="11"/>
          </p:nvPr>
        </p:nvSpPr>
        <p:spPr/>
        <p:txBody>
          <a:bodyPr/>
          <a:lstStyle/>
          <a:p>
            <a:endParaRPr lang="es-CO"/>
          </a:p>
        </p:txBody>
      </p:sp>
      <p:sp>
        <p:nvSpPr>
          <p:cNvPr id="4" name="Marcador de número de diapositiva 3">
            <a:extLst>
              <a:ext uri="{FF2B5EF4-FFF2-40B4-BE49-F238E27FC236}">
                <a16:creationId xmlns:a16="http://schemas.microsoft.com/office/drawing/2014/main" id="{20B4FC7D-A6BA-0840-87AD-C71B1896B98D}"/>
              </a:ext>
            </a:extLst>
          </p:cNvPr>
          <p:cNvSpPr>
            <a:spLocks noGrp="1"/>
          </p:cNvSpPr>
          <p:nvPr>
            <p:ph type="sldNum" sz="quarter" idx="12"/>
          </p:nvPr>
        </p:nvSpPr>
        <p:spPr/>
        <p:txBody>
          <a:bodyPr/>
          <a:lstStyle/>
          <a:p>
            <a:fld id="{63E15DF6-230E-2E43-B847-68755106EC6D}" type="slidenum">
              <a:rPr lang="es-CO" smtClean="0"/>
              <a:t>‹Nº›</a:t>
            </a:fld>
            <a:endParaRPr lang="es-CO"/>
          </a:p>
        </p:txBody>
      </p:sp>
    </p:spTree>
    <p:extLst>
      <p:ext uri="{BB962C8B-B14F-4D97-AF65-F5344CB8AC3E}">
        <p14:creationId xmlns:p14="http://schemas.microsoft.com/office/powerpoint/2010/main" val="254162072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CF2BE35-F0B5-DA4A-BE9E-AACFF26FF183}"/>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CO"/>
          </a:p>
        </p:txBody>
      </p:sp>
      <p:sp>
        <p:nvSpPr>
          <p:cNvPr id="3" name="Marcador de contenido 2">
            <a:extLst>
              <a:ext uri="{FF2B5EF4-FFF2-40B4-BE49-F238E27FC236}">
                <a16:creationId xmlns:a16="http://schemas.microsoft.com/office/drawing/2014/main" id="{8E62C38B-5384-914E-829A-352266F70B9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texto 3">
            <a:extLst>
              <a:ext uri="{FF2B5EF4-FFF2-40B4-BE49-F238E27FC236}">
                <a16:creationId xmlns:a16="http://schemas.microsoft.com/office/drawing/2014/main" id="{A79E434B-6E01-8148-AB00-051DDD4020A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6E3E8B8D-7A8A-794B-83A8-6920142BBBD1}"/>
              </a:ext>
            </a:extLst>
          </p:cNvPr>
          <p:cNvSpPr>
            <a:spLocks noGrp="1"/>
          </p:cNvSpPr>
          <p:nvPr>
            <p:ph type="dt" sz="half" idx="10"/>
          </p:nvPr>
        </p:nvSpPr>
        <p:spPr/>
        <p:txBody>
          <a:bodyPr/>
          <a:lstStyle/>
          <a:p>
            <a:fld id="{BD986248-06F7-A441-A47A-264EBD310E11}" type="datetimeFigureOut">
              <a:rPr lang="es-CO" smtClean="0"/>
              <a:t>18/08/2024</a:t>
            </a:fld>
            <a:endParaRPr lang="es-CO"/>
          </a:p>
        </p:txBody>
      </p:sp>
      <p:sp>
        <p:nvSpPr>
          <p:cNvPr id="6" name="Marcador de pie de página 5">
            <a:extLst>
              <a:ext uri="{FF2B5EF4-FFF2-40B4-BE49-F238E27FC236}">
                <a16:creationId xmlns:a16="http://schemas.microsoft.com/office/drawing/2014/main" id="{582F34C9-1A26-0B41-8AE3-21E599CC561A}"/>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782100B2-B969-0340-BEE2-F5FE05353DFA}"/>
              </a:ext>
            </a:extLst>
          </p:cNvPr>
          <p:cNvSpPr>
            <a:spLocks noGrp="1"/>
          </p:cNvSpPr>
          <p:nvPr>
            <p:ph type="sldNum" sz="quarter" idx="12"/>
          </p:nvPr>
        </p:nvSpPr>
        <p:spPr/>
        <p:txBody>
          <a:bodyPr/>
          <a:lstStyle/>
          <a:p>
            <a:fld id="{63E15DF6-230E-2E43-B847-68755106EC6D}" type="slidenum">
              <a:rPr lang="es-CO" smtClean="0"/>
              <a:t>‹Nº›</a:t>
            </a:fld>
            <a:endParaRPr lang="es-CO"/>
          </a:p>
        </p:txBody>
      </p:sp>
    </p:spTree>
    <p:extLst>
      <p:ext uri="{BB962C8B-B14F-4D97-AF65-F5344CB8AC3E}">
        <p14:creationId xmlns:p14="http://schemas.microsoft.com/office/powerpoint/2010/main" val="36971462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BADFDE3-8BDA-6F45-A442-3C2913AE5268}"/>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CO"/>
          </a:p>
        </p:txBody>
      </p:sp>
      <p:sp>
        <p:nvSpPr>
          <p:cNvPr id="3" name="Marcador de posición de imagen 2">
            <a:extLst>
              <a:ext uri="{FF2B5EF4-FFF2-40B4-BE49-F238E27FC236}">
                <a16:creationId xmlns:a16="http://schemas.microsoft.com/office/drawing/2014/main" id="{C08B3433-597C-7E43-A088-A50E4434313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CO"/>
          </a:p>
        </p:txBody>
      </p:sp>
      <p:sp>
        <p:nvSpPr>
          <p:cNvPr id="4" name="Marcador de texto 3">
            <a:extLst>
              <a:ext uri="{FF2B5EF4-FFF2-40B4-BE49-F238E27FC236}">
                <a16:creationId xmlns:a16="http://schemas.microsoft.com/office/drawing/2014/main" id="{A20DB791-C948-D149-A74A-0C0DFCA0B49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1145138C-C370-6E42-902A-0DD2F4F614AE}"/>
              </a:ext>
            </a:extLst>
          </p:cNvPr>
          <p:cNvSpPr>
            <a:spLocks noGrp="1"/>
          </p:cNvSpPr>
          <p:nvPr>
            <p:ph type="dt" sz="half" idx="10"/>
          </p:nvPr>
        </p:nvSpPr>
        <p:spPr/>
        <p:txBody>
          <a:bodyPr/>
          <a:lstStyle/>
          <a:p>
            <a:fld id="{BD986248-06F7-A441-A47A-264EBD310E11}" type="datetimeFigureOut">
              <a:rPr lang="es-CO" smtClean="0"/>
              <a:t>18/08/2024</a:t>
            </a:fld>
            <a:endParaRPr lang="es-CO"/>
          </a:p>
        </p:txBody>
      </p:sp>
      <p:sp>
        <p:nvSpPr>
          <p:cNvPr id="6" name="Marcador de pie de página 5">
            <a:extLst>
              <a:ext uri="{FF2B5EF4-FFF2-40B4-BE49-F238E27FC236}">
                <a16:creationId xmlns:a16="http://schemas.microsoft.com/office/drawing/2014/main" id="{9A61561C-CA9F-0943-8A3E-60233368C60D}"/>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67B72CA4-FB9F-FB4B-8159-119C3846C3CB}"/>
              </a:ext>
            </a:extLst>
          </p:cNvPr>
          <p:cNvSpPr>
            <a:spLocks noGrp="1"/>
          </p:cNvSpPr>
          <p:nvPr>
            <p:ph type="sldNum" sz="quarter" idx="12"/>
          </p:nvPr>
        </p:nvSpPr>
        <p:spPr/>
        <p:txBody>
          <a:bodyPr/>
          <a:lstStyle/>
          <a:p>
            <a:fld id="{63E15DF6-230E-2E43-B847-68755106EC6D}" type="slidenum">
              <a:rPr lang="es-CO" smtClean="0"/>
              <a:t>‹Nº›</a:t>
            </a:fld>
            <a:endParaRPr lang="es-CO"/>
          </a:p>
        </p:txBody>
      </p:sp>
    </p:spTree>
    <p:extLst>
      <p:ext uri="{BB962C8B-B14F-4D97-AF65-F5344CB8AC3E}">
        <p14:creationId xmlns:p14="http://schemas.microsoft.com/office/powerpoint/2010/main" val="10695029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8C07BF5-7EFA-9943-8CEE-7006AC893CB6}"/>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texto vertical 2">
            <a:extLst>
              <a:ext uri="{FF2B5EF4-FFF2-40B4-BE49-F238E27FC236}">
                <a16:creationId xmlns:a16="http://schemas.microsoft.com/office/drawing/2014/main" id="{BEFF53FB-B16B-7444-99CF-B7533C11E26D}"/>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0C9133D3-834D-0942-99DE-29F15E8DC436}"/>
              </a:ext>
            </a:extLst>
          </p:cNvPr>
          <p:cNvSpPr>
            <a:spLocks noGrp="1"/>
          </p:cNvSpPr>
          <p:nvPr>
            <p:ph type="dt" sz="half" idx="10"/>
          </p:nvPr>
        </p:nvSpPr>
        <p:spPr/>
        <p:txBody>
          <a:bodyPr/>
          <a:lstStyle/>
          <a:p>
            <a:fld id="{BD986248-06F7-A441-A47A-264EBD310E11}" type="datetimeFigureOut">
              <a:rPr lang="es-CO" smtClean="0"/>
              <a:t>18/08/2024</a:t>
            </a:fld>
            <a:endParaRPr lang="es-CO"/>
          </a:p>
        </p:txBody>
      </p:sp>
      <p:sp>
        <p:nvSpPr>
          <p:cNvPr id="5" name="Marcador de pie de página 4">
            <a:extLst>
              <a:ext uri="{FF2B5EF4-FFF2-40B4-BE49-F238E27FC236}">
                <a16:creationId xmlns:a16="http://schemas.microsoft.com/office/drawing/2014/main" id="{5A5A02E1-CB07-7943-ACA2-6FF8387D32DF}"/>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A12BC7A9-2B5F-1841-91C8-9460E3E551A3}"/>
              </a:ext>
            </a:extLst>
          </p:cNvPr>
          <p:cNvSpPr>
            <a:spLocks noGrp="1"/>
          </p:cNvSpPr>
          <p:nvPr>
            <p:ph type="sldNum" sz="quarter" idx="12"/>
          </p:nvPr>
        </p:nvSpPr>
        <p:spPr/>
        <p:txBody>
          <a:bodyPr/>
          <a:lstStyle/>
          <a:p>
            <a:fld id="{63E15DF6-230E-2E43-B847-68755106EC6D}" type="slidenum">
              <a:rPr lang="es-CO" smtClean="0"/>
              <a:t>‹Nº›</a:t>
            </a:fld>
            <a:endParaRPr lang="es-CO"/>
          </a:p>
        </p:txBody>
      </p:sp>
    </p:spTree>
    <p:extLst>
      <p:ext uri="{BB962C8B-B14F-4D97-AF65-F5344CB8AC3E}">
        <p14:creationId xmlns:p14="http://schemas.microsoft.com/office/powerpoint/2010/main" val="17114781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5C11DF48-6A7C-3349-8650-2AA87E5D5E66}"/>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CO"/>
          </a:p>
        </p:txBody>
      </p:sp>
      <p:sp>
        <p:nvSpPr>
          <p:cNvPr id="3" name="Marcador de texto vertical 2">
            <a:extLst>
              <a:ext uri="{FF2B5EF4-FFF2-40B4-BE49-F238E27FC236}">
                <a16:creationId xmlns:a16="http://schemas.microsoft.com/office/drawing/2014/main" id="{95D61C96-3D9F-F745-A812-5EC81CEB48F4}"/>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B3F61D3C-242D-F544-9883-3EEF515CE808}"/>
              </a:ext>
            </a:extLst>
          </p:cNvPr>
          <p:cNvSpPr>
            <a:spLocks noGrp="1"/>
          </p:cNvSpPr>
          <p:nvPr>
            <p:ph type="dt" sz="half" idx="10"/>
          </p:nvPr>
        </p:nvSpPr>
        <p:spPr/>
        <p:txBody>
          <a:bodyPr/>
          <a:lstStyle/>
          <a:p>
            <a:fld id="{BD986248-06F7-A441-A47A-264EBD310E11}" type="datetimeFigureOut">
              <a:rPr lang="es-CO" smtClean="0"/>
              <a:t>18/08/2024</a:t>
            </a:fld>
            <a:endParaRPr lang="es-CO"/>
          </a:p>
        </p:txBody>
      </p:sp>
      <p:sp>
        <p:nvSpPr>
          <p:cNvPr id="5" name="Marcador de pie de página 4">
            <a:extLst>
              <a:ext uri="{FF2B5EF4-FFF2-40B4-BE49-F238E27FC236}">
                <a16:creationId xmlns:a16="http://schemas.microsoft.com/office/drawing/2014/main" id="{CCAB2518-6961-A143-A5EE-C5606EBA4863}"/>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586FEAD3-1533-7A45-8011-C0C84A1DCD46}"/>
              </a:ext>
            </a:extLst>
          </p:cNvPr>
          <p:cNvSpPr>
            <a:spLocks noGrp="1"/>
          </p:cNvSpPr>
          <p:nvPr>
            <p:ph type="sldNum" sz="quarter" idx="12"/>
          </p:nvPr>
        </p:nvSpPr>
        <p:spPr/>
        <p:txBody>
          <a:bodyPr/>
          <a:lstStyle/>
          <a:p>
            <a:fld id="{63E15DF6-230E-2E43-B847-68755106EC6D}" type="slidenum">
              <a:rPr lang="es-CO" smtClean="0"/>
              <a:t>‹Nº›</a:t>
            </a:fld>
            <a:endParaRPr lang="es-CO"/>
          </a:p>
        </p:txBody>
      </p:sp>
    </p:spTree>
    <p:extLst>
      <p:ext uri="{BB962C8B-B14F-4D97-AF65-F5344CB8AC3E}">
        <p14:creationId xmlns:p14="http://schemas.microsoft.com/office/powerpoint/2010/main" val="338162162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Diseño personalizado">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0CE09D5-8681-04F4-0AD1-7206C3FF51F4}"/>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fecha 2">
            <a:extLst>
              <a:ext uri="{FF2B5EF4-FFF2-40B4-BE49-F238E27FC236}">
                <a16:creationId xmlns:a16="http://schemas.microsoft.com/office/drawing/2014/main" id="{8EB62C8D-42BE-8DF8-DDA7-6DDCB2389C42}"/>
              </a:ext>
            </a:extLst>
          </p:cNvPr>
          <p:cNvSpPr>
            <a:spLocks noGrp="1"/>
          </p:cNvSpPr>
          <p:nvPr>
            <p:ph type="dt" sz="half" idx="10"/>
          </p:nvPr>
        </p:nvSpPr>
        <p:spPr/>
        <p:txBody>
          <a:bodyPr/>
          <a:lstStyle/>
          <a:p>
            <a:fld id="{BD986248-06F7-A441-A47A-264EBD310E11}" type="datetimeFigureOut">
              <a:rPr lang="es-CO" smtClean="0"/>
              <a:t>18/08/2024</a:t>
            </a:fld>
            <a:endParaRPr lang="es-CO"/>
          </a:p>
        </p:txBody>
      </p:sp>
      <p:sp>
        <p:nvSpPr>
          <p:cNvPr id="4" name="Marcador de pie de página 3">
            <a:extLst>
              <a:ext uri="{FF2B5EF4-FFF2-40B4-BE49-F238E27FC236}">
                <a16:creationId xmlns:a16="http://schemas.microsoft.com/office/drawing/2014/main" id="{19F9D5C3-AD35-C818-D069-AB2D8EBBEEF8}"/>
              </a:ext>
            </a:extLst>
          </p:cNvPr>
          <p:cNvSpPr>
            <a:spLocks noGrp="1"/>
          </p:cNvSpPr>
          <p:nvPr>
            <p:ph type="ftr" sz="quarter" idx="11"/>
          </p:nvPr>
        </p:nvSpPr>
        <p:spPr/>
        <p:txBody>
          <a:bodyPr/>
          <a:lstStyle/>
          <a:p>
            <a:endParaRPr lang="es-CO"/>
          </a:p>
        </p:txBody>
      </p:sp>
      <p:sp>
        <p:nvSpPr>
          <p:cNvPr id="5" name="Marcador de número de diapositiva 4">
            <a:extLst>
              <a:ext uri="{FF2B5EF4-FFF2-40B4-BE49-F238E27FC236}">
                <a16:creationId xmlns:a16="http://schemas.microsoft.com/office/drawing/2014/main" id="{E106A169-E84D-2DE1-E7CC-7058F9C00ADE}"/>
              </a:ext>
            </a:extLst>
          </p:cNvPr>
          <p:cNvSpPr>
            <a:spLocks noGrp="1"/>
          </p:cNvSpPr>
          <p:nvPr>
            <p:ph type="sldNum" sz="quarter" idx="12"/>
          </p:nvPr>
        </p:nvSpPr>
        <p:spPr/>
        <p:txBody>
          <a:bodyPr/>
          <a:lstStyle/>
          <a:p>
            <a:fld id="{63E15DF6-230E-2E43-B847-68755106EC6D}" type="slidenum">
              <a:rPr lang="es-CO" smtClean="0"/>
              <a:t>‹Nº›</a:t>
            </a:fld>
            <a:endParaRPr lang="es-CO"/>
          </a:p>
        </p:txBody>
      </p:sp>
    </p:spTree>
    <p:extLst>
      <p:ext uri="{BB962C8B-B14F-4D97-AF65-F5344CB8AC3E}">
        <p14:creationId xmlns:p14="http://schemas.microsoft.com/office/powerpoint/2010/main" val="314565984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Diapositiva de título">
    <p:spTree>
      <p:nvGrpSpPr>
        <p:cNvPr id="1" name=""/>
        <p:cNvGrpSpPr/>
        <p:nvPr/>
      </p:nvGrpSpPr>
      <p:grpSpPr>
        <a:xfrm>
          <a:off x="0" y="0"/>
          <a:ext cx="0" cy="0"/>
          <a:chOff x="0" y="0"/>
          <a:chExt cx="0" cy="0"/>
        </a:xfrm>
      </p:grpSpPr>
      <p:pic>
        <p:nvPicPr>
          <p:cNvPr id="3" name="Imagen 2" descr="Interfaz de usuario gráfica, Texto, Aplicación&#10;&#10;Descripción generada automáticamente">
            <a:extLst>
              <a:ext uri="{FF2B5EF4-FFF2-40B4-BE49-F238E27FC236}">
                <a16:creationId xmlns:a16="http://schemas.microsoft.com/office/drawing/2014/main" id="{7DFF890D-F3AC-9928-32A3-F179DB21A0E8}"/>
              </a:ext>
            </a:extLst>
          </p:cNvPr>
          <p:cNvPicPr>
            <a:picLocks noChangeAspect="1"/>
          </p:cNvPicPr>
          <p:nvPr userDrawn="1"/>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358494692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C6EFFBE1-33C9-1D48-A916-7535B68EC67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CO"/>
          </a:p>
        </p:txBody>
      </p:sp>
      <p:sp>
        <p:nvSpPr>
          <p:cNvPr id="3" name="Marcador de texto 2">
            <a:extLst>
              <a:ext uri="{FF2B5EF4-FFF2-40B4-BE49-F238E27FC236}">
                <a16:creationId xmlns:a16="http://schemas.microsoft.com/office/drawing/2014/main" id="{F778E02A-26CF-6C46-A280-67C4AA05513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6CE7CDF9-2DDE-C04D-A9B9-78F138A1C3D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D986248-06F7-A441-A47A-264EBD310E11}" type="datetimeFigureOut">
              <a:rPr lang="es-CO" smtClean="0"/>
              <a:t>18/08/2024</a:t>
            </a:fld>
            <a:endParaRPr lang="es-CO"/>
          </a:p>
        </p:txBody>
      </p:sp>
      <p:sp>
        <p:nvSpPr>
          <p:cNvPr id="5" name="Marcador de pie de página 4">
            <a:extLst>
              <a:ext uri="{FF2B5EF4-FFF2-40B4-BE49-F238E27FC236}">
                <a16:creationId xmlns:a16="http://schemas.microsoft.com/office/drawing/2014/main" id="{767570B4-267C-034E-B58B-04C03C9E552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CO"/>
          </a:p>
        </p:txBody>
      </p:sp>
      <p:sp>
        <p:nvSpPr>
          <p:cNvPr id="6" name="Marcador de número de diapositiva 5">
            <a:extLst>
              <a:ext uri="{FF2B5EF4-FFF2-40B4-BE49-F238E27FC236}">
                <a16:creationId xmlns:a16="http://schemas.microsoft.com/office/drawing/2014/main" id="{5041693D-7DB1-1144-97E3-85753EC9A0C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3E15DF6-230E-2E43-B847-68755106EC6D}" type="slidenum">
              <a:rPr lang="es-CO" smtClean="0"/>
              <a:t>‹Nº›</a:t>
            </a:fld>
            <a:endParaRPr lang="es-CO"/>
          </a:p>
        </p:txBody>
      </p:sp>
    </p:spTree>
    <p:extLst>
      <p:ext uri="{BB962C8B-B14F-4D97-AF65-F5344CB8AC3E}">
        <p14:creationId xmlns:p14="http://schemas.microsoft.com/office/powerpoint/2010/main" val="306260940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75" r:id="rId12"/>
    <p:sldLayoutId id="2147483673"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hyperlink" Target="http://es.wikipedia.org/wiki/CRUD" TargetMode="Externa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uadroTexto 6"/>
          <p:cNvSpPr txBox="1"/>
          <p:nvPr/>
        </p:nvSpPr>
        <p:spPr>
          <a:xfrm>
            <a:off x="2869942" y="2201317"/>
            <a:ext cx="6453678" cy="707886"/>
          </a:xfrm>
          <a:prstGeom prst="rect">
            <a:avLst/>
          </a:prstGeom>
          <a:noFill/>
        </p:spPr>
        <p:txBody>
          <a:bodyPr wrap="square" rtlCol="0">
            <a:spAutoFit/>
          </a:bodyPr>
          <a:lstStyle/>
          <a:p>
            <a:pPr algn="ctr"/>
            <a:r>
              <a:rPr lang="en-001" sz="4000" b="1" dirty="0">
                <a:solidFill>
                  <a:schemeClr val="tx1">
                    <a:lumMod val="75000"/>
                    <a:lumOff val="25000"/>
                  </a:schemeClr>
                </a:solidFill>
                <a:latin typeface="Work Sans" pitchFamily="2" charset="77"/>
              </a:rPr>
              <a:t>Consumo API Rest</a:t>
            </a:r>
            <a:endParaRPr lang="es-ES" sz="4000" b="1" dirty="0">
              <a:solidFill>
                <a:schemeClr val="tx1">
                  <a:lumMod val="75000"/>
                  <a:lumOff val="25000"/>
                </a:schemeClr>
              </a:solidFill>
              <a:latin typeface="Work Sans" pitchFamily="2" charset="77"/>
            </a:endParaRPr>
          </a:p>
        </p:txBody>
      </p:sp>
      <p:sp>
        <p:nvSpPr>
          <p:cNvPr id="2" name="Rectángulo 1"/>
          <p:cNvSpPr/>
          <p:nvPr/>
        </p:nvSpPr>
        <p:spPr>
          <a:xfrm>
            <a:off x="3064021" y="3578275"/>
            <a:ext cx="6065520" cy="1200329"/>
          </a:xfrm>
          <a:prstGeom prst="rect">
            <a:avLst/>
          </a:prstGeom>
        </p:spPr>
        <p:txBody>
          <a:bodyPr wrap="square">
            <a:spAutoFit/>
          </a:bodyPr>
          <a:lstStyle/>
          <a:p>
            <a:pPr algn="ctr"/>
            <a:r>
              <a:rPr lang="en-001" sz="3600" b="1" dirty="0">
                <a:solidFill>
                  <a:srgbClr val="38AA00"/>
                </a:solidFill>
                <a:latin typeface="Work Sans" pitchFamily="2" charset="77"/>
              </a:rPr>
              <a:t>Instructor:</a:t>
            </a:r>
          </a:p>
          <a:p>
            <a:pPr algn="ctr"/>
            <a:r>
              <a:rPr lang="en-001" sz="3600" b="1" dirty="0">
                <a:solidFill>
                  <a:srgbClr val="00324D"/>
                </a:solidFill>
                <a:latin typeface="Work Sans" pitchFamily="2" charset="77"/>
              </a:rPr>
              <a:t>Carlos Daniel Gomez Daza</a:t>
            </a:r>
            <a:endParaRPr lang="es-ES" sz="3600" b="1" dirty="0">
              <a:solidFill>
                <a:srgbClr val="00324D"/>
              </a:solidFill>
              <a:latin typeface="Work Sans" pitchFamily="2" charset="77"/>
            </a:endParaRPr>
          </a:p>
        </p:txBody>
      </p:sp>
    </p:spTree>
    <p:extLst>
      <p:ext uri="{BB962C8B-B14F-4D97-AF65-F5344CB8AC3E}">
        <p14:creationId xmlns:p14="http://schemas.microsoft.com/office/powerpoint/2010/main" val="30796166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AC1D880-FC17-3789-2435-5FF7492EABD6}"/>
              </a:ext>
            </a:extLst>
          </p:cNvPr>
          <p:cNvSpPr>
            <a:spLocks noGrp="1"/>
          </p:cNvSpPr>
          <p:nvPr>
            <p:ph type="title"/>
          </p:nvPr>
        </p:nvSpPr>
        <p:spPr>
          <a:xfrm>
            <a:off x="456236" y="110481"/>
            <a:ext cx="10515600" cy="1325563"/>
          </a:xfrm>
        </p:spPr>
        <p:txBody>
          <a:bodyPr/>
          <a:lstStyle/>
          <a:p>
            <a:r>
              <a:rPr lang="en-001" dirty="0">
                <a:solidFill>
                  <a:schemeClr val="bg1"/>
                </a:solidFill>
                <a:latin typeface="Work Sans Medium" pitchFamily="2" charset="77"/>
              </a:rPr>
              <a:t>Que es una API? </a:t>
            </a:r>
            <a:endParaRPr lang="es-CO" dirty="0">
              <a:solidFill>
                <a:schemeClr val="bg1"/>
              </a:solidFill>
              <a:latin typeface="Work Sans Medium" pitchFamily="2" charset="77"/>
            </a:endParaRPr>
          </a:p>
        </p:txBody>
      </p:sp>
      <p:sp>
        <p:nvSpPr>
          <p:cNvPr id="4" name="Rectángulo 3"/>
          <p:cNvSpPr/>
          <p:nvPr/>
        </p:nvSpPr>
        <p:spPr>
          <a:xfrm>
            <a:off x="655320" y="1867376"/>
            <a:ext cx="6096000" cy="1477328"/>
          </a:xfrm>
          <a:prstGeom prst="rect">
            <a:avLst/>
          </a:prstGeom>
        </p:spPr>
        <p:txBody>
          <a:bodyPr>
            <a:spAutoFit/>
          </a:bodyPr>
          <a:lstStyle/>
          <a:p>
            <a:r>
              <a:rPr lang="es-ES" b="1" dirty="0">
                <a:solidFill>
                  <a:srgbClr val="333333"/>
                </a:solidFill>
                <a:latin typeface="Helvetica Neue"/>
              </a:rPr>
              <a:t>Qué es una API</a:t>
            </a:r>
          </a:p>
          <a:p>
            <a:pPr>
              <a:buFont typeface="Arial" panose="020B0604020202020204" pitchFamily="34" charset="0"/>
              <a:buChar char="•"/>
            </a:pPr>
            <a:r>
              <a:rPr lang="es-ES" dirty="0">
                <a:solidFill>
                  <a:srgbClr val="333333"/>
                </a:solidFill>
                <a:latin typeface="Helvetica Neue"/>
              </a:rPr>
              <a:t>Es una forma de describir la forma en que los programas o los sitios webs intercambian datos.</a:t>
            </a:r>
          </a:p>
          <a:p>
            <a:pPr>
              <a:buFont typeface="Arial" panose="020B0604020202020204" pitchFamily="34" charset="0"/>
              <a:buChar char="•"/>
            </a:pPr>
            <a:r>
              <a:rPr lang="es-ES" dirty="0">
                <a:solidFill>
                  <a:srgbClr val="333333"/>
                </a:solidFill>
                <a:latin typeface="Helvetica Neue"/>
              </a:rPr>
              <a:t>El formato de intercambio de datos normalmente es </a:t>
            </a:r>
            <a:r>
              <a:rPr lang="es-ES" b="1" dirty="0">
                <a:solidFill>
                  <a:srgbClr val="333333"/>
                </a:solidFill>
                <a:latin typeface="Helvetica Neue"/>
              </a:rPr>
              <a:t>JSON</a:t>
            </a:r>
            <a:r>
              <a:rPr lang="es-ES" dirty="0">
                <a:solidFill>
                  <a:srgbClr val="333333"/>
                </a:solidFill>
                <a:latin typeface="Helvetica Neue"/>
              </a:rPr>
              <a:t> o XML.</a:t>
            </a:r>
            <a:endParaRPr lang="es-ES" b="0" i="0" dirty="0">
              <a:solidFill>
                <a:srgbClr val="333333"/>
              </a:solidFill>
              <a:effectLst/>
              <a:latin typeface="Helvetica Neue"/>
            </a:endParaRPr>
          </a:p>
        </p:txBody>
      </p:sp>
      <p:sp>
        <p:nvSpPr>
          <p:cNvPr id="6" name="Rectángulo 5"/>
          <p:cNvSpPr/>
          <p:nvPr/>
        </p:nvSpPr>
        <p:spPr>
          <a:xfrm>
            <a:off x="655320" y="3953917"/>
            <a:ext cx="6096000" cy="1754326"/>
          </a:xfrm>
          <a:prstGeom prst="rect">
            <a:avLst/>
          </a:prstGeom>
        </p:spPr>
        <p:txBody>
          <a:bodyPr>
            <a:spAutoFit/>
          </a:bodyPr>
          <a:lstStyle/>
          <a:p>
            <a:r>
              <a:rPr lang="es-ES" b="1" dirty="0">
                <a:solidFill>
                  <a:srgbClr val="333333"/>
                </a:solidFill>
                <a:latin typeface="Helvetica Neue"/>
              </a:rPr>
              <a:t>¿Para qué necesitamos una API?</a:t>
            </a:r>
          </a:p>
          <a:p>
            <a:pPr>
              <a:buFont typeface="Arial" panose="020B0604020202020204" pitchFamily="34" charset="0"/>
              <a:buChar char="•"/>
            </a:pPr>
            <a:r>
              <a:rPr lang="es-ES" dirty="0">
                <a:solidFill>
                  <a:srgbClr val="333333"/>
                </a:solidFill>
                <a:latin typeface="Helvetica Neue"/>
              </a:rPr>
              <a:t>Ofrecer datos a aplicaciones que se ejecutan en un </a:t>
            </a:r>
            <a:r>
              <a:rPr lang="es-ES" dirty="0" err="1">
                <a:solidFill>
                  <a:srgbClr val="333333"/>
                </a:solidFill>
                <a:latin typeface="Helvetica Neue"/>
              </a:rPr>
              <a:t>movil</a:t>
            </a:r>
            <a:endParaRPr lang="es-ES" dirty="0">
              <a:solidFill>
                <a:srgbClr val="333333"/>
              </a:solidFill>
              <a:latin typeface="Helvetica Neue"/>
            </a:endParaRPr>
          </a:p>
          <a:p>
            <a:pPr>
              <a:buFont typeface="Arial" panose="020B0604020202020204" pitchFamily="34" charset="0"/>
              <a:buChar char="•"/>
            </a:pPr>
            <a:r>
              <a:rPr lang="es-ES" dirty="0">
                <a:solidFill>
                  <a:srgbClr val="333333"/>
                </a:solidFill>
                <a:latin typeface="Helvetica Neue"/>
              </a:rPr>
              <a:t>Ofrecer datos a otros desarrolladores con un formato más o menos estándar.</a:t>
            </a:r>
          </a:p>
          <a:p>
            <a:pPr>
              <a:buFont typeface="Arial" panose="020B0604020202020204" pitchFamily="34" charset="0"/>
              <a:buChar char="•"/>
            </a:pPr>
            <a:r>
              <a:rPr lang="es-ES" dirty="0">
                <a:solidFill>
                  <a:srgbClr val="333333"/>
                </a:solidFill>
                <a:latin typeface="Helvetica Neue"/>
              </a:rPr>
              <a:t>Ofrecer datos a nuestra propia web/aplicación</a:t>
            </a:r>
          </a:p>
          <a:p>
            <a:pPr>
              <a:buFont typeface="Arial" panose="020B0604020202020204" pitchFamily="34" charset="0"/>
              <a:buChar char="•"/>
            </a:pPr>
            <a:r>
              <a:rPr lang="es-ES" b="1" dirty="0">
                <a:solidFill>
                  <a:srgbClr val="333333"/>
                </a:solidFill>
                <a:latin typeface="Helvetica Neue"/>
              </a:rPr>
              <a:t>Consumir datos</a:t>
            </a:r>
            <a:r>
              <a:rPr lang="es-ES" dirty="0">
                <a:solidFill>
                  <a:srgbClr val="333333"/>
                </a:solidFill>
                <a:latin typeface="Helvetica Neue"/>
              </a:rPr>
              <a:t> de otras aplicaciones o sitios Web</a:t>
            </a:r>
            <a:endParaRPr lang="es-ES" b="0" i="0" dirty="0">
              <a:solidFill>
                <a:srgbClr val="333333"/>
              </a:solidFill>
              <a:effectLst/>
              <a:latin typeface="Helvetica Neue"/>
            </a:endParaRPr>
          </a:p>
        </p:txBody>
      </p:sp>
      <p:pic>
        <p:nvPicPr>
          <p:cNvPr id="7" name="Imagen 6"/>
          <p:cNvPicPr>
            <a:picLocks noChangeAspect="1"/>
          </p:cNvPicPr>
          <p:nvPr/>
        </p:nvPicPr>
        <p:blipFill>
          <a:blip r:embed="rId2"/>
          <a:stretch>
            <a:fillRect/>
          </a:stretch>
        </p:blipFill>
        <p:spPr>
          <a:xfrm>
            <a:off x="6751320" y="2552224"/>
            <a:ext cx="5120641" cy="2546657"/>
          </a:xfrm>
          <a:prstGeom prst="rect">
            <a:avLst/>
          </a:prstGeom>
        </p:spPr>
      </p:pic>
    </p:spTree>
    <p:extLst>
      <p:ext uri="{BB962C8B-B14F-4D97-AF65-F5344CB8AC3E}">
        <p14:creationId xmlns:p14="http://schemas.microsoft.com/office/powerpoint/2010/main" val="396812443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AC1D880-FC17-3789-2435-5FF7492EABD6}"/>
              </a:ext>
            </a:extLst>
          </p:cNvPr>
          <p:cNvSpPr>
            <a:spLocks noGrp="1"/>
          </p:cNvSpPr>
          <p:nvPr>
            <p:ph type="title"/>
          </p:nvPr>
        </p:nvSpPr>
        <p:spPr>
          <a:xfrm>
            <a:off x="456236" y="110481"/>
            <a:ext cx="10515600" cy="1325563"/>
          </a:xfrm>
        </p:spPr>
        <p:txBody>
          <a:bodyPr/>
          <a:lstStyle/>
          <a:p>
            <a:r>
              <a:rPr lang="en-001" dirty="0">
                <a:solidFill>
                  <a:schemeClr val="bg1"/>
                </a:solidFill>
                <a:latin typeface="Work Sans Medium" pitchFamily="2" charset="77"/>
              </a:rPr>
              <a:t> </a:t>
            </a:r>
            <a:r>
              <a:rPr lang="es-ES" dirty="0">
                <a:solidFill>
                  <a:schemeClr val="bg1"/>
                </a:solidFill>
                <a:latin typeface="Work Sans Medium" pitchFamily="2" charset="77"/>
              </a:rPr>
              <a:t>¿Para qué necesitamos una API?</a:t>
            </a:r>
            <a:endParaRPr lang="es-CO" dirty="0">
              <a:solidFill>
                <a:schemeClr val="bg1"/>
              </a:solidFill>
              <a:latin typeface="Work Sans Medium" pitchFamily="2" charset="77"/>
            </a:endParaRPr>
          </a:p>
        </p:txBody>
      </p:sp>
      <p:sp>
        <p:nvSpPr>
          <p:cNvPr id="4" name="Rectángulo 3"/>
          <p:cNvSpPr/>
          <p:nvPr/>
        </p:nvSpPr>
        <p:spPr>
          <a:xfrm>
            <a:off x="655320" y="1867376"/>
            <a:ext cx="6096000" cy="646331"/>
          </a:xfrm>
          <a:prstGeom prst="rect">
            <a:avLst/>
          </a:prstGeom>
        </p:spPr>
        <p:txBody>
          <a:bodyPr>
            <a:spAutoFit/>
          </a:bodyPr>
          <a:lstStyle/>
          <a:p>
            <a:endParaRPr lang="es-ES" b="1" dirty="0">
              <a:solidFill>
                <a:srgbClr val="333333"/>
              </a:solidFill>
              <a:latin typeface="Helvetica Neue"/>
            </a:endParaRPr>
          </a:p>
          <a:p>
            <a:r>
              <a:rPr lang="es-ES" dirty="0">
                <a:solidFill>
                  <a:srgbClr val="333333"/>
                </a:solidFill>
                <a:latin typeface="Helvetica Neue"/>
              </a:rPr>
              <a:t>.</a:t>
            </a:r>
            <a:endParaRPr lang="es-ES" b="0" i="0" dirty="0">
              <a:solidFill>
                <a:srgbClr val="333333"/>
              </a:solidFill>
              <a:effectLst/>
              <a:latin typeface="Helvetica Neue"/>
            </a:endParaRPr>
          </a:p>
        </p:txBody>
      </p:sp>
      <p:pic>
        <p:nvPicPr>
          <p:cNvPr id="7" name="Imagen 6"/>
          <p:cNvPicPr>
            <a:picLocks noChangeAspect="1"/>
          </p:cNvPicPr>
          <p:nvPr/>
        </p:nvPicPr>
        <p:blipFill>
          <a:blip r:embed="rId2"/>
          <a:stretch>
            <a:fillRect/>
          </a:stretch>
        </p:blipFill>
        <p:spPr>
          <a:xfrm>
            <a:off x="6751320" y="2552224"/>
            <a:ext cx="5120641" cy="2546657"/>
          </a:xfrm>
          <a:prstGeom prst="rect">
            <a:avLst/>
          </a:prstGeom>
        </p:spPr>
      </p:pic>
      <p:sp>
        <p:nvSpPr>
          <p:cNvPr id="3" name="Rectángulo 2"/>
          <p:cNvSpPr/>
          <p:nvPr/>
        </p:nvSpPr>
        <p:spPr>
          <a:xfrm>
            <a:off x="655320" y="1917753"/>
            <a:ext cx="6096000" cy="1477328"/>
          </a:xfrm>
          <a:prstGeom prst="rect">
            <a:avLst/>
          </a:prstGeom>
        </p:spPr>
        <p:txBody>
          <a:bodyPr>
            <a:spAutoFit/>
          </a:bodyPr>
          <a:lstStyle/>
          <a:p>
            <a:pPr algn="just">
              <a:buFont typeface="Arial" panose="020B0604020202020204" pitchFamily="34" charset="0"/>
              <a:buChar char="•"/>
            </a:pPr>
            <a:r>
              <a:rPr lang="es-ES" dirty="0">
                <a:solidFill>
                  <a:srgbClr val="333333"/>
                </a:solidFill>
                <a:latin typeface="Helvetica Neue"/>
              </a:rPr>
              <a:t>Ofrecer datos a aplicaciones que se ejecutan en un </a:t>
            </a:r>
            <a:r>
              <a:rPr lang="es-ES" dirty="0" err="1">
                <a:solidFill>
                  <a:srgbClr val="333333"/>
                </a:solidFill>
                <a:latin typeface="Helvetica Neue"/>
              </a:rPr>
              <a:t>movil</a:t>
            </a:r>
            <a:endParaRPr lang="es-ES" dirty="0">
              <a:solidFill>
                <a:srgbClr val="333333"/>
              </a:solidFill>
              <a:latin typeface="Helvetica Neue"/>
            </a:endParaRPr>
          </a:p>
          <a:p>
            <a:pPr algn="just">
              <a:buFont typeface="Arial" panose="020B0604020202020204" pitchFamily="34" charset="0"/>
              <a:buChar char="•"/>
            </a:pPr>
            <a:r>
              <a:rPr lang="es-ES" dirty="0">
                <a:solidFill>
                  <a:srgbClr val="333333"/>
                </a:solidFill>
                <a:latin typeface="Helvetica Neue"/>
              </a:rPr>
              <a:t>Ofrecer datos a otros desarrolladores con un formato más o menos estándar.</a:t>
            </a:r>
          </a:p>
          <a:p>
            <a:pPr algn="just">
              <a:buFont typeface="Arial" panose="020B0604020202020204" pitchFamily="34" charset="0"/>
              <a:buChar char="•"/>
            </a:pPr>
            <a:r>
              <a:rPr lang="es-ES" dirty="0">
                <a:solidFill>
                  <a:srgbClr val="333333"/>
                </a:solidFill>
                <a:latin typeface="Helvetica Neue"/>
              </a:rPr>
              <a:t>Ofrecer datos a nuestra propia web/aplicación</a:t>
            </a:r>
          </a:p>
          <a:p>
            <a:pPr algn="just">
              <a:buFont typeface="Arial" panose="020B0604020202020204" pitchFamily="34" charset="0"/>
              <a:buChar char="•"/>
            </a:pPr>
            <a:r>
              <a:rPr lang="es-ES" b="1" dirty="0">
                <a:solidFill>
                  <a:srgbClr val="333333"/>
                </a:solidFill>
                <a:latin typeface="Helvetica Neue"/>
              </a:rPr>
              <a:t>Consumir datos</a:t>
            </a:r>
            <a:r>
              <a:rPr lang="es-ES" dirty="0">
                <a:solidFill>
                  <a:srgbClr val="333333"/>
                </a:solidFill>
                <a:latin typeface="Helvetica Neue"/>
              </a:rPr>
              <a:t> de otras aplicaciones o sitios Web</a:t>
            </a:r>
            <a:endParaRPr lang="es-ES" b="0" i="0" dirty="0">
              <a:solidFill>
                <a:srgbClr val="333333"/>
              </a:solidFill>
              <a:effectLst/>
              <a:latin typeface="Helvetica Neue"/>
            </a:endParaRPr>
          </a:p>
        </p:txBody>
      </p:sp>
      <p:sp>
        <p:nvSpPr>
          <p:cNvPr id="5" name="Rectángulo 4"/>
          <p:cNvSpPr/>
          <p:nvPr/>
        </p:nvSpPr>
        <p:spPr>
          <a:xfrm>
            <a:off x="655320" y="4082354"/>
            <a:ext cx="6096000" cy="2862322"/>
          </a:xfrm>
          <a:prstGeom prst="rect">
            <a:avLst/>
          </a:prstGeom>
        </p:spPr>
        <p:txBody>
          <a:bodyPr>
            <a:spAutoFit/>
          </a:bodyPr>
          <a:lstStyle/>
          <a:p>
            <a:pPr algn="just">
              <a:buFont typeface="Arial" panose="020B0604020202020204" pitchFamily="34" charset="0"/>
              <a:buChar char="•"/>
            </a:pPr>
            <a:r>
              <a:rPr lang="es-ES" dirty="0">
                <a:solidFill>
                  <a:srgbClr val="333333"/>
                </a:solidFill>
                <a:latin typeface="Helvetica Neue"/>
              </a:rPr>
              <a:t>REST viene de, </a:t>
            </a:r>
            <a:r>
              <a:rPr lang="es-ES" b="1" dirty="0" err="1">
                <a:solidFill>
                  <a:srgbClr val="333333"/>
                </a:solidFill>
                <a:latin typeface="Helvetica Neue"/>
              </a:rPr>
              <a:t>RE</a:t>
            </a:r>
            <a:r>
              <a:rPr lang="es-ES" dirty="0" err="1">
                <a:solidFill>
                  <a:srgbClr val="333333"/>
                </a:solidFill>
                <a:latin typeface="Helvetica Neue"/>
              </a:rPr>
              <a:t>presentational</a:t>
            </a:r>
            <a:r>
              <a:rPr lang="es-ES" dirty="0">
                <a:solidFill>
                  <a:srgbClr val="333333"/>
                </a:solidFill>
                <a:latin typeface="Helvetica Neue"/>
              </a:rPr>
              <a:t> </a:t>
            </a:r>
            <a:r>
              <a:rPr lang="es-ES" b="1" dirty="0" err="1">
                <a:solidFill>
                  <a:srgbClr val="333333"/>
                </a:solidFill>
                <a:latin typeface="Helvetica Neue"/>
              </a:rPr>
              <a:t>S</a:t>
            </a:r>
            <a:r>
              <a:rPr lang="es-ES" dirty="0" err="1">
                <a:solidFill>
                  <a:srgbClr val="333333"/>
                </a:solidFill>
                <a:latin typeface="Helvetica Neue"/>
              </a:rPr>
              <a:t>tate</a:t>
            </a:r>
            <a:r>
              <a:rPr lang="es-ES" dirty="0">
                <a:solidFill>
                  <a:srgbClr val="333333"/>
                </a:solidFill>
                <a:latin typeface="Helvetica Neue"/>
              </a:rPr>
              <a:t> </a:t>
            </a:r>
            <a:r>
              <a:rPr lang="es-ES" b="1" dirty="0">
                <a:solidFill>
                  <a:srgbClr val="333333"/>
                </a:solidFill>
                <a:latin typeface="Helvetica Neue"/>
              </a:rPr>
              <a:t>T</a:t>
            </a:r>
            <a:r>
              <a:rPr lang="es-ES" dirty="0">
                <a:solidFill>
                  <a:srgbClr val="333333"/>
                </a:solidFill>
                <a:latin typeface="Helvetica Neue"/>
              </a:rPr>
              <a:t>ransfer</a:t>
            </a:r>
          </a:p>
          <a:p>
            <a:pPr algn="just">
              <a:buFont typeface="Arial" panose="020B0604020202020204" pitchFamily="34" charset="0"/>
              <a:buChar char="•"/>
            </a:pPr>
            <a:r>
              <a:rPr lang="es-ES" dirty="0">
                <a:solidFill>
                  <a:srgbClr val="333333"/>
                </a:solidFill>
                <a:latin typeface="Helvetica Neue"/>
              </a:rPr>
              <a:t>Es un tipo de arquitectura de desarrollo web que se apoya totalmente en el estándar HTTP.</a:t>
            </a:r>
          </a:p>
          <a:p>
            <a:pPr algn="just">
              <a:buFont typeface="Arial" panose="020B0604020202020204" pitchFamily="34" charset="0"/>
              <a:buChar char="•"/>
            </a:pPr>
            <a:r>
              <a:rPr lang="es-ES" dirty="0">
                <a:solidFill>
                  <a:srgbClr val="333333"/>
                </a:solidFill>
                <a:latin typeface="Helvetica Neue"/>
              </a:rPr>
              <a:t>REST se compone de una lista de reglas que se deben cumplir en el diseño de la arquitectura de una API.</a:t>
            </a:r>
          </a:p>
          <a:p>
            <a:pPr algn="just">
              <a:buFont typeface="Arial" panose="020B0604020202020204" pitchFamily="34" charset="0"/>
              <a:buChar char="•"/>
            </a:pPr>
            <a:r>
              <a:rPr lang="es-ES" dirty="0">
                <a:solidFill>
                  <a:srgbClr val="333333"/>
                </a:solidFill>
                <a:latin typeface="Helvetica Neue"/>
              </a:rPr>
              <a:t>Hablaremos de </a:t>
            </a:r>
            <a:r>
              <a:rPr lang="es-ES" b="1" dirty="0">
                <a:solidFill>
                  <a:srgbClr val="333333"/>
                </a:solidFill>
                <a:latin typeface="Helvetica Neue"/>
              </a:rPr>
              <a:t>servicios web </a:t>
            </a:r>
            <a:r>
              <a:rPr lang="es-ES" b="1" dirty="0" err="1">
                <a:solidFill>
                  <a:srgbClr val="333333"/>
                </a:solidFill>
                <a:latin typeface="Helvetica Neue"/>
              </a:rPr>
              <a:t>restful</a:t>
            </a:r>
            <a:r>
              <a:rPr lang="es-ES" dirty="0">
                <a:solidFill>
                  <a:srgbClr val="333333"/>
                </a:solidFill>
                <a:latin typeface="Helvetica Neue"/>
              </a:rPr>
              <a:t> si cumplen la arquitectura REST.</a:t>
            </a:r>
          </a:p>
          <a:p>
            <a:pPr algn="just">
              <a:buFont typeface="Arial" panose="020B0604020202020204" pitchFamily="34" charset="0"/>
              <a:buChar char="•"/>
            </a:pPr>
            <a:r>
              <a:rPr lang="es-ES" dirty="0" err="1">
                <a:solidFill>
                  <a:srgbClr val="333333"/>
                </a:solidFill>
                <a:latin typeface="Helvetica Neue"/>
              </a:rPr>
              <a:t>Restful</a:t>
            </a:r>
            <a:r>
              <a:rPr lang="es-ES" dirty="0">
                <a:solidFill>
                  <a:srgbClr val="333333"/>
                </a:solidFill>
                <a:latin typeface="Helvetica Neue"/>
              </a:rPr>
              <a:t> = adjetivo, </a:t>
            </a:r>
            <a:r>
              <a:rPr lang="es-ES" dirty="0" err="1">
                <a:solidFill>
                  <a:srgbClr val="333333"/>
                </a:solidFill>
                <a:latin typeface="Helvetica Neue"/>
              </a:rPr>
              <a:t>Rest</a:t>
            </a:r>
            <a:r>
              <a:rPr lang="es-ES" dirty="0">
                <a:solidFill>
                  <a:srgbClr val="333333"/>
                </a:solidFill>
                <a:latin typeface="Helvetica Neue"/>
              </a:rPr>
              <a:t> = Nombre</a:t>
            </a:r>
          </a:p>
          <a:p>
            <a:pPr algn="just"/>
            <a:br>
              <a:rPr lang="es-ES" dirty="0"/>
            </a:br>
            <a:endParaRPr lang="es-CO" dirty="0"/>
          </a:p>
        </p:txBody>
      </p:sp>
      <p:sp>
        <p:nvSpPr>
          <p:cNvPr id="8" name="Rectángulo 7"/>
          <p:cNvSpPr/>
          <p:nvPr/>
        </p:nvSpPr>
        <p:spPr>
          <a:xfrm>
            <a:off x="655320" y="3734080"/>
            <a:ext cx="2753703" cy="369332"/>
          </a:xfrm>
          <a:prstGeom prst="rect">
            <a:avLst/>
          </a:prstGeom>
        </p:spPr>
        <p:txBody>
          <a:bodyPr wrap="none">
            <a:spAutoFit/>
          </a:bodyPr>
          <a:lstStyle/>
          <a:p>
            <a:r>
              <a:rPr lang="es-CO" b="1" dirty="0">
                <a:solidFill>
                  <a:srgbClr val="333333"/>
                </a:solidFill>
                <a:latin typeface="Helvetica Neue"/>
              </a:rPr>
              <a:t>Qué significa API REST</a:t>
            </a:r>
            <a:endParaRPr lang="es-CO" b="1" i="0" dirty="0">
              <a:solidFill>
                <a:srgbClr val="333333"/>
              </a:solidFill>
              <a:effectLst/>
              <a:latin typeface="Helvetica Neue"/>
            </a:endParaRPr>
          </a:p>
        </p:txBody>
      </p:sp>
    </p:spTree>
    <p:extLst>
      <p:ext uri="{BB962C8B-B14F-4D97-AF65-F5344CB8AC3E}">
        <p14:creationId xmlns:p14="http://schemas.microsoft.com/office/powerpoint/2010/main" val="14509492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AC1D880-FC17-3789-2435-5FF7492EABD6}"/>
              </a:ext>
            </a:extLst>
          </p:cNvPr>
          <p:cNvSpPr>
            <a:spLocks noGrp="1"/>
          </p:cNvSpPr>
          <p:nvPr>
            <p:ph type="title"/>
          </p:nvPr>
        </p:nvSpPr>
        <p:spPr>
          <a:xfrm>
            <a:off x="456236" y="110481"/>
            <a:ext cx="10515600" cy="1325563"/>
          </a:xfrm>
        </p:spPr>
        <p:txBody>
          <a:bodyPr/>
          <a:lstStyle/>
          <a:p>
            <a:r>
              <a:rPr lang="en-001" dirty="0">
                <a:solidFill>
                  <a:schemeClr val="bg1"/>
                </a:solidFill>
                <a:latin typeface="Work Sans Medium" pitchFamily="2" charset="77"/>
              </a:rPr>
              <a:t> </a:t>
            </a:r>
            <a:r>
              <a:rPr lang="es-ES" dirty="0">
                <a:solidFill>
                  <a:schemeClr val="bg1"/>
                </a:solidFill>
                <a:latin typeface="Work Sans Medium" pitchFamily="2" charset="77"/>
              </a:rPr>
              <a:t>¿</a:t>
            </a:r>
            <a:r>
              <a:rPr lang="en-001" dirty="0">
                <a:solidFill>
                  <a:schemeClr val="bg1"/>
                </a:solidFill>
                <a:latin typeface="Work Sans Medium" pitchFamily="2" charset="77"/>
              </a:rPr>
              <a:t>Como funciona API Rest</a:t>
            </a:r>
            <a:r>
              <a:rPr lang="es-ES" dirty="0">
                <a:solidFill>
                  <a:schemeClr val="bg1"/>
                </a:solidFill>
                <a:latin typeface="Work Sans Medium" pitchFamily="2" charset="77"/>
              </a:rPr>
              <a:t>?</a:t>
            </a:r>
            <a:endParaRPr lang="es-CO" dirty="0">
              <a:solidFill>
                <a:schemeClr val="bg1"/>
              </a:solidFill>
              <a:latin typeface="Work Sans Medium" pitchFamily="2" charset="77"/>
            </a:endParaRPr>
          </a:p>
        </p:txBody>
      </p:sp>
      <p:sp>
        <p:nvSpPr>
          <p:cNvPr id="4" name="Rectángulo 3"/>
          <p:cNvSpPr/>
          <p:nvPr/>
        </p:nvSpPr>
        <p:spPr>
          <a:xfrm>
            <a:off x="655320" y="1867376"/>
            <a:ext cx="6096000" cy="646331"/>
          </a:xfrm>
          <a:prstGeom prst="rect">
            <a:avLst/>
          </a:prstGeom>
        </p:spPr>
        <p:txBody>
          <a:bodyPr>
            <a:spAutoFit/>
          </a:bodyPr>
          <a:lstStyle/>
          <a:p>
            <a:endParaRPr lang="es-ES" b="1" dirty="0">
              <a:solidFill>
                <a:srgbClr val="333333"/>
              </a:solidFill>
              <a:latin typeface="Helvetica Neue"/>
            </a:endParaRPr>
          </a:p>
          <a:p>
            <a:r>
              <a:rPr lang="es-ES" dirty="0">
                <a:solidFill>
                  <a:srgbClr val="333333"/>
                </a:solidFill>
                <a:latin typeface="Helvetica Neue"/>
              </a:rPr>
              <a:t>.</a:t>
            </a:r>
            <a:endParaRPr lang="es-ES" b="0" i="0" dirty="0">
              <a:solidFill>
                <a:srgbClr val="333333"/>
              </a:solidFill>
              <a:effectLst/>
              <a:latin typeface="Helvetica Neue"/>
            </a:endParaRPr>
          </a:p>
        </p:txBody>
      </p:sp>
      <p:pic>
        <p:nvPicPr>
          <p:cNvPr id="7" name="Imagen 6"/>
          <p:cNvPicPr>
            <a:picLocks noChangeAspect="1"/>
          </p:cNvPicPr>
          <p:nvPr/>
        </p:nvPicPr>
        <p:blipFill>
          <a:blip r:embed="rId2"/>
          <a:stretch>
            <a:fillRect/>
          </a:stretch>
        </p:blipFill>
        <p:spPr>
          <a:xfrm>
            <a:off x="6751320" y="2552224"/>
            <a:ext cx="5120641" cy="2546657"/>
          </a:xfrm>
          <a:prstGeom prst="rect">
            <a:avLst/>
          </a:prstGeom>
        </p:spPr>
      </p:pic>
      <p:sp>
        <p:nvSpPr>
          <p:cNvPr id="9" name="Rectángulo 8"/>
          <p:cNvSpPr/>
          <p:nvPr/>
        </p:nvSpPr>
        <p:spPr>
          <a:xfrm>
            <a:off x="1005840" y="2190541"/>
            <a:ext cx="6096000" cy="3693319"/>
          </a:xfrm>
          <a:prstGeom prst="rect">
            <a:avLst/>
          </a:prstGeom>
        </p:spPr>
        <p:txBody>
          <a:bodyPr>
            <a:spAutoFit/>
          </a:bodyPr>
          <a:lstStyle/>
          <a:p>
            <a:r>
              <a:rPr lang="es-ES" dirty="0"/>
              <a:t>Las llamadas al API se implementan como peticiones HTTP, en las que:</a:t>
            </a:r>
          </a:p>
          <a:p>
            <a:endParaRPr lang="es-ES" dirty="0"/>
          </a:p>
          <a:p>
            <a:pPr marL="285750" indent="-285750">
              <a:buFont typeface="Arial" panose="020B0604020202020204" pitchFamily="34" charset="0"/>
              <a:buChar char="•"/>
            </a:pPr>
            <a:r>
              <a:rPr lang="es-ES" dirty="0"/>
              <a:t>La URL representa el recurso</a:t>
            </a:r>
          </a:p>
          <a:p>
            <a:r>
              <a:rPr lang="es-ES" dirty="0"/>
              <a:t>http://www.formandome.es/api/cursos/1</a:t>
            </a:r>
          </a:p>
          <a:p>
            <a:endParaRPr lang="en-001" dirty="0"/>
          </a:p>
          <a:p>
            <a:pPr marL="285750" indent="-285750">
              <a:buFont typeface="Arial" panose="020B0604020202020204" pitchFamily="34" charset="0"/>
              <a:buChar char="•"/>
            </a:pPr>
            <a:r>
              <a:rPr lang="es-ES" dirty="0"/>
              <a:t>El método (HTTP </a:t>
            </a:r>
            <a:r>
              <a:rPr lang="es-ES" dirty="0" err="1"/>
              <a:t>Verbs</a:t>
            </a:r>
            <a:r>
              <a:rPr lang="es-ES" dirty="0"/>
              <a:t>) representa la operación:</a:t>
            </a:r>
          </a:p>
          <a:p>
            <a:endParaRPr lang="es-ES" dirty="0"/>
          </a:p>
          <a:p>
            <a:r>
              <a:rPr lang="es-ES" dirty="0"/>
              <a:t>GET http://www.formandome.es/api/cursos/1</a:t>
            </a:r>
          </a:p>
          <a:p>
            <a:endParaRPr lang="en-001" dirty="0"/>
          </a:p>
          <a:p>
            <a:pPr marL="285750" indent="-285750">
              <a:buFont typeface="Arial" panose="020B0604020202020204" pitchFamily="34" charset="0"/>
              <a:buChar char="•"/>
            </a:pPr>
            <a:r>
              <a:rPr lang="es-ES" dirty="0"/>
              <a:t>El código de estado HTTP representa el resultado:</a:t>
            </a:r>
          </a:p>
          <a:p>
            <a:r>
              <a:rPr lang="es-ES" dirty="0"/>
              <a:t>200 OK HTTP/1.1</a:t>
            </a:r>
          </a:p>
          <a:p>
            <a:r>
              <a:rPr lang="es-ES" dirty="0"/>
              <a:t>404 NOT FOUND HTTP/1.1</a:t>
            </a:r>
            <a:endParaRPr lang="es-CO" dirty="0"/>
          </a:p>
        </p:txBody>
      </p:sp>
    </p:spTree>
    <p:extLst>
      <p:ext uri="{BB962C8B-B14F-4D97-AF65-F5344CB8AC3E}">
        <p14:creationId xmlns:p14="http://schemas.microsoft.com/office/powerpoint/2010/main" val="6075685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AC1D880-FC17-3789-2435-5FF7492EABD6}"/>
              </a:ext>
            </a:extLst>
          </p:cNvPr>
          <p:cNvSpPr>
            <a:spLocks noGrp="1"/>
          </p:cNvSpPr>
          <p:nvPr>
            <p:ph type="title"/>
          </p:nvPr>
        </p:nvSpPr>
        <p:spPr>
          <a:xfrm>
            <a:off x="456236" y="110481"/>
            <a:ext cx="10515600" cy="1325563"/>
          </a:xfrm>
        </p:spPr>
        <p:txBody>
          <a:bodyPr/>
          <a:lstStyle/>
          <a:p>
            <a:r>
              <a:rPr lang="en-001" dirty="0">
                <a:solidFill>
                  <a:schemeClr val="bg1"/>
                </a:solidFill>
                <a:latin typeface="Work Sans Medium" pitchFamily="2" charset="77"/>
              </a:rPr>
              <a:t> </a:t>
            </a:r>
            <a:r>
              <a:rPr lang="es-CO" dirty="0">
                <a:solidFill>
                  <a:schemeClr val="bg1"/>
                </a:solidFill>
                <a:latin typeface="Work Sans Medium" pitchFamily="2" charset="77"/>
              </a:rPr>
              <a:t>HTTP </a:t>
            </a:r>
            <a:r>
              <a:rPr lang="es-CO" dirty="0" err="1">
                <a:solidFill>
                  <a:schemeClr val="bg1"/>
                </a:solidFill>
                <a:latin typeface="Work Sans Medium" pitchFamily="2" charset="77"/>
              </a:rPr>
              <a:t>verbs</a:t>
            </a:r>
            <a:endParaRPr lang="es-CO" dirty="0">
              <a:solidFill>
                <a:schemeClr val="bg1"/>
              </a:solidFill>
              <a:latin typeface="Work Sans Medium" pitchFamily="2" charset="77"/>
            </a:endParaRPr>
          </a:p>
        </p:txBody>
      </p:sp>
      <p:sp>
        <p:nvSpPr>
          <p:cNvPr id="4" name="Rectángulo 3"/>
          <p:cNvSpPr/>
          <p:nvPr/>
        </p:nvSpPr>
        <p:spPr>
          <a:xfrm>
            <a:off x="655320" y="1867376"/>
            <a:ext cx="6096000" cy="646331"/>
          </a:xfrm>
          <a:prstGeom prst="rect">
            <a:avLst/>
          </a:prstGeom>
        </p:spPr>
        <p:txBody>
          <a:bodyPr>
            <a:spAutoFit/>
          </a:bodyPr>
          <a:lstStyle/>
          <a:p>
            <a:endParaRPr lang="es-ES" b="1" dirty="0">
              <a:solidFill>
                <a:srgbClr val="333333"/>
              </a:solidFill>
              <a:latin typeface="Helvetica Neue"/>
            </a:endParaRPr>
          </a:p>
          <a:p>
            <a:r>
              <a:rPr lang="es-ES" dirty="0">
                <a:solidFill>
                  <a:srgbClr val="333333"/>
                </a:solidFill>
                <a:latin typeface="Helvetica Neue"/>
              </a:rPr>
              <a:t>.</a:t>
            </a:r>
            <a:endParaRPr lang="es-ES" b="0" i="0" dirty="0">
              <a:solidFill>
                <a:srgbClr val="333333"/>
              </a:solidFill>
              <a:effectLst/>
              <a:latin typeface="Helvetica Neue"/>
            </a:endParaRPr>
          </a:p>
        </p:txBody>
      </p:sp>
      <p:sp>
        <p:nvSpPr>
          <p:cNvPr id="9" name="Rectángulo 8"/>
          <p:cNvSpPr/>
          <p:nvPr/>
        </p:nvSpPr>
        <p:spPr>
          <a:xfrm>
            <a:off x="1005840" y="2190541"/>
            <a:ext cx="6096000" cy="2862322"/>
          </a:xfrm>
          <a:prstGeom prst="rect">
            <a:avLst/>
          </a:prstGeom>
        </p:spPr>
        <p:txBody>
          <a:bodyPr>
            <a:spAutoFit/>
          </a:bodyPr>
          <a:lstStyle/>
          <a:p>
            <a:r>
              <a:rPr lang="es-ES" sz="2000" dirty="0"/>
              <a:t>Si realizamos </a:t>
            </a:r>
            <a:r>
              <a:rPr lang="es-ES" sz="2000" dirty="0">
                <a:hlinkClick r:id="rId2"/>
              </a:rPr>
              <a:t>CRUD</a:t>
            </a:r>
            <a:r>
              <a:rPr lang="es-ES" sz="2000" dirty="0"/>
              <a:t>, debemos utilizar los HTTP </a:t>
            </a:r>
            <a:r>
              <a:rPr lang="es-ES" sz="2000" dirty="0" err="1"/>
              <a:t>verbs</a:t>
            </a:r>
            <a:r>
              <a:rPr lang="es-ES" sz="2000" dirty="0"/>
              <a:t> de forma adecuada para cuidar la semántica.</a:t>
            </a:r>
          </a:p>
          <a:p>
            <a:pPr lvl="1"/>
            <a:r>
              <a:rPr lang="es-ES" sz="2000" i="1" dirty="0"/>
              <a:t>GET</a:t>
            </a:r>
            <a:r>
              <a:rPr lang="es-ES" sz="2000" dirty="0"/>
              <a:t>: Obtener datos. </a:t>
            </a:r>
            <a:r>
              <a:rPr lang="es-ES" sz="2000" dirty="0" err="1"/>
              <a:t>Ej</a:t>
            </a:r>
            <a:r>
              <a:rPr lang="es-ES" sz="2000" dirty="0"/>
              <a:t>: GET /v1/empleados/1234</a:t>
            </a:r>
          </a:p>
          <a:p>
            <a:pPr lvl="1"/>
            <a:r>
              <a:rPr lang="es-ES" sz="2000" i="1" dirty="0"/>
              <a:t>PUT</a:t>
            </a:r>
            <a:r>
              <a:rPr lang="es-ES" sz="2000" dirty="0"/>
              <a:t>: Actualizar datos. </a:t>
            </a:r>
            <a:r>
              <a:rPr lang="es-ES" sz="2000" dirty="0" err="1"/>
              <a:t>Ej</a:t>
            </a:r>
            <a:r>
              <a:rPr lang="es-ES" sz="2000" dirty="0"/>
              <a:t>: PUT /v1/empleados/1234</a:t>
            </a:r>
          </a:p>
          <a:p>
            <a:pPr lvl="1"/>
            <a:r>
              <a:rPr lang="es-ES" sz="2000" i="1" dirty="0"/>
              <a:t>POST</a:t>
            </a:r>
            <a:r>
              <a:rPr lang="es-ES" sz="2000" dirty="0"/>
              <a:t>: Crear un nuevo recurso. </a:t>
            </a:r>
            <a:r>
              <a:rPr lang="es-ES" sz="2000" dirty="0" err="1"/>
              <a:t>Ej</a:t>
            </a:r>
            <a:r>
              <a:rPr lang="es-ES" sz="2000" dirty="0"/>
              <a:t>: POST /v1/empleados</a:t>
            </a:r>
          </a:p>
          <a:p>
            <a:pPr lvl="1"/>
            <a:r>
              <a:rPr lang="es-ES" sz="2000" i="1" dirty="0"/>
              <a:t>DELETE</a:t>
            </a:r>
            <a:r>
              <a:rPr lang="es-ES" sz="2000" dirty="0"/>
              <a:t>: Borrar el recurso. </a:t>
            </a:r>
            <a:r>
              <a:rPr lang="es-ES" sz="2000" dirty="0" err="1"/>
              <a:t>Ej</a:t>
            </a:r>
            <a:r>
              <a:rPr lang="es-ES" sz="2000" dirty="0"/>
              <a:t>: DELETE /v1/empleados/1234</a:t>
            </a:r>
          </a:p>
          <a:p>
            <a:pPr lvl="1"/>
            <a:r>
              <a:rPr lang="es-ES" sz="2000" i="1" dirty="0"/>
              <a:t>¿PATCH?</a:t>
            </a:r>
            <a:r>
              <a:rPr lang="es-ES" sz="2000" dirty="0"/>
              <a:t>: Para actualizar ciertos datos</a:t>
            </a:r>
          </a:p>
        </p:txBody>
      </p:sp>
      <p:pic>
        <p:nvPicPr>
          <p:cNvPr id="6" name="Imagen 5"/>
          <p:cNvPicPr>
            <a:picLocks noChangeAspect="1"/>
          </p:cNvPicPr>
          <p:nvPr/>
        </p:nvPicPr>
        <p:blipFill>
          <a:blip r:embed="rId3"/>
          <a:stretch>
            <a:fillRect/>
          </a:stretch>
        </p:blipFill>
        <p:spPr>
          <a:xfrm>
            <a:off x="6873240" y="2513707"/>
            <a:ext cx="5120641" cy="2546657"/>
          </a:xfrm>
          <a:prstGeom prst="rect">
            <a:avLst/>
          </a:prstGeom>
        </p:spPr>
      </p:pic>
    </p:spTree>
    <p:extLst>
      <p:ext uri="{BB962C8B-B14F-4D97-AF65-F5344CB8AC3E}">
        <p14:creationId xmlns:p14="http://schemas.microsoft.com/office/powerpoint/2010/main" val="15761542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AC1D880-FC17-3789-2435-5FF7492EABD6}"/>
              </a:ext>
            </a:extLst>
          </p:cNvPr>
          <p:cNvSpPr>
            <a:spLocks noGrp="1"/>
          </p:cNvSpPr>
          <p:nvPr>
            <p:ph type="title"/>
          </p:nvPr>
        </p:nvSpPr>
        <p:spPr>
          <a:xfrm>
            <a:off x="456236" y="110481"/>
            <a:ext cx="10515600" cy="1325563"/>
          </a:xfrm>
        </p:spPr>
        <p:txBody>
          <a:bodyPr/>
          <a:lstStyle/>
          <a:p>
            <a:r>
              <a:rPr lang="en-001" dirty="0">
                <a:solidFill>
                  <a:schemeClr val="bg1"/>
                </a:solidFill>
                <a:latin typeface="Work Sans Medium" pitchFamily="2" charset="77"/>
              </a:rPr>
              <a:t> </a:t>
            </a:r>
            <a:r>
              <a:rPr lang="en-US" dirty="0">
                <a:solidFill>
                  <a:schemeClr val="bg1"/>
                </a:solidFill>
                <a:latin typeface="Work Sans Medium" pitchFamily="2" charset="77"/>
              </a:rPr>
              <a:t>Axios</a:t>
            </a:r>
            <a:endParaRPr lang="es-CO" dirty="0">
              <a:solidFill>
                <a:schemeClr val="bg1"/>
              </a:solidFill>
              <a:latin typeface="Work Sans Medium" pitchFamily="2" charset="77"/>
            </a:endParaRPr>
          </a:p>
        </p:txBody>
      </p:sp>
      <p:sp>
        <p:nvSpPr>
          <p:cNvPr id="4" name="Rectángulo 3"/>
          <p:cNvSpPr/>
          <p:nvPr/>
        </p:nvSpPr>
        <p:spPr>
          <a:xfrm>
            <a:off x="655320" y="1867376"/>
            <a:ext cx="6096000" cy="646331"/>
          </a:xfrm>
          <a:prstGeom prst="rect">
            <a:avLst/>
          </a:prstGeom>
        </p:spPr>
        <p:txBody>
          <a:bodyPr>
            <a:spAutoFit/>
          </a:bodyPr>
          <a:lstStyle/>
          <a:p>
            <a:endParaRPr lang="es-ES" b="1" dirty="0">
              <a:solidFill>
                <a:srgbClr val="333333"/>
              </a:solidFill>
              <a:latin typeface="Helvetica Neue"/>
            </a:endParaRPr>
          </a:p>
          <a:p>
            <a:r>
              <a:rPr lang="es-ES" dirty="0">
                <a:solidFill>
                  <a:srgbClr val="333333"/>
                </a:solidFill>
                <a:latin typeface="Helvetica Neue"/>
              </a:rPr>
              <a:t>.</a:t>
            </a:r>
            <a:endParaRPr lang="es-ES" b="0" i="0" dirty="0">
              <a:solidFill>
                <a:srgbClr val="333333"/>
              </a:solidFill>
              <a:effectLst/>
              <a:latin typeface="Helvetica Neue"/>
            </a:endParaRPr>
          </a:p>
        </p:txBody>
      </p:sp>
      <p:sp>
        <p:nvSpPr>
          <p:cNvPr id="7" name="CuadroTexto 6">
            <a:extLst>
              <a:ext uri="{FF2B5EF4-FFF2-40B4-BE49-F238E27FC236}">
                <a16:creationId xmlns:a16="http://schemas.microsoft.com/office/drawing/2014/main" id="{3A61E2CE-4560-1158-1FCD-CA7B3C581F3B}"/>
              </a:ext>
            </a:extLst>
          </p:cNvPr>
          <p:cNvSpPr txBox="1"/>
          <p:nvPr/>
        </p:nvSpPr>
        <p:spPr>
          <a:xfrm>
            <a:off x="657114" y="1867376"/>
            <a:ext cx="6094206" cy="1477328"/>
          </a:xfrm>
          <a:prstGeom prst="rect">
            <a:avLst/>
          </a:prstGeom>
          <a:noFill/>
        </p:spPr>
        <p:txBody>
          <a:bodyPr wrap="square">
            <a:spAutoFit/>
          </a:bodyPr>
          <a:lstStyle/>
          <a:p>
            <a:r>
              <a:rPr lang="es-ES" dirty="0"/>
              <a:t>Axios es un Cliente HTTP basado en promesas para node.js y el navegador. Es </a:t>
            </a:r>
            <a:r>
              <a:rPr lang="es-ES" dirty="0" err="1"/>
              <a:t>isomorfico</a:t>
            </a:r>
            <a:r>
              <a:rPr lang="es-ES" dirty="0"/>
              <a:t> (= puede ejecutarse en el navegador y </a:t>
            </a:r>
            <a:r>
              <a:rPr lang="es-ES" dirty="0" err="1"/>
              <a:t>nodejs</a:t>
            </a:r>
            <a:r>
              <a:rPr lang="es-ES" dirty="0"/>
              <a:t> con el mismo código base). En el lado del servidor usa el modulo nativo http de node.js, mientras que en el lado del cliente (navegador) usa </a:t>
            </a:r>
            <a:r>
              <a:rPr lang="es-ES" dirty="0" err="1"/>
              <a:t>XMLHttpRequests</a:t>
            </a:r>
            <a:r>
              <a:rPr lang="es-ES" dirty="0"/>
              <a:t>.</a:t>
            </a:r>
            <a:endParaRPr lang="en-US" dirty="0"/>
          </a:p>
        </p:txBody>
      </p:sp>
      <p:sp>
        <p:nvSpPr>
          <p:cNvPr id="9" name="CuadroTexto 8">
            <a:extLst>
              <a:ext uri="{FF2B5EF4-FFF2-40B4-BE49-F238E27FC236}">
                <a16:creationId xmlns:a16="http://schemas.microsoft.com/office/drawing/2014/main" id="{5D8BFDB2-995F-4191-A665-34B7D9AB2139}"/>
              </a:ext>
            </a:extLst>
          </p:cNvPr>
          <p:cNvSpPr txBox="1"/>
          <p:nvPr/>
        </p:nvSpPr>
        <p:spPr>
          <a:xfrm>
            <a:off x="655320" y="3776036"/>
            <a:ext cx="6094206" cy="2585323"/>
          </a:xfrm>
          <a:prstGeom prst="rect">
            <a:avLst/>
          </a:prstGeom>
          <a:noFill/>
        </p:spPr>
        <p:txBody>
          <a:bodyPr wrap="square">
            <a:spAutoFit/>
          </a:bodyPr>
          <a:lstStyle/>
          <a:p>
            <a:r>
              <a:rPr lang="es-ES" b="1" dirty="0" err="1"/>
              <a:t>Caracteristicas</a:t>
            </a:r>
            <a:endParaRPr lang="es-ES" b="1" dirty="0"/>
          </a:p>
          <a:p>
            <a:pPr marL="285750" indent="-285750">
              <a:buFont typeface="Arial" panose="020B0604020202020204" pitchFamily="34" charset="0"/>
              <a:buChar char="•"/>
            </a:pPr>
            <a:r>
              <a:rPr lang="es-ES" dirty="0"/>
              <a:t>Hace </a:t>
            </a:r>
            <a:r>
              <a:rPr lang="es-ES" dirty="0" err="1"/>
              <a:t>XMLHttpRequests</a:t>
            </a:r>
            <a:r>
              <a:rPr lang="es-ES" dirty="0"/>
              <a:t> desde el navegador</a:t>
            </a:r>
          </a:p>
          <a:p>
            <a:pPr marL="285750" indent="-285750">
              <a:buFont typeface="Arial" panose="020B0604020202020204" pitchFamily="34" charset="0"/>
              <a:buChar char="•"/>
            </a:pPr>
            <a:r>
              <a:rPr lang="es-ES" dirty="0"/>
              <a:t>Hace peticiones http desde node.js</a:t>
            </a:r>
          </a:p>
          <a:p>
            <a:pPr marL="285750" indent="-285750">
              <a:buFont typeface="Arial" panose="020B0604020202020204" pitchFamily="34" charset="0"/>
              <a:buChar char="•"/>
            </a:pPr>
            <a:r>
              <a:rPr lang="es-ES" dirty="0"/>
              <a:t>Soporta el API de Promesa</a:t>
            </a:r>
          </a:p>
          <a:p>
            <a:pPr marL="285750" indent="-285750">
              <a:buFont typeface="Arial" panose="020B0604020202020204" pitchFamily="34" charset="0"/>
              <a:buChar char="•"/>
            </a:pPr>
            <a:r>
              <a:rPr lang="es-ES" dirty="0"/>
              <a:t>Intercepta petición y respuesta</a:t>
            </a:r>
          </a:p>
          <a:p>
            <a:pPr marL="285750" indent="-285750">
              <a:buFont typeface="Arial" panose="020B0604020202020204" pitchFamily="34" charset="0"/>
              <a:buChar char="•"/>
            </a:pPr>
            <a:r>
              <a:rPr lang="es-ES" dirty="0"/>
              <a:t>Transforma petición y datos de respuesta</a:t>
            </a:r>
          </a:p>
          <a:p>
            <a:pPr marL="285750" indent="-285750">
              <a:buFont typeface="Arial" panose="020B0604020202020204" pitchFamily="34" charset="0"/>
              <a:buChar char="•"/>
            </a:pPr>
            <a:r>
              <a:rPr lang="es-ES" dirty="0"/>
              <a:t>Cancela peticiones</a:t>
            </a:r>
          </a:p>
          <a:p>
            <a:pPr marL="285750" indent="-285750">
              <a:buFont typeface="Arial" panose="020B0604020202020204" pitchFamily="34" charset="0"/>
              <a:buChar char="•"/>
            </a:pPr>
            <a:r>
              <a:rPr lang="es-ES" dirty="0" err="1"/>
              <a:t>Transformacion</a:t>
            </a:r>
            <a:r>
              <a:rPr lang="es-ES" dirty="0"/>
              <a:t> </a:t>
            </a:r>
            <a:r>
              <a:rPr lang="es-ES" dirty="0" err="1"/>
              <a:t>automatica</a:t>
            </a:r>
            <a:r>
              <a:rPr lang="es-ES" dirty="0"/>
              <a:t> de datos JSON</a:t>
            </a:r>
          </a:p>
          <a:p>
            <a:pPr marL="285750" indent="-285750">
              <a:buFont typeface="Arial" panose="020B0604020202020204" pitchFamily="34" charset="0"/>
              <a:buChar char="•"/>
            </a:pPr>
            <a:r>
              <a:rPr lang="es-ES" dirty="0"/>
              <a:t>Soporte para proteger al cliente contra XSRF</a:t>
            </a:r>
            <a:endParaRPr lang="en-US" dirty="0"/>
          </a:p>
        </p:txBody>
      </p:sp>
      <p:pic>
        <p:nvPicPr>
          <p:cNvPr id="10" name="Imagen 9">
            <a:extLst>
              <a:ext uri="{FF2B5EF4-FFF2-40B4-BE49-F238E27FC236}">
                <a16:creationId xmlns:a16="http://schemas.microsoft.com/office/drawing/2014/main" id="{27C9631A-888C-0D97-2DB1-38D3B72DCCBC}"/>
              </a:ext>
            </a:extLst>
          </p:cNvPr>
          <p:cNvPicPr>
            <a:picLocks noChangeAspect="1"/>
          </p:cNvPicPr>
          <p:nvPr/>
        </p:nvPicPr>
        <p:blipFill>
          <a:blip r:embed="rId2"/>
          <a:stretch>
            <a:fillRect/>
          </a:stretch>
        </p:blipFill>
        <p:spPr>
          <a:xfrm>
            <a:off x="6485293" y="2945039"/>
            <a:ext cx="5526036" cy="3094580"/>
          </a:xfrm>
          <a:prstGeom prst="rect">
            <a:avLst/>
          </a:prstGeom>
        </p:spPr>
      </p:pic>
      <p:sp>
        <p:nvSpPr>
          <p:cNvPr id="5" name="CuadroTexto 4">
            <a:extLst>
              <a:ext uri="{FF2B5EF4-FFF2-40B4-BE49-F238E27FC236}">
                <a16:creationId xmlns:a16="http://schemas.microsoft.com/office/drawing/2014/main" id="{D7404778-1794-534D-5A40-605DD549CE86}"/>
              </a:ext>
            </a:extLst>
          </p:cNvPr>
          <p:cNvSpPr txBox="1"/>
          <p:nvPr/>
        </p:nvSpPr>
        <p:spPr>
          <a:xfrm>
            <a:off x="7490012" y="2005875"/>
            <a:ext cx="6094206" cy="369332"/>
          </a:xfrm>
          <a:prstGeom prst="rect">
            <a:avLst/>
          </a:prstGeom>
          <a:noFill/>
        </p:spPr>
        <p:txBody>
          <a:bodyPr wrap="square">
            <a:spAutoFit/>
          </a:bodyPr>
          <a:lstStyle/>
          <a:p>
            <a:r>
              <a:rPr lang="en-US" b="1" dirty="0" err="1"/>
              <a:t>npm</a:t>
            </a:r>
            <a:r>
              <a:rPr lang="en-US" b="1" dirty="0"/>
              <a:t> install </a:t>
            </a:r>
            <a:r>
              <a:rPr lang="en-US" b="1" dirty="0" err="1"/>
              <a:t>axios</a:t>
            </a:r>
            <a:r>
              <a:rPr lang="en-US" b="1" dirty="0"/>
              <a:t>(React)</a:t>
            </a:r>
          </a:p>
        </p:txBody>
      </p:sp>
    </p:spTree>
    <p:extLst>
      <p:ext uri="{BB962C8B-B14F-4D97-AF65-F5344CB8AC3E}">
        <p14:creationId xmlns:p14="http://schemas.microsoft.com/office/powerpoint/2010/main" val="53111222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AC1D880-FC17-3789-2435-5FF7492EABD6}"/>
              </a:ext>
            </a:extLst>
          </p:cNvPr>
          <p:cNvSpPr>
            <a:spLocks noGrp="1"/>
          </p:cNvSpPr>
          <p:nvPr>
            <p:ph type="title"/>
          </p:nvPr>
        </p:nvSpPr>
        <p:spPr>
          <a:xfrm>
            <a:off x="456236" y="110481"/>
            <a:ext cx="10515600" cy="1325563"/>
          </a:xfrm>
        </p:spPr>
        <p:txBody>
          <a:bodyPr/>
          <a:lstStyle/>
          <a:p>
            <a:r>
              <a:rPr lang="en-001" dirty="0">
                <a:solidFill>
                  <a:schemeClr val="bg1"/>
                </a:solidFill>
                <a:latin typeface="Work Sans Medium" pitchFamily="2" charset="77"/>
              </a:rPr>
              <a:t> </a:t>
            </a:r>
            <a:r>
              <a:rPr lang="en-US" dirty="0" err="1">
                <a:solidFill>
                  <a:schemeClr val="bg1"/>
                </a:solidFill>
                <a:latin typeface="Work Sans Medium" pitchFamily="2" charset="77"/>
              </a:rPr>
              <a:t>Cors</a:t>
            </a:r>
            <a:endParaRPr lang="es-CO" dirty="0">
              <a:solidFill>
                <a:schemeClr val="bg1"/>
              </a:solidFill>
              <a:latin typeface="Work Sans Medium" pitchFamily="2" charset="77"/>
            </a:endParaRPr>
          </a:p>
        </p:txBody>
      </p:sp>
      <p:sp>
        <p:nvSpPr>
          <p:cNvPr id="4" name="Rectángulo 3"/>
          <p:cNvSpPr/>
          <p:nvPr/>
        </p:nvSpPr>
        <p:spPr>
          <a:xfrm>
            <a:off x="655320" y="1867376"/>
            <a:ext cx="6096000" cy="646331"/>
          </a:xfrm>
          <a:prstGeom prst="rect">
            <a:avLst/>
          </a:prstGeom>
        </p:spPr>
        <p:txBody>
          <a:bodyPr>
            <a:spAutoFit/>
          </a:bodyPr>
          <a:lstStyle/>
          <a:p>
            <a:endParaRPr lang="es-ES" b="1" dirty="0">
              <a:solidFill>
                <a:srgbClr val="333333"/>
              </a:solidFill>
              <a:latin typeface="Helvetica Neue"/>
            </a:endParaRPr>
          </a:p>
          <a:p>
            <a:r>
              <a:rPr lang="es-ES" dirty="0">
                <a:solidFill>
                  <a:srgbClr val="333333"/>
                </a:solidFill>
                <a:latin typeface="Helvetica Neue"/>
              </a:rPr>
              <a:t>.</a:t>
            </a:r>
            <a:endParaRPr lang="es-ES" b="0" i="0" dirty="0">
              <a:solidFill>
                <a:srgbClr val="333333"/>
              </a:solidFill>
              <a:effectLst/>
              <a:latin typeface="Helvetica Neue"/>
            </a:endParaRPr>
          </a:p>
        </p:txBody>
      </p:sp>
      <p:sp>
        <p:nvSpPr>
          <p:cNvPr id="12" name="CuadroTexto 11">
            <a:extLst>
              <a:ext uri="{FF2B5EF4-FFF2-40B4-BE49-F238E27FC236}">
                <a16:creationId xmlns:a16="http://schemas.microsoft.com/office/drawing/2014/main" id="{B69F5502-EA4D-5989-800E-B5AF24B1E766}"/>
              </a:ext>
            </a:extLst>
          </p:cNvPr>
          <p:cNvSpPr txBox="1"/>
          <p:nvPr/>
        </p:nvSpPr>
        <p:spPr>
          <a:xfrm>
            <a:off x="657114" y="1675141"/>
            <a:ext cx="6094206" cy="4524315"/>
          </a:xfrm>
          <a:prstGeom prst="rect">
            <a:avLst/>
          </a:prstGeom>
          <a:noFill/>
        </p:spPr>
        <p:txBody>
          <a:bodyPr wrap="square">
            <a:spAutoFit/>
          </a:bodyPr>
          <a:lstStyle/>
          <a:p>
            <a:r>
              <a:rPr lang="es-ES" dirty="0"/>
              <a:t>El intercambio de recursos de origen cruzado (CORS, por sus siglas en inglés), es un mecanismo basado en cabeceras HTTP que permite a un servidor indicar cualquier dominio, esquema o puerto con un origen distinto del suyo desde el que un navegador debería permitir la carga de recursos. CORS también se basa en un mecanismo por el cual los navegadores realizan una solicitud de "verificación previa" al servidor que aloja el recurso de origen cruzado, con el fin de comprobar que el servidor permitirá la solicitud real. En esa comprobación previa, el navegador envía cabeceras que indican el método HTTP y las cabeceras que se utilizarán en la solicitud real.</a:t>
            </a:r>
          </a:p>
          <a:p>
            <a:endParaRPr lang="es-ES" dirty="0"/>
          </a:p>
          <a:p>
            <a:r>
              <a:rPr lang="es-ES" dirty="0"/>
              <a:t>Un ejemplo de solicitud de origen cruzado: el código JavaScript del </a:t>
            </a:r>
            <a:r>
              <a:rPr lang="es-ES" dirty="0" err="1"/>
              <a:t>front-end</a:t>
            </a:r>
            <a:r>
              <a:rPr lang="es-ES" dirty="0"/>
              <a:t> servido desde https://domain-a.com utiliza </a:t>
            </a:r>
            <a:r>
              <a:rPr lang="es-ES" dirty="0" err="1"/>
              <a:t>XMLHttpRequest</a:t>
            </a:r>
            <a:r>
              <a:rPr lang="es-ES" dirty="0"/>
              <a:t> para realizar una solicitud a https://domain-b.com/data.json</a:t>
            </a:r>
            <a:endParaRPr lang="en-US" dirty="0"/>
          </a:p>
        </p:txBody>
      </p:sp>
      <p:pic>
        <p:nvPicPr>
          <p:cNvPr id="13" name="Imagen 12">
            <a:extLst>
              <a:ext uri="{FF2B5EF4-FFF2-40B4-BE49-F238E27FC236}">
                <a16:creationId xmlns:a16="http://schemas.microsoft.com/office/drawing/2014/main" id="{2DE7C522-9D61-53DA-9AD4-FB2663FCC864}"/>
              </a:ext>
            </a:extLst>
          </p:cNvPr>
          <p:cNvPicPr>
            <a:picLocks noChangeAspect="1"/>
          </p:cNvPicPr>
          <p:nvPr/>
        </p:nvPicPr>
        <p:blipFill>
          <a:blip r:embed="rId2"/>
          <a:stretch>
            <a:fillRect/>
          </a:stretch>
        </p:blipFill>
        <p:spPr>
          <a:xfrm>
            <a:off x="6865173" y="3506993"/>
            <a:ext cx="5100916" cy="2550458"/>
          </a:xfrm>
          <a:prstGeom prst="rect">
            <a:avLst/>
          </a:prstGeom>
        </p:spPr>
      </p:pic>
      <p:sp>
        <p:nvSpPr>
          <p:cNvPr id="16" name="CuadroTexto 15">
            <a:extLst>
              <a:ext uri="{FF2B5EF4-FFF2-40B4-BE49-F238E27FC236}">
                <a16:creationId xmlns:a16="http://schemas.microsoft.com/office/drawing/2014/main" id="{1967479E-1CB9-D8B5-8100-975D45B299C0}"/>
              </a:ext>
            </a:extLst>
          </p:cNvPr>
          <p:cNvSpPr txBox="1"/>
          <p:nvPr/>
        </p:nvSpPr>
        <p:spPr>
          <a:xfrm>
            <a:off x="6865173" y="2542398"/>
            <a:ext cx="6094206" cy="369332"/>
          </a:xfrm>
          <a:prstGeom prst="rect">
            <a:avLst/>
          </a:prstGeom>
          <a:noFill/>
        </p:spPr>
        <p:txBody>
          <a:bodyPr wrap="square">
            <a:spAutoFit/>
          </a:bodyPr>
          <a:lstStyle/>
          <a:p>
            <a:r>
              <a:rPr lang="en-US" b="1" dirty="0" err="1"/>
              <a:t>npm</a:t>
            </a:r>
            <a:r>
              <a:rPr lang="en-US" b="1" dirty="0"/>
              <a:t> install </a:t>
            </a:r>
            <a:r>
              <a:rPr lang="en-US" b="1" dirty="0" err="1"/>
              <a:t>cors</a:t>
            </a:r>
            <a:r>
              <a:rPr lang="en-US" b="1" dirty="0"/>
              <a:t>(Node .</a:t>
            </a:r>
            <a:r>
              <a:rPr lang="en-US" b="1" dirty="0" err="1"/>
              <a:t>js</a:t>
            </a:r>
            <a:r>
              <a:rPr lang="en-US" b="1" dirty="0"/>
              <a:t>)</a:t>
            </a:r>
          </a:p>
        </p:txBody>
      </p:sp>
    </p:spTree>
    <p:extLst>
      <p:ext uri="{BB962C8B-B14F-4D97-AF65-F5344CB8AC3E}">
        <p14:creationId xmlns:p14="http://schemas.microsoft.com/office/powerpoint/2010/main" val="423430989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descr="Imagen que contiene Interfaz de usuario gráfica&#10;&#10;Descripción generada automáticamente">
            <a:extLst>
              <a:ext uri="{FF2B5EF4-FFF2-40B4-BE49-F238E27FC236}">
                <a16:creationId xmlns:a16="http://schemas.microsoft.com/office/drawing/2014/main" id="{A01EB75E-8874-42DD-11A3-2D5CA1D238B7}"/>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2776220320"/>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6844</TotalTime>
  <Words>660</Words>
  <Application>Microsoft Office PowerPoint</Application>
  <PresentationFormat>Panorámica</PresentationFormat>
  <Paragraphs>72</Paragraphs>
  <Slides>8</Slides>
  <Notes>1</Notes>
  <HiddenSlides>0</HiddenSlides>
  <MMClips>0</MMClips>
  <ScaleCrop>false</ScaleCrop>
  <HeadingPairs>
    <vt:vector size="6" baseType="variant">
      <vt:variant>
        <vt:lpstr>Fuentes usadas</vt:lpstr>
      </vt:variant>
      <vt:variant>
        <vt:i4>6</vt:i4>
      </vt:variant>
      <vt:variant>
        <vt:lpstr>Tema</vt:lpstr>
      </vt:variant>
      <vt:variant>
        <vt:i4>1</vt:i4>
      </vt:variant>
      <vt:variant>
        <vt:lpstr>Títulos de diapositiva</vt:lpstr>
      </vt:variant>
      <vt:variant>
        <vt:i4>8</vt:i4>
      </vt:variant>
    </vt:vector>
  </HeadingPairs>
  <TitlesOfParts>
    <vt:vector size="15" baseType="lpstr">
      <vt:lpstr>Arial</vt:lpstr>
      <vt:lpstr>Calibri</vt:lpstr>
      <vt:lpstr>Calibri Light</vt:lpstr>
      <vt:lpstr>Helvetica Neue</vt:lpstr>
      <vt:lpstr>Work Sans</vt:lpstr>
      <vt:lpstr>Work Sans Medium</vt:lpstr>
      <vt:lpstr>Tema de Office</vt:lpstr>
      <vt:lpstr>Presentación de PowerPoint</vt:lpstr>
      <vt:lpstr>Que es una API? </vt:lpstr>
      <vt:lpstr> ¿Para qué necesitamos una API?</vt:lpstr>
      <vt:lpstr> ¿Como funciona API Rest?</vt:lpstr>
      <vt:lpstr> HTTP verbs</vt:lpstr>
      <vt:lpstr> Axios</vt:lpstr>
      <vt:lpstr> Cors</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Jorge Enrique Pedraza Sanchez</dc:creator>
  <cp:lastModifiedBy>CARLOS DANIEL GOMEZ DAZA</cp:lastModifiedBy>
  <cp:revision>104</cp:revision>
  <dcterms:created xsi:type="dcterms:W3CDTF">2020-10-01T23:51:28Z</dcterms:created>
  <dcterms:modified xsi:type="dcterms:W3CDTF">2024-08-19T03:29:54Z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1299739c-ad3d-4908-806e-4d91151a6e13_Enabled">
    <vt:lpwstr>true</vt:lpwstr>
  </property>
  <property fmtid="{D5CDD505-2E9C-101B-9397-08002B2CF9AE}" pid="3" name="MSIP_Label_1299739c-ad3d-4908-806e-4d91151a6e13_Method">
    <vt:lpwstr>Standard</vt:lpwstr>
  </property>
  <property fmtid="{D5CDD505-2E9C-101B-9397-08002B2CF9AE}" pid="4" name="MSIP_Label_1299739c-ad3d-4908-806e-4d91151a6e13_Name">
    <vt:lpwstr>All Employees (Unrestricted)</vt:lpwstr>
  </property>
  <property fmtid="{D5CDD505-2E9C-101B-9397-08002B2CF9AE}" pid="5" name="MSIP_Label_1299739c-ad3d-4908-806e-4d91151a6e13_SiteId">
    <vt:lpwstr>cbc2c381-2f2e-4d93-91d1-506c9316ace7</vt:lpwstr>
  </property>
  <property fmtid="{D5CDD505-2E9C-101B-9397-08002B2CF9AE}" pid="6" name="MSIP_Label_1299739c-ad3d-4908-806e-4d91151a6e13_ContentBits">
    <vt:lpwstr>0</vt:lpwstr>
  </property>
  <property fmtid="{D5CDD505-2E9C-101B-9397-08002B2CF9AE}" pid="7" name="MSIP_Label_1299739c-ad3d-4908-806e-4d91151a6e13_SetDate">
    <vt:lpwstr>2022-08-12T19:17:55Z</vt:lpwstr>
  </property>
  <property fmtid="{D5CDD505-2E9C-101B-9397-08002B2CF9AE}" pid="8" name="MSIP_Label_1299739c-ad3d-4908-806e-4d91151a6e13_ActionId">
    <vt:lpwstr>8c6bc714-34a9-4b82-914e-50b1377a2da4</vt:lpwstr>
  </property>
</Properties>
</file>