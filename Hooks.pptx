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468" r:id="rId2"/>
    <p:sldId id="533" r:id="rId3"/>
    <p:sldId id="535" r:id="rId4"/>
    <p:sldId id="534" r:id="rId5"/>
    <p:sldId id="536" r:id="rId6"/>
    <p:sldId id="537" r:id="rId7"/>
    <p:sldId id="538" r:id="rId8"/>
    <p:sldId id="539" r:id="rId9"/>
    <p:sldId id="541" r:id="rId10"/>
    <p:sldId id="542" r:id="rId11"/>
    <p:sldId id="543" r:id="rId12"/>
    <p:sldId id="544" r:id="rId13"/>
    <p:sldId id="545" r:id="rId14"/>
    <p:sldId id="546" r:id="rId15"/>
    <p:sldId id="547" r:id="rId16"/>
    <p:sldId id="26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DAVID BENAVIDES SANCHEZ" initials="DDBS" lastIdx="1" clrIdx="0">
    <p:extLst>
      <p:ext uri="{19B8F6BF-5375-455C-9EA6-DF929625EA0E}">
        <p15:presenceInfo xmlns:p15="http://schemas.microsoft.com/office/powerpoint/2012/main" userId="DANIEL DAVID BENAVIDES SANCH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FFFFFF"/>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6369"/>
  </p:normalViewPr>
  <p:slideViewPr>
    <p:cSldViewPr snapToGrid="0">
      <p:cViewPr varScale="1">
        <p:scale>
          <a:sx n="71" d="100"/>
          <a:sy n="71" d="100"/>
        </p:scale>
        <p:origin x="1138"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3/08/2024</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2/08/2024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2</a:t>
            </a:fld>
            <a:endParaRPr lang="es-CO"/>
          </a:p>
        </p:txBody>
      </p:sp>
    </p:spTree>
    <p:extLst>
      <p:ext uri="{BB962C8B-B14F-4D97-AF65-F5344CB8AC3E}">
        <p14:creationId xmlns:p14="http://schemas.microsoft.com/office/powerpoint/2010/main" val="551907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3</a:t>
            </a:fld>
            <a:endParaRPr lang="es-CO"/>
          </a:p>
        </p:txBody>
      </p:sp>
    </p:spTree>
    <p:extLst>
      <p:ext uri="{BB962C8B-B14F-4D97-AF65-F5344CB8AC3E}">
        <p14:creationId xmlns:p14="http://schemas.microsoft.com/office/powerpoint/2010/main" val="3404789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4</a:t>
            </a:fld>
            <a:endParaRPr lang="es-CO"/>
          </a:p>
        </p:txBody>
      </p:sp>
    </p:spTree>
    <p:extLst>
      <p:ext uri="{BB962C8B-B14F-4D97-AF65-F5344CB8AC3E}">
        <p14:creationId xmlns:p14="http://schemas.microsoft.com/office/powerpoint/2010/main" val="4564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1986086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6</a:t>
            </a:fld>
            <a:endParaRPr lang="es-CO"/>
          </a:p>
        </p:txBody>
      </p:sp>
    </p:spTree>
    <p:extLst>
      <p:ext uri="{BB962C8B-B14F-4D97-AF65-F5344CB8AC3E}">
        <p14:creationId xmlns:p14="http://schemas.microsoft.com/office/powerpoint/2010/main" val="3980385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7</a:t>
            </a:fld>
            <a:endParaRPr lang="es-CO"/>
          </a:p>
        </p:txBody>
      </p:sp>
    </p:spTree>
    <p:extLst>
      <p:ext uri="{BB962C8B-B14F-4D97-AF65-F5344CB8AC3E}">
        <p14:creationId xmlns:p14="http://schemas.microsoft.com/office/powerpoint/2010/main" val="3157012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8</a:t>
            </a:fld>
            <a:endParaRPr lang="es-CO"/>
          </a:p>
        </p:txBody>
      </p:sp>
    </p:spTree>
    <p:extLst>
      <p:ext uri="{BB962C8B-B14F-4D97-AF65-F5344CB8AC3E}">
        <p14:creationId xmlns:p14="http://schemas.microsoft.com/office/powerpoint/2010/main" val="3731424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9</a:t>
            </a:fld>
            <a:endParaRPr lang="es-CO"/>
          </a:p>
        </p:txBody>
      </p:sp>
    </p:spTree>
    <p:extLst>
      <p:ext uri="{BB962C8B-B14F-4D97-AF65-F5344CB8AC3E}">
        <p14:creationId xmlns:p14="http://schemas.microsoft.com/office/powerpoint/2010/main" val="23797291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538417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11</a:t>
            </a:fld>
            <a:endParaRPr lang="es-CO"/>
          </a:p>
        </p:txBody>
      </p:sp>
    </p:spTree>
    <p:extLst>
      <p:ext uri="{BB962C8B-B14F-4D97-AF65-F5344CB8AC3E}">
        <p14:creationId xmlns:p14="http://schemas.microsoft.com/office/powerpoint/2010/main" val="3270141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12</a:t>
            </a:fld>
            <a:endParaRPr lang="es-CO"/>
          </a:p>
        </p:txBody>
      </p:sp>
    </p:spTree>
    <p:extLst>
      <p:ext uri="{BB962C8B-B14F-4D97-AF65-F5344CB8AC3E}">
        <p14:creationId xmlns:p14="http://schemas.microsoft.com/office/powerpoint/2010/main" val="2153477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13</a:t>
            </a:fld>
            <a:endParaRPr lang="es-CO"/>
          </a:p>
        </p:txBody>
      </p:sp>
    </p:spTree>
    <p:extLst>
      <p:ext uri="{BB962C8B-B14F-4D97-AF65-F5344CB8AC3E}">
        <p14:creationId xmlns:p14="http://schemas.microsoft.com/office/powerpoint/2010/main" val="985146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14</a:t>
            </a:fld>
            <a:endParaRPr lang="es-CO"/>
          </a:p>
        </p:txBody>
      </p:sp>
    </p:spTree>
    <p:extLst>
      <p:ext uri="{BB962C8B-B14F-4D97-AF65-F5344CB8AC3E}">
        <p14:creationId xmlns:p14="http://schemas.microsoft.com/office/powerpoint/2010/main" val="3280631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10"/>
          </p:nvPr>
        </p:nvSpPr>
        <p:spPr/>
        <p:txBody>
          <a:bodyPr/>
          <a:lstStyle/>
          <a:p>
            <a:fld id="{6906C58E-460D-4A4B-B0C2-1191B9D14FCB}" type="slidenum">
              <a:rPr lang="es-CO" smtClean="0"/>
              <a:t>15</a:t>
            </a:fld>
            <a:endParaRPr lang="es-CO"/>
          </a:p>
        </p:txBody>
      </p:sp>
    </p:spTree>
    <p:extLst>
      <p:ext uri="{BB962C8B-B14F-4D97-AF65-F5344CB8AC3E}">
        <p14:creationId xmlns:p14="http://schemas.microsoft.com/office/powerpoint/2010/main" val="3646756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2/08/2024</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2/08/2024</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2869161" y="2126013"/>
            <a:ext cx="6453678" cy="707886"/>
          </a:xfrm>
          <a:prstGeom prst="rect">
            <a:avLst/>
          </a:prstGeom>
          <a:noFill/>
        </p:spPr>
        <p:txBody>
          <a:bodyPr wrap="square" rtlCol="0">
            <a:spAutoFit/>
          </a:bodyPr>
          <a:lstStyle/>
          <a:p>
            <a:pPr algn="ctr"/>
            <a:r>
              <a:rPr lang="en-US" sz="4000" b="1" dirty="0">
                <a:solidFill>
                  <a:schemeClr val="tx1">
                    <a:lumMod val="75000"/>
                    <a:lumOff val="25000"/>
                  </a:schemeClr>
                </a:solidFill>
                <a:latin typeface="Work Sans" pitchFamily="2" charset="77"/>
              </a:rPr>
              <a:t>Hooks</a:t>
            </a:r>
            <a:endParaRPr lang="es-ES" sz="4000" b="1" dirty="0">
              <a:solidFill>
                <a:schemeClr val="tx1">
                  <a:lumMod val="75000"/>
                  <a:lumOff val="25000"/>
                </a:schemeClr>
              </a:solidFill>
              <a:latin typeface="Work Sans" pitchFamily="2" charset="77"/>
            </a:endParaRPr>
          </a:p>
        </p:txBody>
      </p:sp>
      <p:sp>
        <p:nvSpPr>
          <p:cNvPr id="2" name="Rectángulo 1"/>
          <p:cNvSpPr/>
          <p:nvPr/>
        </p:nvSpPr>
        <p:spPr>
          <a:xfrm>
            <a:off x="3064021" y="3578275"/>
            <a:ext cx="6065520" cy="1200329"/>
          </a:xfrm>
          <a:prstGeom prst="rect">
            <a:avLst/>
          </a:prstGeom>
        </p:spPr>
        <p:txBody>
          <a:bodyPr wrap="square">
            <a:spAutoFit/>
          </a:bodyPr>
          <a:lstStyle/>
          <a:p>
            <a:pPr algn="ctr"/>
            <a:r>
              <a:rPr lang="en-001" sz="3600" b="1" dirty="0">
                <a:solidFill>
                  <a:srgbClr val="38AA00"/>
                </a:solidFill>
                <a:latin typeface="Work Sans" pitchFamily="2" charset="77"/>
              </a:rPr>
              <a:t>Instructor:</a:t>
            </a:r>
          </a:p>
          <a:p>
            <a:pPr algn="ctr"/>
            <a:r>
              <a:rPr lang="en-001" sz="3600" b="1" dirty="0">
                <a:solidFill>
                  <a:srgbClr val="00324D"/>
                </a:solidFill>
                <a:latin typeface="Work Sans" pitchFamily="2" charset="77"/>
              </a:rPr>
              <a:t>Carlos Daniel Gomez Daza</a:t>
            </a:r>
            <a:endParaRPr lang="es-ES" sz="3600" b="1" dirty="0">
              <a:solidFill>
                <a:srgbClr val="00324D"/>
              </a:solidFill>
              <a:latin typeface="Work Sans" pitchFamily="2" charset="77"/>
            </a:endParaRP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Que es un Hook</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6077114-14D0-410B-C12C-0ECCC444BDFB}"/>
              </a:ext>
            </a:extLst>
          </p:cNvPr>
          <p:cNvSpPr txBox="1"/>
          <p:nvPr/>
        </p:nvSpPr>
        <p:spPr>
          <a:xfrm>
            <a:off x="562087" y="1855321"/>
            <a:ext cx="6094206" cy="3970318"/>
          </a:xfrm>
          <a:prstGeom prst="rect">
            <a:avLst/>
          </a:prstGeom>
          <a:noFill/>
        </p:spPr>
        <p:txBody>
          <a:bodyPr wrap="square">
            <a:spAutoFit/>
          </a:bodyPr>
          <a:lstStyle/>
          <a:p>
            <a:pPr algn="just"/>
            <a:r>
              <a:rPr lang="es-ES"/>
              <a:t>Los hooks son funciones en React que nos permitirán engancharnos (colgarle o adherirle una funcionalidad al componente) al estado y al ciclo de vida de la aplicación (entre otras funcionalidades). Se crearon específicamente para componentes funcionales.</a:t>
            </a:r>
          </a:p>
          <a:p>
            <a:pPr algn="just"/>
            <a:endParaRPr lang="es-ES"/>
          </a:p>
          <a:p>
            <a:pPr algn="just"/>
            <a:r>
              <a:rPr lang="es-ES"/>
              <a:t>Además del significado de engancharnos, debemos tener en cuenta estos conceptos:</a:t>
            </a:r>
          </a:p>
          <a:p>
            <a:pPr algn="just"/>
            <a:endParaRPr lang="es-ES"/>
          </a:p>
          <a:p>
            <a:pPr algn="just"/>
            <a:r>
              <a:rPr lang="es-ES"/>
              <a:t>▶️ Los estados, en palabras muy sencillas, son variables que van a almacenar y cambiar información de un componente.</a:t>
            </a:r>
          </a:p>
          <a:p>
            <a:pPr algn="just"/>
            <a:endParaRPr lang="es-ES"/>
          </a:p>
          <a:p>
            <a:pPr algn="just"/>
            <a:r>
              <a:rPr lang="es-ES"/>
              <a:t>▶️ El ciclo de vida se refiere a funciones ejecutadas en distintos momentos y que realizan distintas acciones.</a:t>
            </a:r>
            <a:endParaRPr lang="en-US" dirty="0"/>
          </a:p>
        </p:txBody>
      </p:sp>
      <p:pic>
        <p:nvPicPr>
          <p:cNvPr id="3" name="Imagen 2">
            <a:extLst>
              <a:ext uri="{FF2B5EF4-FFF2-40B4-BE49-F238E27FC236}">
                <a16:creationId xmlns:a16="http://schemas.microsoft.com/office/drawing/2014/main" id="{BE3CDBB2-C596-5B54-A812-232DA1BA0314}"/>
              </a:ext>
            </a:extLst>
          </p:cNvPr>
          <p:cNvPicPr>
            <a:picLocks noChangeAspect="1"/>
          </p:cNvPicPr>
          <p:nvPr/>
        </p:nvPicPr>
        <p:blipFill rotWithShape="1">
          <a:blip r:embed="rId3"/>
          <a:srcRect l="20921" r="21489" b="13521"/>
          <a:stretch/>
        </p:blipFill>
        <p:spPr>
          <a:xfrm>
            <a:off x="7110805" y="1672441"/>
            <a:ext cx="4098663" cy="4104416"/>
          </a:xfrm>
          <a:prstGeom prst="rect">
            <a:avLst/>
          </a:prstGeom>
        </p:spPr>
      </p:pic>
    </p:spTree>
    <p:extLst>
      <p:ext uri="{BB962C8B-B14F-4D97-AF65-F5344CB8AC3E}">
        <p14:creationId xmlns:p14="http://schemas.microsoft.com/office/powerpoint/2010/main" val="3968124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Que es un Hook</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6077114-14D0-410B-C12C-0ECCC444BDFB}"/>
              </a:ext>
            </a:extLst>
          </p:cNvPr>
          <p:cNvSpPr txBox="1"/>
          <p:nvPr/>
        </p:nvSpPr>
        <p:spPr>
          <a:xfrm>
            <a:off x="562087" y="1855321"/>
            <a:ext cx="6094206" cy="3693319"/>
          </a:xfrm>
          <a:prstGeom prst="rect">
            <a:avLst/>
          </a:prstGeom>
          <a:noFill/>
        </p:spPr>
        <p:txBody>
          <a:bodyPr wrap="square">
            <a:spAutoFit/>
          </a:bodyPr>
          <a:lstStyle/>
          <a:p>
            <a:pPr algn="l" fontAlgn="base"/>
            <a:r>
              <a:rPr lang="es-ES" b="0" i="0" dirty="0">
                <a:solidFill>
                  <a:srgbClr val="35373A"/>
                </a:solidFill>
                <a:effectLst/>
                <a:highlight>
                  <a:srgbClr val="FFFFFF"/>
                </a:highlight>
                <a:latin typeface="var(--font-serif)"/>
              </a:rPr>
              <a:t>Los </a:t>
            </a:r>
            <a:r>
              <a:rPr lang="es-ES" b="0" i="1" dirty="0" err="1">
                <a:solidFill>
                  <a:srgbClr val="35373A"/>
                </a:solidFill>
                <a:effectLst/>
                <a:highlight>
                  <a:srgbClr val="FFFFFF"/>
                </a:highlight>
                <a:latin typeface="inherit"/>
              </a:rPr>
              <a:t>hooks</a:t>
            </a:r>
            <a:r>
              <a:rPr lang="es-ES" b="0" i="0" dirty="0">
                <a:solidFill>
                  <a:srgbClr val="35373A"/>
                </a:solidFill>
                <a:effectLst/>
                <a:highlight>
                  <a:srgbClr val="FFFFFF"/>
                </a:highlight>
                <a:latin typeface="var(--font-serif)"/>
              </a:rPr>
              <a:t> aparecieron en la versión 16.6 de </a:t>
            </a:r>
            <a:r>
              <a:rPr lang="es-ES" b="0" i="0" dirty="0" err="1">
                <a:solidFill>
                  <a:srgbClr val="35373A"/>
                </a:solidFill>
                <a:effectLst/>
                <a:highlight>
                  <a:srgbClr val="FFFFFF"/>
                </a:highlight>
                <a:latin typeface="var(--font-serif)"/>
              </a:rPr>
              <a:t>React</a:t>
            </a:r>
            <a:r>
              <a:rPr lang="es-ES" b="0" i="0" dirty="0">
                <a:solidFill>
                  <a:srgbClr val="35373A"/>
                </a:solidFill>
                <a:effectLst/>
                <a:highlight>
                  <a:srgbClr val="FFFFFF"/>
                </a:highlight>
                <a:latin typeface="var(--font-serif)"/>
              </a:rPr>
              <a:t> y ya de manera estable en la versión 16.8.0, solucionando problemas como:</a:t>
            </a:r>
          </a:p>
          <a:p>
            <a:pPr algn="l" fontAlgn="base"/>
            <a:endParaRPr lang="es-ES" b="0" i="0" dirty="0">
              <a:solidFill>
                <a:srgbClr val="35373A"/>
              </a:solidFill>
              <a:effectLst/>
              <a:highlight>
                <a:srgbClr val="FFFFFF"/>
              </a:highlight>
              <a:latin typeface="var(--font-serif)"/>
            </a:endParaRPr>
          </a:p>
          <a:p>
            <a:pPr algn="l" fontAlgn="base">
              <a:buFont typeface="Arial" panose="020B0604020202020204" pitchFamily="34" charset="0"/>
              <a:buChar char="•"/>
            </a:pPr>
            <a:r>
              <a:rPr lang="es-ES" b="0" i="0" dirty="0">
                <a:solidFill>
                  <a:srgbClr val="35373A"/>
                </a:solidFill>
                <a:effectLst/>
                <a:highlight>
                  <a:srgbClr val="FFFFFF"/>
                </a:highlight>
                <a:latin typeface="inherit"/>
              </a:rPr>
              <a:t>Reutilización de código entre los componentes.</a:t>
            </a:r>
          </a:p>
          <a:p>
            <a:pPr algn="l" fontAlgn="base">
              <a:buFont typeface="Arial" panose="020B0604020202020204" pitchFamily="34" charset="0"/>
              <a:buChar char="•"/>
            </a:pPr>
            <a:r>
              <a:rPr lang="es-ES" b="0" i="0" dirty="0">
                <a:solidFill>
                  <a:srgbClr val="35373A"/>
                </a:solidFill>
                <a:effectLst/>
                <a:highlight>
                  <a:srgbClr val="FFFFFF"/>
                </a:highlight>
                <a:latin typeface="inherit"/>
              </a:rPr>
              <a:t>Longitud de los componentes, convirtiéndose en algo muy complejo de entender.</a:t>
            </a:r>
          </a:p>
          <a:p>
            <a:pPr algn="l" fontAlgn="base">
              <a:buFont typeface="Arial" panose="020B0604020202020204" pitchFamily="34" charset="0"/>
              <a:buChar char="•"/>
            </a:pPr>
            <a:r>
              <a:rPr lang="es-ES" b="0" i="0" dirty="0">
                <a:solidFill>
                  <a:srgbClr val="35373A"/>
                </a:solidFill>
                <a:effectLst/>
                <a:highlight>
                  <a:srgbClr val="FFFFFF"/>
                </a:highlight>
                <a:latin typeface="inherit"/>
              </a:rPr>
              <a:t>La optimización del uso del </a:t>
            </a:r>
            <a:r>
              <a:rPr lang="es-ES" b="0" i="1" dirty="0" err="1">
                <a:solidFill>
                  <a:srgbClr val="35373A"/>
                </a:solidFill>
                <a:effectLst/>
                <a:highlight>
                  <a:srgbClr val="FFFFFF"/>
                </a:highlight>
                <a:latin typeface="inherit"/>
              </a:rPr>
              <a:t>this</a:t>
            </a:r>
            <a:r>
              <a:rPr lang="es-ES" b="0" i="0" dirty="0">
                <a:solidFill>
                  <a:srgbClr val="35373A"/>
                </a:solidFill>
                <a:effectLst/>
                <a:highlight>
                  <a:srgbClr val="FFFFFF"/>
                </a:highlight>
                <a:latin typeface="inherit"/>
              </a:rPr>
              <a:t>.</a:t>
            </a:r>
          </a:p>
          <a:p>
            <a:pPr algn="l" fontAlgn="base">
              <a:buFont typeface="Arial" panose="020B0604020202020204" pitchFamily="34" charset="0"/>
              <a:buChar char="•"/>
            </a:pPr>
            <a:endParaRPr lang="es-ES" b="0" i="0" dirty="0">
              <a:solidFill>
                <a:srgbClr val="35373A"/>
              </a:solidFill>
              <a:effectLst/>
              <a:highlight>
                <a:srgbClr val="FFFFFF"/>
              </a:highlight>
              <a:latin typeface="inherit"/>
            </a:endParaRPr>
          </a:p>
          <a:p>
            <a:pPr algn="l" fontAlgn="base"/>
            <a:r>
              <a:rPr lang="es-ES" b="0" i="0" dirty="0">
                <a:solidFill>
                  <a:srgbClr val="35373A"/>
                </a:solidFill>
                <a:effectLst/>
                <a:highlight>
                  <a:srgbClr val="FFFFFF"/>
                </a:highlight>
                <a:latin typeface="var(--font-serif)"/>
              </a:rPr>
              <a:t>Antes de esta versión, la solución más viable era que cada problema se resolviera de forma individual, pero al igual que una bola de nieve, el código de los desarrolladores se hacía más grande a cada momento.</a:t>
            </a:r>
          </a:p>
        </p:txBody>
      </p:sp>
      <p:pic>
        <p:nvPicPr>
          <p:cNvPr id="3" name="Imagen 2">
            <a:extLst>
              <a:ext uri="{FF2B5EF4-FFF2-40B4-BE49-F238E27FC236}">
                <a16:creationId xmlns:a16="http://schemas.microsoft.com/office/drawing/2014/main" id="{BE3CDBB2-C596-5B54-A812-232DA1BA0314}"/>
              </a:ext>
            </a:extLst>
          </p:cNvPr>
          <p:cNvPicPr>
            <a:picLocks noChangeAspect="1"/>
          </p:cNvPicPr>
          <p:nvPr/>
        </p:nvPicPr>
        <p:blipFill rotWithShape="1">
          <a:blip r:embed="rId3"/>
          <a:srcRect l="20921" r="21489" b="13521"/>
          <a:stretch/>
        </p:blipFill>
        <p:spPr>
          <a:xfrm>
            <a:off x="7110805" y="1672441"/>
            <a:ext cx="4098663" cy="4104416"/>
          </a:xfrm>
          <a:prstGeom prst="rect">
            <a:avLst/>
          </a:prstGeom>
        </p:spPr>
      </p:pic>
    </p:spTree>
    <p:extLst>
      <p:ext uri="{BB962C8B-B14F-4D97-AF65-F5344CB8AC3E}">
        <p14:creationId xmlns:p14="http://schemas.microsoft.com/office/powerpoint/2010/main" val="982027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Ventajas de un hook</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6077114-14D0-410B-C12C-0ECCC444BDFB}"/>
              </a:ext>
            </a:extLst>
          </p:cNvPr>
          <p:cNvSpPr txBox="1"/>
          <p:nvPr/>
        </p:nvSpPr>
        <p:spPr>
          <a:xfrm>
            <a:off x="562087" y="1855321"/>
            <a:ext cx="6094206" cy="1754326"/>
          </a:xfrm>
          <a:prstGeom prst="rect">
            <a:avLst/>
          </a:prstGeom>
          <a:noFill/>
        </p:spPr>
        <p:txBody>
          <a:bodyPr wrap="square">
            <a:spAutoFit/>
          </a:bodyPr>
          <a:lstStyle/>
          <a:p>
            <a:pPr marL="285750" indent="-285750" algn="just">
              <a:buFont typeface="Arial" panose="020B0604020202020204" pitchFamily="34" charset="0"/>
              <a:buChar char="•"/>
            </a:pPr>
            <a:r>
              <a:rPr lang="es-ES" b="1" dirty="0"/>
              <a:t>Simplicidad: </a:t>
            </a:r>
            <a:r>
              <a:rPr lang="es-ES" dirty="0"/>
              <a:t>Permiten escribir componentes con estado sin necesidad de usar clases.</a:t>
            </a:r>
          </a:p>
          <a:p>
            <a:pPr marL="285750" indent="-285750" algn="just">
              <a:buFont typeface="Arial" panose="020B0604020202020204" pitchFamily="34" charset="0"/>
              <a:buChar char="•"/>
            </a:pPr>
            <a:r>
              <a:rPr lang="es-ES" b="1" dirty="0"/>
              <a:t>Reutilización: </a:t>
            </a:r>
            <a:r>
              <a:rPr lang="es-ES" dirty="0"/>
              <a:t>Facilitan la reutilización de lógica entre componentes.</a:t>
            </a:r>
          </a:p>
          <a:p>
            <a:pPr marL="285750" indent="-285750" algn="just">
              <a:buFont typeface="Arial" panose="020B0604020202020204" pitchFamily="34" charset="0"/>
              <a:buChar char="•"/>
            </a:pPr>
            <a:r>
              <a:rPr lang="es-ES" b="1" dirty="0"/>
              <a:t>Limpieza: </a:t>
            </a:r>
            <a:r>
              <a:rPr lang="es-ES" dirty="0"/>
              <a:t>Permiten organizar mejor el código relacionado con el estado y efectos secundarios.</a:t>
            </a:r>
            <a:endParaRPr lang="en-US" dirty="0"/>
          </a:p>
        </p:txBody>
      </p:sp>
      <p:pic>
        <p:nvPicPr>
          <p:cNvPr id="3" name="Imagen 2">
            <a:extLst>
              <a:ext uri="{FF2B5EF4-FFF2-40B4-BE49-F238E27FC236}">
                <a16:creationId xmlns:a16="http://schemas.microsoft.com/office/drawing/2014/main" id="{BE3CDBB2-C596-5B54-A812-232DA1BA0314}"/>
              </a:ext>
            </a:extLst>
          </p:cNvPr>
          <p:cNvPicPr>
            <a:picLocks noChangeAspect="1"/>
          </p:cNvPicPr>
          <p:nvPr/>
        </p:nvPicPr>
        <p:blipFill rotWithShape="1">
          <a:blip r:embed="rId3"/>
          <a:srcRect l="20921" r="21489" b="13521"/>
          <a:stretch/>
        </p:blipFill>
        <p:spPr>
          <a:xfrm>
            <a:off x="7110805" y="1672441"/>
            <a:ext cx="4098663" cy="4104416"/>
          </a:xfrm>
          <a:prstGeom prst="rect">
            <a:avLst/>
          </a:prstGeom>
        </p:spPr>
      </p:pic>
    </p:spTree>
    <p:extLst>
      <p:ext uri="{BB962C8B-B14F-4D97-AF65-F5344CB8AC3E}">
        <p14:creationId xmlns:p14="http://schemas.microsoft.com/office/powerpoint/2010/main" val="3246978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Tipos de hooks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6077114-14D0-410B-C12C-0ECCC444BDFB}"/>
              </a:ext>
            </a:extLst>
          </p:cNvPr>
          <p:cNvSpPr txBox="1"/>
          <p:nvPr/>
        </p:nvSpPr>
        <p:spPr>
          <a:xfrm>
            <a:off x="562087" y="1855321"/>
            <a:ext cx="6094206" cy="2031325"/>
          </a:xfrm>
          <a:prstGeom prst="rect">
            <a:avLst/>
          </a:prstGeom>
          <a:noFill/>
        </p:spPr>
        <p:txBody>
          <a:bodyPr wrap="square">
            <a:spAutoFit/>
          </a:bodyPr>
          <a:lstStyle/>
          <a:p>
            <a:pPr algn="l" fontAlgn="base"/>
            <a:r>
              <a:rPr lang="es-ES" b="0" i="0" dirty="0">
                <a:solidFill>
                  <a:srgbClr val="35373A"/>
                </a:solidFill>
                <a:effectLst/>
                <a:highlight>
                  <a:srgbClr val="FFFFFF"/>
                </a:highlight>
                <a:latin typeface="var(--font-serif)"/>
              </a:rPr>
              <a:t>En </a:t>
            </a:r>
            <a:r>
              <a:rPr lang="es-ES" b="0" i="0" dirty="0" err="1">
                <a:solidFill>
                  <a:srgbClr val="35373A"/>
                </a:solidFill>
                <a:effectLst/>
                <a:highlight>
                  <a:srgbClr val="FFFFFF"/>
                </a:highlight>
                <a:latin typeface="var(--font-serif)"/>
              </a:rPr>
              <a:t>React</a:t>
            </a:r>
            <a:r>
              <a:rPr lang="es-ES" b="0" i="0" dirty="0">
                <a:solidFill>
                  <a:srgbClr val="35373A"/>
                </a:solidFill>
                <a:effectLst/>
                <a:highlight>
                  <a:srgbClr val="FFFFFF"/>
                </a:highlight>
                <a:latin typeface="var(--font-serif)"/>
              </a:rPr>
              <a:t> tenemos dos tipos:</a:t>
            </a:r>
          </a:p>
          <a:p>
            <a:pPr algn="l" fontAlgn="base"/>
            <a:endParaRPr lang="es-ES" b="0" i="0" dirty="0">
              <a:solidFill>
                <a:srgbClr val="35373A"/>
              </a:solidFill>
              <a:effectLst/>
              <a:highlight>
                <a:srgbClr val="FFFFFF"/>
              </a:highlight>
              <a:latin typeface="var(--font-serif)"/>
            </a:endParaRPr>
          </a:p>
          <a:p>
            <a:pPr algn="l" fontAlgn="base">
              <a:buFont typeface="Arial" panose="020B0604020202020204" pitchFamily="34" charset="0"/>
              <a:buChar char="•"/>
            </a:pPr>
            <a:r>
              <a:rPr lang="es-ES" b="1" i="0" dirty="0">
                <a:solidFill>
                  <a:srgbClr val="35373A"/>
                </a:solidFill>
                <a:effectLst/>
                <a:highlight>
                  <a:srgbClr val="FFFFFF"/>
                </a:highlight>
                <a:latin typeface="inherit"/>
              </a:rPr>
              <a:t>Predefinidos</a:t>
            </a:r>
            <a:r>
              <a:rPr lang="es-ES" b="0" i="0" dirty="0">
                <a:solidFill>
                  <a:srgbClr val="35373A"/>
                </a:solidFill>
                <a:effectLst/>
                <a:highlight>
                  <a:srgbClr val="FFFFFF"/>
                </a:highlight>
                <a:latin typeface="inherit"/>
              </a:rPr>
              <a:t>: los reconocemos por tener todos el prefijo </a:t>
            </a:r>
            <a:r>
              <a:rPr lang="es-ES" b="1" i="0" dirty="0">
                <a:solidFill>
                  <a:srgbClr val="35373A"/>
                </a:solidFill>
                <a:effectLst/>
                <a:highlight>
                  <a:srgbClr val="FFFFFF"/>
                </a:highlight>
                <a:latin typeface="inherit"/>
              </a:rPr>
              <a:t>use</a:t>
            </a:r>
            <a:r>
              <a:rPr lang="es-ES" b="0" i="0" dirty="0">
                <a:solidFill>
                  <a:srgbClr val="35373A"/>
                </a:solidFill>
                <a:effectLst/>
                <a:highlight>
                  <a:srgbClr val="FFFFFF"/>
                </a:highlight>
                <a:latin typeface="inherit"/>
              </a:rPr>
              <a:t>, por ejemplo: </a:t>
            </a:r>
            <a:r>
              <a:rPr lang="es-ES" b="1" i="0" dirty="0" err="1">
                <a:solidFill>
                  <a:srgbClr val="35373A"/>
                </a:solidFill>
                <a:effectLst/>
                <a:highlight>
                  <a:srgbClr val="FFFFFF"/>
                </a:highlight>
                <a:latin typeface="inherit"/>
              </a:rPr>
              <a:t>useState</a:t>
            </a:r>
            <a:r>
              <a:rPr lang="es-ES" b="0" i="0" dirty="0">
                <a:solidFill>
                  <a:srgbClr val="35373A"/>
                </a:solidFill>
                <a:effectLst/>
                <a:highlight>
                  <a:srgbClr val="FFFFFF"/>
                </a:highlight>
                <a:latin typeface="inherit"/>
              </a:rPr>
              <a:t>.</a:t>
            </a:r>
          </a:p>
          <a:p>
            <a:pPr algn="l" fontAlgn="base">
              <a:buFont typeface="Arial" panose="020B0604020202020204" pitchFamily="34" charset="0"/>
              <a:buChar char="•"/>
            </a:pPr>
            <a:endParaRPr lang="es-ES" b="0" i="0" dirty="0">
              <a:solidFill>
                <a:srgbClr val="35373A"/>
              </a:solidFill>
              <a:effectLst/>
              <a:highlight>
                <a:srgbClr val="FFFFFF"/>
              </a:highlight>
              <a:latin typeface="inherit"/>
            </a:endParaRPr>
          </a:p>
          <a:p>
            <a:pPr algn="l" fontAlgn="base">
              <a:buFont typeface="Arial" panose="020B0604020202020204" pitchFamily="34" charset="0"/>
              <a:buChar char="•"/>
            </a:pPr>
            <a:r>
              <a:rPr lang="es-ES" b="1" i="0" dirty="0" err="1">
                <a:solidFill>
                  <a:srgbClr val="35373A"/>
                </a:solidFill>
                <a:effectLst/>
                <a:highlight>
                  <a:srgbClr val="FFFFFF"/>
                </a:highlight>
                <a:latin typeface="inherit"/>
              </a:rPr>
              <a:t>Custom</a:t>
            </a:r>
            <a:r>
              <a:rPr lang="es-ES" b="1" i="0" dirty="0">
                <a:solidFill>
                  <a:srgbClr val="35373A"/>
                </a:solidFill>
                <a:effectLst/>
                <a:highlight>
                  <a:srgbClr val="FFFFFF"/>
                </a:highlight>
                <a:latin typeface="inherit"/>
              </a:rPr>
              <a:t> </a:t>
            </a:r>
            <a:r>
              <a:rPr lang="es-ES" b="1" i="0" dirty="0" err="1">
                <a:solidFill>
                  <a:srgbClr val="35373A"/>
                </a:solidFill>
                <a:effectLst/>
                <a:highlight>
                  <a:srgbClr val="FFFFFF"/>
                </a:highlight>
                <a:latin typeface="inherit"/>
              </a:rPr>
              <a:t>Hooks</a:t>
            </a:r>
            <a:r>
              <a:rPr lang="es-ES" b="0" i="0" dirty="0">
                <a:solidFill>
                  <a:srgbClr val="35373A"/>
                </a:solidFill>
                <a:effectLst/>
                <a:highlight>
                  <a:srgbClr val="FFFFFF"/>
                </a:highlight>
                <a:latin typeface="inherit"/>
              </a:rPr>
              <a:t>: se crean a conveniencia. Por regla general, llevan igual el prefijo </a:t>
            </a:r>
            <a:r>
              <a:rPr lang="es-ES" b="1" i="0" dirty="0">
                <a:solidFill>
                  <a:srgbClr val="35373A"/>
                </a:solidFill>
                <a:effectLst/>
                <a:highlight>
                  <a:srgbClr val="FFFFFF"/>
                </a:highlight>
                <a:latin typeface="inherit"/>
              </a:rPr>
              <a:t>use</a:t>
            </a:r>
            <a:r>
              <a:rPr lang="es-ES" b="0" i="0" dirty="0">
                <a:solidFill>
                  <a:srgbClr val="35373A"/>
                </a:solidFill>
                <a:effectLst/>
                <a:highlight>
                  <a:srgbClr val="FFFFFF"/>
                </a:highlight>
                <a:latin typeface="inherit"/>
              </a:rPr>
              <a:t>.</a:t>
            </a:r>
          </a:p>
        </p:txBody>
      </p:sp>
      <p:pic>
        <p:nvPicPr>
          <p:cNvPr id="3" name="Imagen 2">
            <a:extLst>
              <a:ext uri="{FF2B5EF4-FFF2-40B4-BE49-F238E27FC236}">
                <a16:creationId xmlns:a16="http://schemas.microsoft.com/office/drawing/2014/main" id="{BE3CDBB2-C596-5B54-A812-232DA1BA0314}"/>
              </a:ext>
            </a:extLst>
          </p:cNvPr>
          <p:cNvPicPr>
            <a:picLocks noChangeAspect="1"/>
          </p:cNvPicPr>
          <p:nvPr/>
        </p:nvPicPr>
        <p:blipFill rotWithShape="1">
          <a:blip r:embed="rId3"/>
          <a:srcRect l="20921" r="21489" b="13521"/>
          <a:stretch/>
        </p:blipFill>
        <p:spPr>
          <a:xfrm>
            <a:off x="7110805" y="1672441"/>
            <a:ext cx="4098663" cy="4104416"/>
          </a:xfrm>
          <a:prstGeom prst="rect">
            <a:avLst/>
          </a:prstGeom>
        </p:spPr>
      </p:pic>
    </p:spTree>
    <p:extLst>
      <p:ext uri="{BB962C8B-B14F-4D97-AF65-F5344CB8AC3E}">
        <p14:creationId xmlns:p14="http://schemas.microsoft.com/office/powerpoint/2010/main" val="3105752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err="1">
                <a:solidFill>
                  <a:schemeClr val="bg1"/>
                </a:solidFill>
                <a:latin typeface="Work Sans Medium" pitchFamily="2" charset="77"/>
              </a:rPr>
              <a:t>Limites</a:t>
            </a:r>
            <a:r>
              <a:rPr lang="en-US" dirty="0">
                <a:solidFill>
                  <a:schemeClr val="bg1"/>
                </a:solidFill>
                <a:latin typeface="Work Sans Medium" pitchFamily="2" charset="77"/>
              </a:rPr>
              <a:t> de hooks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6077114-14D0-410B-C12C-0ECCC444BDFB}"/>
              </a:ext>
            </a:extLst>
          </p:cNvPr>
          <p:cNvSpPr txBox="1"/>
          <p:nvPr/>
        </p:nvSpPr>
        <p:spPr>
          <a:xfrm>
            <a:off x="562087" y="1855321"/>
            <a:ext cx="6094206" cy="3139321"/>
          </a:xfrm>
          <a:prstGeom prst="rect">
            <a:avLst/>
          </a:prstGeom>
          <a:noFill/>
        </p:spPr>
        <p:txBody>
          <a:bodyPr wrap="square">
            <a:spAutoFit/>
          </a:bodyPr>
          <a:lstStyle/>
          <a:p>
            <a:pPr algn="l" fontAlgn="base"/>
            <a:r>
              <a:rPr lang="es-ES" b="0" i="0" dirty="0">
                <a:solidFill>
                  <a:srgbClr val="35373A"/>
                </a:solidFill>
                <a:effectLst/>
                <a:highlight>
                  <a:srgbClr val="FFFFFF"/>
                </a:highlight>
                <a:latin typeface="var(--font-serif)"/>
              </a:rPr>
              <a:t>Para usarlos de una manera correcta, debes tener en cuenta las siguientes reglas:</a:t>
            </a:r>
          </a:p>
          <a:p>
            <a:pPr algn="l" fontAlgn="base"/>
            <a:endParaRPr lang="es-ES" b="0" i="0" dirty="0">
              <a:solidFill>
                <a:srgbClr val="35373A"/>
              </a:solidFill>
              <a:effectLst/>
              <a:highlight>
                <a:srgbClr val="FFFFFF"/>
              </a:highlight>
              <a:latin typeface="var(--font-serif)"/>
            </a:endParaRPr>
          </a:p>
          <a:p>
            <a:pPr algn="l" fontAlgn="base"/>
            <a:r>
              <a:rPr lang="es-ES" b="0" i="0" dirty="0">
                <a:solidFill>
                  <a:srgbClr val="35373A"/>
                </a:solidFill>
                <a:effectLst/>
                <a:highlight>
                  <a:srgbClr val="FFFFFF"/>
                </a:highlight>
                <a:latin typeface="var(--font-serif)"/>
              </a:rPr>
              <a:t>✅ </a:t>
            </a:r>
            <a:r>
              <a:rPr lang="es-ES" b="1" i="0" dirty="0">
                <a:solidFill>
                  <a:srgbClr val="35373A"/>
                </a:solidFill>
                <a:effectLst/>
                <a:highlight>
                  <a:srgbClr val="FFFFFF"/>
                </a:highlight>
                <a:latin typeface="inherit"/>
              </a:rPr>
              <a:t>Debes llamar los </a:t>
            </a:r>
            <a:r>
              <a:rPr lang="es-ES" b="1" i="1" dirty="0" err="1">
                <a:solidFill>
                  <a:srgbClr val="35373A"/>
                </a:solidFill>
                <a:effectLst/>
                <a:highlight>
                  <a:srgbClr val="FFFFFF"/>
                </a:highlight>
                <a:latin typeface="inherit"/>
              </a:rPr>
              <a:t>hooks</a:t>
            </a:r>
            <a:r>
              <a:rPr lang="es-ES" b="1" i="0" dirty="0">
                <a:solidFill>
                  <a:srgbClr val="35373A"/>
                </a:solidFill>
                <a:effectLst/>
                <a:highlight>
                  <a:srgbClr val="FFFFFF"/>
                </a:highlight>
                <a:latin typeface="inherit"/>
              </a:rPr>
              <a:t> solamente en nivel superior</a:t>
            </a:r>
            <a:r>
              <a:rPr lang="es-ES" b="0" i="0" dirty="0">
                <a:solidFill>
                  <a:srgbClr val="35373A"/>
                </a:solidFill>
                <a:effectLst/>
                <a:highlight>
                  <a:srgbClr val="FFFFFF"/>
                </a:highlight>
                <a:latin typeface="var(--font-serif)"/>
              </a:rPr>
              <a:t>. Evita llamarlos dentro de condicionales, funciones anidadas o dentro de ciclos. Con esto te aseguras de que los </a:t>
            </a:r>
            <a:r>
              <a:rPr lang="es-ES" b="0" i="1" dirty="0" err="1">
                <a:solidFill>
                  <a:srgbClr val="35373A"/>
                </a:solidFill>
                <a:effectLst/>
                <a:highlight>
                  <a:srgbClr val="FFFFFF"/>
                </a:highlight>
                <a:latin typeface="inherit"/>
              </a:rPr>
              <a:t>hooks</a:t>
            </a:r>
            <a:r>
              <a:rPr lang="es-ES" b="0" i="0" dirty="0">
                <a:solidFill>
                  <a:srgbClr val="35373A"/>
                </a:solidFill>
                <a:effectLst/>
                <a:highlight>
                  <a:srgbClr val="FFFFFF"/>
                </a:highlight>
                <a:latin typeface="var(--font-serif)"/>
              </a:rPr>
              <a:t> se llamen en cada render del componente, en el mismo orden.</a:t>
            </a:r>
          </a:p>
          <a:p>
            <a:pPr algn="l" fontAlgn="base"/>
            <a:r>
              <a:rPr lang="es-ES" b="0" i="0" dirty="0">
                <a:solidFill>
                  <a:srgbClr val="35373A"/>
                </a:solidFill>
                <a:effectLst/>
                <a:highlight>
                  <a:srgbClr val="FFFFFF"/>
                </a:highlight>
                <a:latin typeface="var(--font-serif)"/>
              </a:rPr>
              <a:t>✅ </a:t>
            </a:r>
            <a:r>
              <a:rPr lang="es-ES" b="1" i="0" dirty="0">
                <a:solidFill>
                  <a:srgbClr val="35373A"/>
                </a:solidFill>
                <a:effectLst/>
                <a:highlight>
                  <a:srgbClr val="FFFFFF"/>
                </a:highlight>
                <a:latin typeface="inherit"/>
              </a:rPr>
              <a:t>Evita llamar a los </a:t>
            </a:r>
            <a:r>
              <a:rPr lang="es-ES" b="1" i="1" dirty="0" err="1">
                <a:solidFill>
                  <a:srgbClr val="35373A"/>
                </a:solidFill>
                <a:effectLst/>
                <a:highlight>
                  <a:srgbClr val="FFFFFF"/>
                </a:highlight>
                <a:latin typeface="inherit"/>
              </a:rPr>
              <a:t>hooks</a:t>
            </a:r>
            <a:r>
              <a:rPr lang="es-ES" b="1" i="0" dirty="0">
                <a:solidFill>
                  <a:srgbClr val="35373A"/>
                </a:solidFill>
                <a:effectLst/>
                <a:highlight>
                  <a:srgbClr val="FFFFFF"/>
                </a:highlight>
                <a:latin typeface="inherit"/>
              </a:rPr>
              <a:t> desde funciones regulares JavaScript</a:t>
            </a:r>
            <a:r>
              <a:rPr lang="es-ES" b="0" i="0" dirty="0">
                <a:solidFill>
                  <a:srgbClr val="35373A"/>
                </a:solidFill>
                <a:effectLst/>
                <a:highlight>
                  <a:srgbClr val="FFFFFF"/>
                </a:highlight>
                <a:latin typeface="var(--font-serif)"/>
              </a:rPr>
              <a:t>. En cambio, hazlo desde el componente funcional o desde un </a:t>
            </a:r>
            <a:r>
              <a:rPr lang="es-ES" b="1" i="0" dirty="0" err="1">
                <a:solidFill>
                  <a:srgbClr val="35373A"/>
                </a:solidFill>
                <a:effectLst/>
                <a:highlight>
                  <a:srgbClr val="FFFFFF"/>
                </a:highlight>
                <a:latin typeface="inherit"/>
              </a:rPr>
              <a:t>custom</a:t>
            </a:r>
            <a:r>
              <a:rPr lang="es-ES" b="1" i="0" dirty="0">
                <a:solidFill>
                  <a:srgbClr val="35373A"/>
                </a:solidFill>
                <a:effectLst/>
                <a:highlight>
                  <a:srgbClr val="FFFFFF"/>
                </a:highlight>
                <a:latin typeface="inherit"/>
              </a:rPr>
              <a:t> </a:t>
            </a:r>
            <a:r>
              <a:rPr lang="es-ES" b="1" i="0" dirty="0" err="1">
                <a:solidFill>
                  <a:srgbClr val="35373A"/>
                </a:solidFill>
                <a:effectLst/>
                <a:highlight>
                  <a:srgbClr val="FFFFFF"/>
                </a:highlight>
                <a:latin typeface="inherit"/>
              </a:rPr>
              <a:t>hook</a:t>
            </a:r>
            <a:r>
              <a:rPr lang="es-ES" b="0" i="0" dirty="0">
                <a:solidFill>
                  <a:srgbClr val="35373A"/>
                </a:solidFill>
                <a:effectLst/>
                <a:highlight>
                  <a:srgbClr val="FFFFFF"/>
                </a:highlight>
                <a:latin typeface="var(--font-serif)"/>
              </a:rPr>
              <a:t> (</a:t>
            </a:r>
            <a:r>
              <a:rPr lang="es-ES" b="0" i="1" dirty="0" err="1">
                <a:solidFill>
                  <a:srgbClr val="35373A"/>
                </a:solidFill>
                <a:effectLst/>
                <a:highlight>
                  <a:srgbClr val="FFFFFF"/>
                </a:highlight>
                <a:latin typeface="inherit"/>
              </a:rPr>
              <a:t>hook</a:t>
            </a:r>
            <a:r>
              <a:rPr lang="es-ES" b="0" i="0" dirty="0">
                <a:solidFill>
                  <a:srgbClr val="35373A"/>
                </a:solidFill>
                <a:effectLst/>
                <a:highlight>
                  <a:srgbClr val="FFFFFF"/>
                </a:highlight>
                <a:latin typeface="var(--font-serif)"/>
              </a:rPr>
              <a:t> personalizado)</a:t>
            </a:r>
          </a:p>
          <a:p>
            <a:pPr algn="l" fontAlgn="base"/>
            <a:endParaRPr lang="es-ES" b="0" i="0" dirty="0">
              <a:solidFill>
                <a:srgbClr val="35373A"/>
              </a:solidFill>
              <a:effectLst/>
              <a:highlight>
                <a:srgbClr val="FFFFFF"/>
              </a:highlight>
              <a:latin typeface="var(--font-serif)"/>
            </a:endParaRPr>
          </a:p>
        </p:txBody>
      </p:sp>
      <p:pic>
        <p:nvPicPr>
          <p:cNvPr id="3" name="Imagen 2">
            <a:extLst>
              <a:ext uri="{FF2B5EF4-FFF2-40B4-BE49-F238E27FC236}">
                <a16:creationId xmlns:a16="http://schemas.microsoft.com/office/drawing/2014/main" id="{BE3CDBB2-C596-5B54-A812-232DA1BA0314}"/>
              </a:ext>
            </a:extLst>
          </p:cNvPr>
          <p:cNvPicPr>
            <a:picLocks noChangeAspect="1"/>
          </p:cNvPicPr>
          <p:nvPr/>
        </p:nvPicPr>
        <p:blipFill rotWithShape="1">
          <a:blip r:embed="rId3"/>
          <a:srcRect l="20921" r="21489" b="13521"/>
          <a:stretch/>
        </p:blipFill>
        <p:spPr>
          <a:xfrm>
            <a:off x="7110805" y="1672441"/>
            <a:ext cx="4098663" cy="4104416"/>
          </a:xfrm>
          <a:prstGeom prst="rect">
            <a:avLst/>
          </a:prstGeom>
        </p:spPr>
      </p:pic>
    </p:spTree>
    <p:extLst>
      <p:ext uri="{BB962C8B-B14F-4D97-AF65-F5344CB8AC3E}">
        <p14:creationId xmlns:p14="http://schemas.microsoft.com/office/powerpoint/2010/main" val="4147911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useState</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36077114-14D0-410B-C12C-0ECCC444BDFB}"/>
              </a:ext>
            </a:extLst>
          </p:cNvPr>
          <p:cNvSpPr txBox="1"/>
          <p:nvPr/>
        </p:nvSpPr>
        <p:spPr>
          <a:xfrm>
            <a:off x="562087" y="1855321"/>
            <a:ext cx="6094206" cy="646331"/>
          </a:xfrm>
          <a:prstGeom prst="rect">
            <a:avLst/>
          </a:prstGeom>
          <a:noFill/>
        </p:spPr>
        <p:txBody>
          <a:bodyPr wrap="square">
            <a:spAutoFit/>
          </a:bodyPr>
          <a:lstStyle/>
          <a:p>
            <a:pPr algn="l" fontAlgn="base"/>
            <a:r>
              <a:rPr lang="es-ES" b="0" i="0" dirty="0" err="1">
                <a:solidFill>
                  <a:srgbClr val="35373A"/>
                </a:solidFill>
                <a:effectLst/>
                <a:highlight>
                  <a:srgbClr val="FFFFFF"/>
                </a:highlight>
                <a:latin typeface="var(--font-serif)"/>
              </a:rPr>
              <a:t>useState</a:t>
            </a:r>
            <a:r>
              <a:rPr lang="es-ES" b="0" i="0" dirty="0">
                <a:solidFill>
                  <a:srgbClr val="35373A"/>
                </a:solidFill>
                <a:effectLst/>
                <a:highlight>
                  <a:srgbClr val="FFFFFF"/>
                </a:highlight>
                <a:latin typeface="var(--font-serif)"/>
              </a:rPr>
              <a:t> es un Hook de </a:t>
            </a:r>
            <a:r>
              <a:rPr lang="es-ES" b="0" i="0" dirty="0" err="1">
                <a:solidFill>
                  <a:srgbClr val="35373A"/>
                </a:solidFill>
                <a:effectLst/>
                <a:highlight>
                  <a:srgbClr val="FFFFFF"/>
                </a:highlight>
                <a:latin typeface="var(--font-serif)"/>
              </a:rPr>
              <a:t>React</a:t>
            </a:r>
            <a:r>
              <a:rPr lang="es-ES" b="0" i="0" dirty="0">
                <a:solidFill>
                  <a:srgbClr val="35373A"/>
                </a:solidFill>
                <a:effectLst/>
                <a:highlight>
                  <a:srgbClr val="FFFFFF"/>
                </a:highlight>
                <a:latin typeface="var(--font-serif)"/>
              </a:rPr>
              <a:t> que te permite agregar una variable de estado a tu componente.</a:t>
            </a:r>
          </a:p>
        </p:txBody>
      </p:sp>
      <p:sp>
        <p:nvSpPr>
          <p:cNvPr id="11" name="CuadroTexto 10">
            <a:extLst>
              <a:ext uri="{FF2B5EF4-FFF2-40B4-BE49-F238E27FC236}">
                <a16:creationId xmlns:a16="http://schemas.microsoft.com/office/drawing/2014/main" id="{685CA04D-5065-E22B-5119-6FA99ED3E242}"/>
              </a:ext>
            </a:extLst>
          </p:cNvPr>
          <p:cNvSpPr txBox="1"/>
          <p:nvPr/>
        </p:nvSpPr>
        <p:spPr>
          <a:xfrm>
            <a:off x="562087" y="2623176"/>
            <a:ext cx="4741432" cy="369332"/>
          </a:xfrm>
          <a:prstGeom prst="rect">
            <a:avLst/>
          </a:prstGeom>
          <a:noFill/>
        </p:spPr>
        <p:txBody>
          <a:bodyPr wrap="square">
            <a:spAutoFit/>
          </a:bodyPr>
          <a:lstStyle/>
          <a:p>
            <a:r>
              <a:rPr lang="en-US" dirty="0"/>
              <a:t>const [state, </a:t>
            </a:r>
            <a:r>
              <a:rPr lang="en-US" dirty="0" err="1"/>
              <a:t>setState</a:t>
            </a:r>
            <a:r>
              <a:rPr lang="en-US" dirty="0"/>
              <a:t>] = </a:t>
            </a:r>
            <a:r>
              <a:rPr lang="en-US" dirty="0" err="1"/>
              <a:t>useState</a:t>
            </a:r>
            <a:r>
              <a:rPr lang="en-US" dirty="0"/>
              <a:t>(</a:t>
            </a:r>
            <a:r>
              <a:rPr lang="en-US" dirty="0" err="1"/>
              <a:t>initialState</a:t>
            </a:r>
            <a:r>
              <a:rPr lang="en-US" dirty="0"/>
              <a:t>)</a:t>
            </a:r>
          </a:p>
        </p:txBody>
      </p:sp>
      <p:sp>
        <p:nvSpPr>
          <p:cNvPr id="13" name="CuadroTexto 12">
            <a:extLst>
              <a:ext uri="{FF2B5EF4-FFF2-40B4-BE49-F238E27FC236}">
                <a16:creationId xmlns:a16="http://schemas.microsoft.com/office/drawing/2014/main" id="{360F45C6-64DF-BDE2-7026-60553F52DFC0}"/>
              </a:ext>
            </a:extLst>
          </p:cNvPr>
          <p:cNvSpPr txBox="1"/>
          <p:nvPr/>
        </p:nvSpPr>
        <p:spPr>
          <a:xfrm>
            <a:off x="562087" y="3114032"/>
            <a:ext cx="6094206" cy="923330"/>
          </a:xfrm>
          <a:prstGeom prst="rect">
            <a:avLst/>
          </a:prstGeom>
          <a:noFill/>
        </p:spPr>
        <p:txBody>
          <a:bodyPr wrap="square">
            <a:spAutoFit/>
          </a:bodyPr>
          <a:lstStyle/>
          <a:p>
            <a:r>
              <a:rPr lang="es-ES" b="1" dirty="0" err="1"/>
              <a:t>useState</a:t>
            </a:r>
            <a:r>
              <a:rPr lang="es-ES" b="1" dirty="0"/>
              <a:t>(</a:t>
            </a:r>
            <a:r>
              <a:rPr lang="es-ES" b="1" dirty="0" err="1"/>
              <a:t>initialState</a:t>
            </a:r>
            <a:r>
              <a:rPr lang="es-ES" b="1" dirty="0"/>
              <a:t>) </a:t>
            </a:r>
          </a:p>
          <a:p>
            <a:r>
              <a:rPr lang="es-ES" dirty="0"/>
              <a:t>Llama a </a:t>
            </a:r>
            <a:r>
              <a:rPr lang="es-ES" dirty="0" err="1"/>
              <a:t>useState</a:t>
            </a:r>
            <a:r>
              <a:rPr lang="es-ES" dirty="0"/>
              <a:t> en el nivel superior de tu componente para declarar una variable de estado.</a:t>
            </a:r>
            <a:endParaRPr lang="en-US" dirty="0"/>
          </a:p>
        </p:txBody>
      </p:sp>
      <p:sp>
        <p:nvSpPr>
          <p:cNvPr id="15" name="CuadroTexto 14">
            <a:extLst>
              <a:ext uri="{FF2B5EF4-FFF2-40B4-BE49-F238E27FC236}">
                <a16:creationId xmlns:a16="http://schemas.microsoft.com/office/drawing/2014/main" id="{5854A960-59D5-02CF-83CF-18156385DFAD}"/>
              </a:ext>
            </a:extLst>
          </p:cNvPr>
          <p:cNvSpPr txBox="1"/>
          <p:nvPr/>
        </p:nvSpPr>
        <p:spPr>
          <a:xfrm>
            <a:off x="562087" y="4237852"/>
            <a:ext cx="6094206" cy="1477328"/>
          </a:xfrm>
          <a:prstGeom prst="rect">
            <a:avLst/>
          </a:prstGeom>
          <a:noFill/>
        </p:spPr>
        <p:txBody>
          <a:bodyPr wrap="square">
            <a:spAutoFit/>
          </a:bodyPr>
          <a:lstStyle/>
          <a:p>
            <a:r>
              <a:rPr lang="es-ES" b="1" dirty="0"/>
              <a:t>Parámetros </a:t>
            </a:r>
          </a:p>
          <a:p>
            <a:r>
              <a:rPr lang="es-ES" b="1" dirty="0" err="1"/>
              <a:t>initialState</a:t>
            </a:r>
            <a:r>
              <a:rPr lang="es-ES" b="1" dirty="0"/>
              <a:t>: </a:t>
            </a:r>
            <a:r>
              <a:rPr lang="es-ES" dirty="0"/>
              <a:t>El valor que deseas que tenga el estado inicialmente. Puede ser un valor de cualquier tipo, pero hay un comportamiento especial para las funciones. Este argumento se ignora después del renderizado inicial.</a:t>
            </a:r>
            <a:endParaRPr lang="en-US" dirty="0"/>
          </a:p>
        </p:txBody>
      </p:sp>
      <p:sp>
        <p:nvSpPr>
          <p:cNvPr id="20" name="CuadroTexto 19">
            <a:extLst>
              <a:ext uri="{FF2B5EF4-FFF2-40B4-BE49-F238E27FC236}">
                <a16:creationId xmlns:a16="http://schemas.microsoft.com/office/drawing/2014/main" id="{F7BDBDF2-92BD-6D8D-03DE-B0CD0913AF55}"/>
              </a:ext>
            </a:extLst>
          </p:cNvPr>
          <p:cNvSpPr txBox="1"/>
          <p:nvPr/>
        </p:nvSpPr>
        <p:spPr>
          <a:xfrm>
            <a:off x="6546926" y="1803402"/>
            <a:ext cx="5190564" cy="1754326"/>
          </a:xfrm>
          <a:prstGeom prst="rect">
            <a:avLst/>
          </a:prstGeom>
          <a:noFill/>
        </p:spPr>
        <p:txBody>
          <a:bodyPr wrap="square">
            <a:spAutoFit/>
          </a:bodyPr>
          <a:lstStyle/>
          <a:p>
            <a:r>
              <a:rPr lang="es-ES" b="1" dirty="0"/>
              <a:t>Funciones set , como </a:t>
            </a:r>
            <a:r>
              <a:rPr lang="es-ES" b="1" dirty="0" err="1"/>
              <a:t>setAlgo</a:t>
            </a:r>
            <a:r>
              <a:rPr lang="es-ES" b="1" dirty="0"/>
              <a:t>(</a:t>
            </a:r>
            <a:r>
              <a:rPr lang="es-ES" b="1" dirty="0" err="1"/>
              <a:t>siguienteEstado</a:t>
            </a:r>
            <a:r>
              <a:rPr lang="es-ES" b="1" dirty="0"/>
              <a:t>) </a:t>
            </a:r>
          </a:p>
          <a:p>
            <a:r>
              <a:rPr lang="es-ES" dirty="0"/>
              <a:t>La función set devuelta por </a:t>
            </a:r>
            <a:r>
              <a:rPr lang="es-ES" dirty="0" err="1"/>
              <a:t>useState</a:t>
            </a:r>
            <a:r>
              <a:rPr lang="es-ES" dirty="0"/>
              <a:t> te permite actualizar el estado a un valor diferente y desencadenar un nuevo renderizado. Puedes pasar el siguiente estado directamente, o una función que lo calcule a partir del estado anterior:</a:t>
            </a:r>
            <a:endParaRPr lang="en-US" dirty="0"/>
          </a:p>
        </p:txBody>
      </p:sp>
      <p:sp>
        <p:nvSpPr>
          <p:cNvPr id="22" name="CuadroTexto 21">
            <a:extLst>
              <a:ext uri="{FF2B5EF4-FFF2-40B4-BE49-F238E27FC236}">
                <a16:creationId xmlns:a16="http://schemas.microsoft.com/office/drawing/2014/main" id="{47E9F722-9ED6-0A1A-8535-174E763BC922}"/>
              </a:ext>
            </a:extLst>
          </p:cNvPr>
          <p:cNvSpPr txBox="1"/>
          <p:nvPr/>
        </p:nvSpPr>
        <p:spPr>
          <a:xfrm>
            <a:off x="6546926" y="3704012"/>
            <a:ext cx="6094206" cy="1200329"/>
          </a:xfrm>
          <a:prstGeom prst="rect">
            <a:avLst/>
          </a:prstGeom>
          <a:noFill/>
        </p:spPr>
        <p:txBody>
          <a:bodyPr wrap="square">
            <a:spAutoFit/>
          </a:bodyPr>
          <a:lstStyle/>
          <a:p>
            <a:r>
              <a:rPr lang="es-ES" b="1" dirty="0"/>
              <a:t>Parámetros</a:t>
            </a:r>
            <a:r>
              <a:rPr lang="es-ES" dirty="0"/>
              <a:t> </a:t>
            </a:r>
          </a:p>
          <a:p>
            <a:r>
              <a:rPr lang="es-ES" b="1" dirty="0" err="1"/>
              <a:t>siguienteEstado</a:t>
            </a:r>
            <a:r>
              <a:rPr lang="es-ES" b="1" dirty="0"/>
              <a:t>: </a:t>
            </a:r>
            <a:r>
              <a:rPr lang="es-ES" dirty="0"/>
              <a:t>El valor que deseas que tenga el estado. Puede ser un valor de cualquier tipo, pero hay un comportamiento especial para las funciones.</a:t>
            </a:r>
            <a:endParaRPr lang="en-US" dirty="0"/>
          </a:p>
        </p:txBody>
      </p:sp>
    </p:spTree>
    <p:extLst>
      <p:ext uri="{BB962C8B-B14F-4D97-AF65-F5344CB8AC3E}">
        <p14:creationId xmlns:p14="http://schemas.microsoft.com/office/powerpoint/2010/main" val="2317575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useEffect</a:t>
            </a:r>
            <a:endParaRPr lang="es-CO" dirty="0">
              <a:solidFill>
                <a:schemeClr val="bg1"/>
              </a:solidFill>
              <a:latin typeface="Work Sans Medium" pitchFamily="2" charset="77"/>
            </a:endParaRPr>
          </a:p>
        </p:txBody>
      </p:sp>
      <p:sp>
        <p:nvSpPr>
          <p:cNvPr id="5" name="CuadroTexto 4">
            <a:extLst>
              <a:ext uri="{FF2B5EF4-FFF2-40B4-BE49-F238E27FC236}">
                <a16:creationId xmlns:a16="http://schemas.microsoft.com/office/drawing/2014/main" id="{AB2A42CD-AF4C-9A06-3AED-6C60EA80D8FD}"/>
              </a:ext>
            </a:extLst>
          </p:cNvPr>
          <p:cNvSpPr txBox="1"/>
          <p:nvPr/>
        </p:nvSpPr>
        <p:spPr>
          <a:xfrm>
            <a:off x="456235" y="1785333"/>
            <a:ext cx="6364113" cy="646331"/>
          </a:xfrm>
          <a:prstGeom prst="rect">
            <a:avLst/>
          </a:prstGeom>
          <a:noFill/>
        </p:spPr>
        <p:txBody>
          <a:bodyPr wrap="square">
            <a:spAutoFit/>
          </a:bodyPr>
          <a:lstStyle/>
          <a:p>
            <a:r>
              <a:rPr lang="es-ES"/>
              <a:t>Permite realizar efectos secundarios en componentes funcionales, como suscripciones o actualizaciones del DOM.</a:t>
            </a:r>
            <a:endParaRPr lang="en-US" dirty="0"/>
          </a:p>
        </p:txBody>
      </p:sp>
      <p:sp>
        <p:nvSpPr>
          <p:cNvPr id="7" name="CuadroTexto 6">
            <a:extLst>
              <a:ext uri="{FF2B5EF4-FFF2-40B4-BE49-F238E27FC236}">
                <a16:creationId xmlns:a16="http://schemas.microsoft.com/office/drawing/2014/main" id="{24BA27B5-30A5-0D1E-D3A8-F582F2C4B104}"/>
              </a:ext>
            </a:extLst>
          </p:cNvPr>
          <p:cNvSpPr txBox="1"/>
          <p:nvPr/>
        </p:nvSpPr>
        <p:spPr>
          <a:xfrm>
            <a:off x="456236" y="2596287"/>
            <a:ext cx="6094206" cy="369332"/>
          </a:xfrm>
          <a:prstGeom prst="rect">
            <a:avLst/>
          </a:prstGeom>
          <a:noFill/>
        </p:spPr>
        <p:txBody>
          <a:bodyPr wrap="square">
            <a:spAutoFit/>
          </a:bodyPr>
          <a:lstStyle/>
          <a:p>
            <a:r>
              <a:rPr lang="en-US" dirty="0" err="1"/>
              <a:t>useEffect</a:t>
            </a:r>
            <a:r>
              <a:rPr lang="en-US" dirty="0"/>
              <a:t>(setup, dependencies?)</a:t>
            </a:r>
          </a:p>
        </p:txBody>
      </p:sp>
      <p:sp>
        <p:nvSpPr>
          <p:cNvPr id="9" name="CuadroTexto 8">
            <a:extLst>
              <a:ext uri="{FF2B5EF4-FFF2-40B4-BE49-F238E27FC236}">
                <a16:creationId xmlns:a16="http://schemas.microsoft.com/office/drawing/2014/main" id="{0D9A2641-EC81-241E-A251-B5239A9BAEE4}"/>
              </a:ext>
            </a:extLst>
          </p:cNvPr>
          <p:cNvSpPr txBox="1"/>
          <p:nvPr/>
        </p:nvSpPr>
        <p:spPr>
          <a:xfrm>
            <a:off x="456236" y="3260480"/>
            <a:ext cx="6094206" cy="923330"/>
          </a:xfrm>
          <a:prstGeom prst="rect">
            <a:avLst/>
          </a:prstGeom>
          <a:noFill/>
        </p:spPr>
        <p:txBody>
          <a:bodyPr wrap="square">
            <a:spAutoFit/>
          </a:bodyPr>
          <a:lstStyle/>
          <a:p>
            <a:r>
              <a:rPr lang="es-ES" b="1" dirty="0" err="1"/>
              <a:t>useEffect</a:t>
            </a:r>
            <a:r>
              <a:rPr lang="es-ES" b="1" dirty="0"/>
              <a:t>(configuración, dependencias?) </a:t>
            </a:r>
          </a:p>
          <a:p>
            <a:r>
              <a:rPr lang="es-ES" dirty="0"/>
              <a:t>Declara un efecto con </a:t>
            </a:r>
            <a:r>
              <a:rPr lang="es-ES" dirty="0" err="1"/>
              <a:t>useEffect</a:t>
            </a:r>
            <a:r>
              <a:rPr lang="es-ES" dirty="0"/>
              <a:t> en el nivel superior de tu componente:</a:t>
            </a:r>
            <a:endParaRPr lang="en-US" dirty="0"/>
          </a:p>
        </p:txBody>
      </p:sp>
      <p:sp>
        <p:nvSpPr>
          <p:cNvPr id="14" name="CuadroTexto 13">
            <a:extLst>
              <a:ext uri="{FF2B5EF4-FFF2-40B4-BE49-F238E27FC236}">
                <a16:creationId xmlns:a16="http://schemas.microsoft.com/office/drawing/2014/main" id="{D458DC39-16E9-757D-FC01-A9C2BD50AB77}"/>
              </a:ext>
            </a:extLst>
          </p:cNvPr>
          <p:cNvSpPr txBox="1"/>
          <p:nvPr/>
        </p:nvSpPr>
        <p:spPr>
          <a:xfrm>
            <a:off x="456237" y="4272677"/>
            <a:ext cx="6288808" cy="2308324"/>
          </a:xfrm>
          <a:prstGeom prst="rect">
            <a:avLst/>
          </a:prstGeom>
          <a:noFill/>
        </p:spPr>
        <p:txBody>
          <a:bodyPr wrap="square">
            <a:spAutoFit/>
          </a:bodyPr>
          <a:lstStyle/>
          <a:p>
            <a:pPr algn="just"/>
            <a:r>
              <a:rPr lang="es-ES" b="1" dirty="0"/>
              <a:t>Parámetros</a:t>
            </a:r>
            <a:r>
              <a:rPr lang="es-ES" dirty="0"/>
              <a:t> </a:t>
            </a:r>
          </a:p>
          <a:p>
            <a:pPr algn="just"/>
            <a:r>
              <a:rPr lang="es-ES" b="1" dirty="0"/>
              <a:t>configuración: </a:t>
            </a:r>
            <a:r>
              <a:rPr lang="es-ES" dirty="0"/>
              <a:t>La función con la lógica de tu Efecto. Tu función de configuración también puede devolver opcionalmente una función de limpieza. Cuando tu componente se añade por primera vez al DOM, </a:t>
            </a:r>
            <a:r>
              <a:rPr lang="es-ES" dirty="0" err="1"/>
              <a:t>React</a:t>
            </a:r>
            <a:r>
              <a:rPr lang="es-ES" dirty="0"/>
              <a:t> ejecutará tu función de configuración. Después de cada renderizado con dependencias cambiadas, </a:t>
            </a:r>
            <a:r>
              <a:rPr lang="es-ES" dirty="0" err="1"/>
              <a:t>React</a:t>
            </a:r>
            <a:r>
              <a:rPr lang="es-ES" dirty="0"/>
              <a:t> ejecutará primero la función de limpieza (si la proporcionaste) con los valores antiguos.</a:t>
            </a:r>
            <a:endParaRPr lang="en-US" dirty="0"/>
          </a:p>
        </p:txBody>
      </p:sp>
      <p:sp>
        <p:nvSpPr>
          <p:cNvPr id="17" name="CuadroTexto 16">
            <a:extLst>
              <a:ext uri="{FF2B5EF4-FFF2-40B4-BE49-F238E27FC236}">
                <a16:creationId xmlns:a16="http://schemas.microsoft.com/office/drawing/2014/main" id="{81D0A7A6-5CD0-E8E7-EE1D-91DFBBE10C3E}"/>
              </a:ext>
            </a:extLst>
          </p:cNvPr>
          <p:cNvSpPr txBox="1"/>
          <p:nvPr/>
        </p:nvSpPr>
        <p:spPr>
          <a:xfrm>
            <a:off x="6820349" y="1626791"/>
            <a:ext cx="5013063" cy="2308324"/>
          </a:xfrm>
          <a:prstGeom prst="rect">
            <a:avLst/>
          </a:prstGeom>
          <a:noFill/>
        </p:spPr>
        <p:txBody>
          <a:bodyPr wrap="square">
            <a:spAutoFit/>
          </a:bodyPr>
          <a:lstStyle/>
          <a:p>
            <a:pPr algn="just"/>
            <a:r>
              <a:rPr lang="es-ES" b="1" dirty="0"/>
              <a:t>dependencias opcionales: </a:t>
            </a:r>
            <a:r>
              <a:rPr lang="es-ES" dirty="0"/>
              <a:t>La lista de todos los valores reactivos referenciados dentro del código de configuración. Los valores reactivos incluyen </a:t>
            </a:r>
            <a:r>
              <a:rPr lang="es-ES" dirty="0" err="1"/>
              <a:t>props</a:t>
            </a:r>
            <a:r>
              <a:rPr lang="es-ES" dirty="0"/>
              <a:t>, estados, y todas las variables y funciones declaradas directamente dentro del cuerpo de tu componente. Si tu </a:t>
            </a:r>
            <a:r>
              <a:rPr lang="es-ES" dirty="0" err="1"/>
              <a:t>linter</a:t>
            </a:r>
            <a:r>
              <a:rPr lang="es-ES" dirty="0"/>
              <a:t> está configurado para </a:t>
            </a:r>
            <a:r>
              <a:rPr lang="es-ES" dirty="0" err="1"/>
              <a:t>React</a:t>
            </a:r>
            <a:r>
              <a:rPr lang="es-ES" dirty="0"/>
              <a:t>, verificará que cada valor reactivo esté correctamente especificado como una dependencia</a:t>
            </a:r>
            <a:endParaRPr lang="en-US" dirty="0"/>
          </a:p>
        </p:txBody>
      </p:sp>
    </p:spTree>
    <p:extLst>
      <p:ext uri="{BB962C8B-B14F-4D97-AF65-F5344CB8AC3E}">
        <p14:creationId xmlns:p14="http://schemas.microsoft.com/office/powerpoint/2010/main" val="91686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useContext</a:t>
            </a:r>
            <a:endParaRPr lang="es-CO" dirty="0">
              <a:solidFill>
                <a:schemeClr val="bg1"/>
              </a:solidFill>
              <a:latin typeface="Work Sans Medium" pitchFamily="2" charset="77"/>
            </a:endParaRPr>
          </a:p>
        </p:txBody>
      </p:sp>
      <p:sp>
        <p:nvSpPr>
          <p:cNvPr id="5" name="CuadroTexto 4">
            <a:extLst>
              <a:ext uri="{FF2B5EF4-FFF2-40B4-BE49-F238E27FC236}">
                <a16:creationId xmlns:a16="http://schemas.microsoft.com/office/drawing/2014/main" id="{AB2A42CD-AF4C-9A06-3AED-6C60EA80D8FD}"/>
              </a:ext>
            </a:extLst>
          </p:cNvPr>
          <p:cNvSpPr txBox="1"/>
          <p:nvPr/>
        </p:nvSpPr>
        <p:spPr>
          <a:xfrm>
            <a:off x="456235" y="1731544"/>
            <a:ext cx="6252121" cy="923330"/>
          </a:xfrm>
          <a:prstGeom prst="rect">
            <a:avLst/>
          </a:prstGeom>
          <a:noFill/>
        </p:spPr>
        <p:txBody>
          <a:bodyPr wrap="square">
            <a:spAutoFit/>
          </a:bodyPr>
          <a:lstStyle/>
          <a:p>
            <a:r>
              <a:rPr lang="es-ES" dirty="0"/>
              <a:t>Permite acceder al contexto de </a:t>
            </a:r>
            <a:r>
              <a:rPr lang="es-ES" dirty="0" err="1"/>
              <a:t>React</a:t>
            </a:r>
            <a:r>
              <a:rPr lang="es-ES" dirty="0"/>
              <a:t>, útil para pasar datos a través de la jerarquía de componentes sin necesidad de pasar </a:t>
            </a:r>
            <a:r>
              <a:rPr lang="es-ES" dirty="0" err="1"/>
              <a:t>props</a:t>
            </a:r>
            <a:r>
              <a:rPr lang="es-ES" dirty="0"/>
              <a:t> manualmente en cada nivel.</a:t>
            </a:r>
            <a:endParaRPr lang="en-US" dirty="0"/>
          </a:p>
        </p:txBody>
      </p:sp>
      <p:sp>
        <p:nvSpPr>
          <p:cNvPr id="4" name="CuadroTexto 3">
            <a:extLst>
              <a:ext uri="{FF2B5EF4-FFF2-40B4-BE49-F238E27FC236}">
                <a16:creationId xmlns:a16="http://schemas.microsoft.com/office/drawing/2014/main" id="{2A95525B-59BD-7F98-BDF1-C0400E3867C6}"/>
              </a:ext>
            </a:extLst>
          </p:cNvPr>
          <p:cNvSpPr txBox="1"/>
          <p:nvPr/>
        </p:nvSpPr>
        <p:spPr>
          <a:xfrm>
            <a:off x="456236" y="2673375"/>
            <a:ext cx="6094206" cy="369332"/>
          </a:xfrm>
          <a:prstGeom prst="rect">
            <a:avLst/>
          </a:prstGeom>
          <a:noFill/>
        </p:spPr>
        <p:txBody>
          <a:bodyPr wrap="square">
            <a:spAutoFit/>
          </a:bodyPr>
          <a:lstStyle/>
          <a:p>
            <a:r>
              <a:rPr lang="en-US" dirty="0"/>
              <a:t>const value = </a:t>
            </a:r>
            <a:r>
              <a:rPr lang="en-US" dirty="0" err="1"/>
              <a:t>useContext</a:t>
            </a:r>
            <a:r>
              <a:rPr lang="en-US" dirty="0"/>
              <a:t>(</a:t>
            </a:r>
            <a:r>
              <a:rPr lang="en-US" dirty="0" err="1"/>
              <a:t>SomeContext</a:t>
            </a:r>
            <a:r>
              <a:rPr lang="en-US" dirty="0"/>
              <a:t>)</a:t>
            </a:r>
          </a:p>
        </p:txBody>
      </p:sp>
      <p:sp>
        <p:nvSpPr>
          <p:cNvPr id="8" name="CuadroTexto 7">
            <a:extLst>
              <a:ext uri="{FF2B5EF4-FFF2-40B4-BE49-F238E27FC236}">
                <a16:creationId xmlns:a16="http://schemas.microsoft.com/office/drawing/2014/main" id="{428ADA8F-0CBA-944F-F2FF-EAEEDD0CA5D6}"/>
              </a:ext>
            </a:extLst>
          </p:cNvPr>
          <p:cNvSpPr txBox="1"/>
          <p:nvPr/>
        </p:nvSpPr>
        <p:spPr>
          <a:xfrm>
            <a:off x="456236" y="3338207"/>
            <a:ext cx="6094206" cy="923330"/>
          </a:xfrm>
          <a:prstGeom prst="rect">
            <a:avLst/>
          </a:prstGeom>
          <a:noFill/>
        </p:spPr>
        <p:txBody>
          <a:bodyPr wrap="square">
            <a:spAutoFit/>
          </a:bodyPr>
          <a:lstStyle/>
          <a:p>
            <a:r>
              <a:rPr lang="es-ES" b="1" dirty="0" err="1"/>
              <a:t>useContext</a:t>
            </a:r>
            <a:r>
              <a:rPr lang="es-ES" b="1" dirty="0"/>
              <a:t>(</a:t>
            </a:r>
            <a:r>
              <a:rPr lang="es-ES" b="1" dirty="0" err="1"/>
              <a:t>SomeContext</a:t>
            </a:r>
            <a:r>
              <a:rPr lang="es-ES" b="1" dirty="0"/>
              <a:t>) </a:t>
            </a:r>
          </a:p>
          <a:p>
            <a:r>
              <a:rPr lang="es-ES" dirty="0"/>
              <a:t>Llama </a:t>
            </a:r>
            <a:r>
              <a:rPr lang="es-ES" dirty="0" err="1"/>
              <a:t>useContext</a:t>
            </a:r>
            <a:r>
              <a:rPr lang="es-ES" dirty="0"/>
              <a:t> en el nivel superior de tu componente para leer y suscribirte al contexto.</a:t>
            </a:r>
            <a:endParaRPr lang="en-US" dirty="0"/>
          </a:p>
        </p:txBody>
      </p:sp>
      <p:sp>
        <p:nvSpPr>
          <p:cNvPr id="11" name="CuadroTexto 10">
            <a:extLst>
              <a:ext uri="{FF2B5EF4-FFF2-40B4-BE49-F238E27FC236}">
                <a16:creationId xmlns:a16="http://schemas.microsoft.com/office/drawing/2014/main" id="{6BAACB96-F346-157E-F16B-5E66DF87B2C6}"/>
              </a:ext>
            </a:extLst>
          </p:cNvPr>
          <p:cNvSpPr txBox="1"/>
          <p:nvPr/>
        </p:nvSpPr>
        <p:spPr>
          <a:xfrm>
            <a:off x="456236" y="4557037"/>
            <a:ext cx="6094206" cy="1477328"/>
          </a:xfrm>
          <a:prstGeom prst="rect">
            <a:avLst/>
          </a:prstGeom>
          <a:noFill/>
        </p:spPr>
        <p:txBody>
          <a:bodyPr wrap="square">
            <a:spAutoFit/>
          </a:bodyPr>
          <a:lstStyle/>
          <a:p>
            <a:r>
              <a:rPr lang="es-ES" b="1" dirty="0"/>
              <a:t>Parámetros </a:t>
            </a:r>
          </a:p>
          <a:p>
            <a:r>
              <a:rPr lang="es-ES" b="1" dirty="0" err="1"/>
              <a:t>SomeContext</a:t>
            </a:r>
            <a:r>
              <a:rPr lang="es-ES" b="1" dirty="0"/>
              <a:t>: </a:t>
            </a:r>
            <a:r>
              <a:rPr lang="es-ES" dirty="0"/>
              <a:t>El contexto que creaste previamente con </a:t>
            </a:r>
            <a:r>
              <a:rPr lang="es-ES" dirty="0" err="1"/>
              <a:t>createContext</a:t>
            </a:r>
            <a:r>
              <a:rPr lang="es-ES" dirty="0"/>
              <a:t>. El propio contexto no guarda información, solo representa el tipo de información que puedes proporcionar o leer desde tus componentes.</a:t>
            </a:r>
            <a:endParaRPr lang="en-US" dirty="0"/>
          </a:p>
        </p:txBody>
      </p:sp>
      <p:sp>
        <p:nvSpPr>
          <p:cNvPr id="13" name="CuadroTexto 12">
            <a:extLst>
              <a:ext uri="{FF2B5EF4-FFF2-40B4-BE49-F238E27FC236}">
                <a16:creationId xmlns:a16="http://schemas.microsoft.com/office/drawing/2014/main" id="{C9399D4B-49D3-F878-E2A0-9FD40F739D03}"/>
              </a:ext>
            </a:extLst>
          </p:cNvPr>
          <p:cNvSpPr txBox="1"/>
          <p:nvPr/>
        </p:nvSpPr>
        <p:spPr>
          <a:xfrm>
            <a:off x="6708357" y="1731544"/>
            <a:ext cx="5027407" cy="3139321"/>
          </a:xfrm>
          <a:prstGeom prst="rect">
            <a:avLst/>
          </a:prstGeom>
          <a:noFill/>
        </p:spPr>
        <p:txBody>
          <a:bodyPr wrap="square">
            <a:spAutoFit/>
          </a:bodyPr>
          <a:lstStyle/>
          <a:p>
            <a:r>
              <a:rPr lang="es-ES" b="1" dirty="0"/>
              <a:t>Devuelve </a:t>
            </a:r>
          </a:p>
          <a:p>
            <a:r>
              <a:rPr lang="es-ES" dirty="0" err="1"/>
              <a:t>useContext</a:t>
            </a:r>
            <a:r>
              <a:rPr lang="es-ES" dirty="0"/>
              <a:t> devuelve el valor del contexto para el componente que lo llama. Está determinado como el </a:t>
            </a:r>
            <a:r>
              <a:rPr lang="es-ES" dirty="0" err="1"/>
              <a:t>value</a:t>
            </a:r>
            <a:r>
              <a:rPr lang="es-ES" dirty="0"/>
              <a:t> pasado al </a:t>
            </a:r>
            <a:r>
              <a:rPr lang="es-ES" dirty="0" err="1"/>
              <a:t>SomeContext.Provider</a:t>
            </a:r>
            <a:r>
              <a:rPr lang="es-ES" dirty="0"/>
              <a:t> más cercano arriba del componente que llama en el árbol. Si no existe tal proveedor, entonces el valor devuelto será el </a:t>
            </a:r>
            <a:r>
              <a:rPr lang="es-ES" dirty="0" err="1"/>
              <a:t>defaultValue</a:t>
            </a:r>
            <a:r>
              <a:rPr lang="es-ES" dirty="0"/>
              <a:t> que le pasaste a </a:t>
            </a:r>
            <a:r>
              <a:rPr lang="es-ES" dirty="0" err="1"/>
              <a:t>createContext</a:t>
            </a:r>
            <a:r>
              <a:rPr lang="es-ES" dirty="0"/>
              <a:t> para ese contexto. El valor devuelto siempre está actualizado. </a:t>
            </a:r>
            <a:r>
              <a:rPr lang="es-ES" dirty="0" err="1"/>
              <a:t>React</a:t>
            </a:r>
            <a:r>
              <a:rPr lang="es-ES" dirty="0"/>
              <a:t> </a:t>
            </a:r>
            <a:r>
              <a:rPr lang="es-ES" dirty="0" err="1"/>
              <a:t>rerenderiza</a:t>
            </a:r>
            <a:r>
              <a:rPr lang="es-ES" dirty="0"/>
              <a:t> automáticamente los componentes que leen algún contexto si este cambia.</a:t>
            </a:r>
            <a:endParaRPr lang="en-US" dirty="0"/>
          </a:p>
        </p:txBody>
      </p:sp>
    </p:spTree>
    <p:extLst>
      <p:ext uri="{BB962C8B-B14F-4D97-AF65-F5344CB8AC3E}">
        <p14:creationId xmlns:p14="http://schemas.microsoft.com/office/powerpoint/2010/main" val="2938869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useRef</a:t>
            </a:r>
            <a:endParaRPr lang="es-CO" dirty="0">
              <a:solidFill>
                <a:schemeClr val="bg1"/>
              </a:solidFill>
              <a:latin typeface="Work Sans Medium" pitchFamily="2" charset="77"/>
            </a:endParaRPr>
          </a:p>
        </p:txBody>
      </p:sp>
      <p:sp>
        <p:nvSpPr>
          <p:cNvPr id="6" name="CuadroTexto 5">
            <a:extLst>
              <a:ext uri="{FF2B5EF4-FFF2-40B4-BE49-F238E27FC236}">
                <a16:creationId xmlns:a16="http://schemas.microsoft.com/office/drawing/2014/main" id="{EFBA7226-1F0D-66F0-C91B-F22A3F161543}"/>
              </a:ext>
            </a:extLst>
          </p:cNvPr>
          <p:cNvSpPr txBox="1"/>
          <p:nvPr/>
        </p:nvSpPr>
        <p:spPr>
          <a:xfrm>
            <a:off x="605119" y="1806848"/>
            <a:ext cx="6094206" cy="646331"/>
          </a:xfrm>
          <a:prstGeom prst="rect">
            <a:avLst/>
          </a:prstGeom>
          <a:noFill/>
        </p:spPr>
        <p:txBody>
          <a:bodyPr wrap="square">
            <a:spAutoFit/>
          </a:bodyPr>
          <a:lstStyle/>
          <a:p>
            <a:r>
              <a:rPr lang="es-ES" dirty="0" err="1"/>
              <a:t>useRef</a:t>
            </a:r>
            <a:r>
              <a:rPr lang="es-ES" dirty="0"/>
              <a:t> es un Hook de </a:t>
            </a:r>
            <a:r>
              <a:rPr lang="es-ES" dirty="0" err="1"/>
              <a:t>React</a:t>
            </a:r>
            <a:r>
              <a:rPr lang="es-ES" dirty="0"/>
              <a:t> que te permite referenciar un valor que no es necesario para el renderizado.</a:t>
            </a:r>
            <a:endParaRPr lang="en-US" dirty="0"/>
          </a:p>
        </p:txBody>
      </p:sp>
      <p:sp>
        <p:nvSpPr>
          <p:cNvPr id="9" name="CuadroTexto 8">
            <a:extLst>
              <a:ext uri="{FF2B5EF4-FFF2-40B4-BE49-F238E27FC236}">
                <a16:creationId xmlns:a16="http://schemas.microsoft.com/office/drawing/2014/main" id="{7D99E945-19AE-39DD-CFBC-3AA8650ECAFD}"/>
              </a:ext>
            </a:extLst>
          </p:cNvPr>
          <p:cNvSpPr txBox="1"/>
          <p:nvPr/>
        </p:nvSpPr>
        <p:spPr>
          <a:xfrm>
            <a:off x="605119" y="2639317"/>
            <a:ext cx="6094206" cy="369332"/>
          </a:xfrm>
          <a:prstGeom prst="rect">
            <a:avLst/>
          </a:prstGeom>
          <a:noFill/>
        </p:spPr>
        <p:txBody>
          <a:bodyPr wrap="square">
            <a:spAutoFit/>
          </a:bodyPr>
          <a:lstStyle/>
          <a:p>
            <a:r>
              <a:rPr lang="en-US" dirty="0"/>
              <a:t>const ref = </a:t>
            </a:r>
            <a:r>
              <a:rPr lang="en-US" dirty="0" err="1"/>
              <a:t>useRef</a:t>
            </a:r>
            <a:r>
              <a:rPr lang="en-US" dirty="0"/>
              <a:t>(</a:t>
            </a:r>
            <a:r>
              <a:rPr lang="en-US" dirty="0" err="1"/>
              <a:t>initialValue</a:t>
            </a:r>
            <a:r>
              <a:rPr lang="en-US" dirty="0"/>
              <a:t>)</a:t>
            </a:r>
          </a:p>
        </p:txBody>
      </p:sp>
      <p:sp>
        <p:nvSpPr>
          <p:cNvPr id="12" name="CuadroTexto 11">
            <a:extLst>
              <a:ext uri="{FF2B5EF4-FFF2-40B4-BE49-F238E27FC236}">
                <a16:creationId xmlns:a16="http://schemas.microsoft.com/office/drawing/2014/main" id="{E7B46429-026F-D5EA-68D8-7CD2BE391645}"/>
              </a:ext>
            </a:extLst>
          </p:cNvPr>
          <p:cNvSpPr txBox="1"/>
          <p:nvPr/>
        </p:nvSpPr>
        <p:spPr>
          <a:xfrm>
            <a:off x="605119" y="3149871"/>
            <a:ext cx="6094206" cy="923330"/>
          </a:xfrm>
          <a:prstGeom prst="rect">
            <a:avLst/>
          </a:prstGeom>
          <a:noFill/>
        </p:spPr>
        <p:txBody>
          <a:bodyPr wrap="square">
            <a:spAutoFit/>
          </a:bodyPr>
          <a:lstStyle/>
          <a:p>
            <a:r>
              <a:rPr lang="es-ES" b="1" dirty="0" err="1"/>
              <a:t>useRef</a:t>
            </a:r>
            <a:r>
              <a:rPr lang="es-ES" b="1" dirty="0"/>
              <a:t>(</a:t>
            </a:r>
            <a:r>
              <a:rPr lang="es-ES" b="1" dirty="0" err="1"/>
              <a:t>initialValue</a:t>
            </a:r>
            <a:r>
              <a:rPr lang="es-ES" b="1" dirty="0"/>
              <a:t>) </a:t>
            </a:r>
          </a:p>
          <a:p>
            <a:r>
              <a:rPr lang="es-ES" dirty="0"/>
              <a:t>Llama a </a:t>
            </a:r>
            <a:r>
              <a:rPr lang="es-ES" dirty="0" err="1"/>
              <a:t>useRef</a:t>
            </a:r>
            <a:r>
              <a:rPr lang="es-ES" dirty="0"/>
              <a:t> en el nivel superior de tu componente para declarar una ref.</a:t>
            </a:r>
            <a:endParaRPr lang="en-US" dirty="0"/>
          </a:p>
        </p:txBody>
      </p:sp>
      <p:sp>
        <p:nvSpPr>
          <p:cNvPr id="15" name="CuadroTexto 14">
            <a:extLst>
              <a:ext uri="{FF2B5EF4-FFF2-40B4-BE49-F238E27FC236}">
                <a16:creationId xmlns:a16="http://schemas.microsoft.com/office/drawing/2014/main" id="{272E4439-C64B-9350-6643-7389C5473AFF}"/>
              </a:ext>
            </a:extLst>
          </p:cNvPr>
          <p:cNvSpPr txBox="1"/>
          <p:nvPr/>
        </p:nvSpPr>
        <p:spPr>
          <a:xfrm>
            <a:off x="605118" y="4214423"/>
            <a:ext cx="6580989" cy="1200329"/>
          </a:xfrm>
          <a:prstGeom prst="rect">
            <a:avLst/>
          </a:prstGeom>
          <a:noFill/>
        </p:spPr>
        <p:txBody>
          <a:bodyPr wrap="square">
            <a:spAutoFit/>
          </a:bodyPr>
          <a:lstStyle/>
          <a:p>
            <a:r>
              <a:rPr lang="es-ES" b="1" dirty="0"/>
              <a:t>Parámetros</a:t>
            </a:r>
            <a:r>
              <a:rPr lang="es-ES" dirty="0"/>
              <a:t> </a:t>
            </a:r>
          </a:p>
          <a:p>
            <a:r>
              <a:rPr lang="es-ES" b="1" dirty="0" err="1"/>
              <a:t>initialValue</a:t>
            </a:r>
            <a:r>
              <a:rPr lang="es-ES" b="1" dirty="0"/>
              <a:t>: </a:t>
            </a:r>
            <a:r>
              <a:rPr lang="es-ES" dirty="0"/>
              <a:t>El valor que quieres que tenga inicialmente la propiedad </a:t>
            </a:r>
            <a:r>
              <a:rPr lang="es-ES" dirty="0" err="1"/>
              <a:t>current</a:t>
            </a:r>
            <a:r>
              <a:rPr lang="es-ES" dirty="0"/>
              <a:t> del objeto ref. Puede ser un valor de cualquier tipo. Este argumento se ignora después del renderizado inicial.</a:t>
            </a:r>
            <a:endParaRPr lang="en-US" dirty="0"/>
          </a:p>
        </p:txBody>
      </p:sp>
      <p:sp>
        <p:nvSpPr>
          <p:cNvPr id="17" name="CuadroTexto 16">
            <a:extLst>
              <a:ext uri="{FF2B5EF4-FFF2-40B4-BE49-F238E27FC236}">
                <a16:creationId xmlns:a16="http://schemas.microsoft.com/office/drawing/2014/main" id="{F600075F-466E-21D3-8830-B01F6B0FBD92}"/>
              </a:ext>
            </a:extLst>
          </p:cNvPr>
          <p:cNvSpPr txBox="1"/>
          <p:nvPr/>
        </p:nvSpPr>
        <p:spPr>
          <a:xfrm>
            <a:off x="6699325" y="1764440"/>
            <a:ext cx="5069541" cy="2308324"/>
          </a:xfrm>
          <a:prstGeom prst="rect">
            <a:avLst/>
          </a:prstGeom>
          <a:noFill/>
        </p:spPr>
        <p:txBody>
          <a:bodyPr wrap="square">
            <a:spAutoFit/>
          </a:bodyPr>
          <a:lstStyle/>
          <a:p>
            <a:r>
              <a:rPr lang="es-ES" b="1" dirty="0"/>
              <a:t>Devuelve </a:t>
            </a:r>
          </a:p>
          <a:p>
            <a:r>
              <a:rPr lang="es-ES" dirty="0" err="1"/>
              <a:t>useRef</a:t>
            </a:r>
            <a:r>
              <a:rPr lang="es-ES" dirty="0"/>
              <a:t> devuelve un objeto con una sola propiedad:</a:t>
            </a:r>
          </a:p>
          <a:p>
            <a:endParaRPr lang="es-ES" dirty="0"/>
          </a:p>
          <a:p>
            <a:r>
              <a:rPr lang="es-ES" b="1" dirty="0" err="1"/>
              <a:t>current</a:t>
            </a:r>
            <a:r>
              <a:rPr lang="es-ES" b="1" dirty="0"/>
              <a:t>: </a:t>
            </a:r>
            <a:r>
              <a:rPr lang="es-ES" dirty="0"/>
              <a:t>Inicialmente, se establece en el </a:t>
            </a:r>
            <a:r>
              <a:rPr lang="es-ES" dirty="0" err="1"/>
              <a:t>initialValue</a:t>
            </a:r>
            <a:r>
              <a:rPr lang="es-ES" dirty="0"/>
              <a:t> que has pasado. Más tarde puedes establecerlo a otra cosa. Si pasas el objeto </a:t>
            </a:r>
            <a:r>
              <a:rPr lang="es-ES" dirty="0" err="1"/>
              <a:t>ref</a:t>
            </a:r>
            <a:r>
              <a:rPr lang="es-ES" dirty="0"/>
              <a:t> a </a:t>
            </a:r>
            <a:r>
              <a:rPr lang="es-ES" dirty="0" err="1"/>
              <a:t>React</a:t>
            </a:r>
            <a:r>
              <a:rPr lang="es-ES" dirty="0"/>
              <a:t> como un atributo </a:t>
            </a:r>
            <a:r>
              <a:rPr lang="es-ES" dirty="0" err="1"/>
              <a:t>ref</a:t>
            </a:r>
            <a:r>
              <a:rPr lang="es-ES" dirty="0"/>
              <a:t> a un nodo JSX, </a:t>
            </a:r>
            <a:r>
              <a:rPr lang="es-ES" dirty="0" err="1"/>
              <a:t>React</a:t>
            </a:r>
            <a:r>
              <a:rPr lang="es-ES" dirty="0"/>
              <a:t> establecerá su propiedad </a:t>
            </a:r>
            <a:r>
              <a:rPr lang="es-ES" dirty="0" err="1"/>
              <a:t>current</a:t>
            </a:r>
            <a:r>
              <a:rPr lang="es-ES" dirty="0"/>
              <a:t>.</a:t>
            </a:r>
            <a:endParaRPr lang="en-US" dirty="0"/>
          </a:p>
        </p:txBody>
      </p:sp>
    </p:spTree>
    <p:extLst>
      <p:ext uri="{BB962C8B-B14F-4D97-AF65-F5344CB8AC3E}">
        <p14:creationId xmlns:p14="http://schemas.microsoft.com/office/powerpoint/2010/main" val="3234200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useReducer</a:t>
            </a:r>
            <a:endParaRPr lang="es-CO" dirty="0">
              <a:solidFill>
                <a:schemeClr val="bg1"/>
              </a:solidFill>
              <a:latin typeface="Work Sans Medium" pitchFamily="2" charset="77"/>
            </a:endParaRPr>
          </a:p>
        </p:txBody>
      </p:sp>
      <p:sp>
        <p:nvSpPr>
          <p:cNvPr id="6" name="CuadroTexto 5">
            <a:extLst>
              <a:ext uri="{FF2B5EF4-FFF2-40B4-BE49-F238E27FC236}">
                <a16:creationId xmlns:a16="http://schemas.microsoft.com/office/drawing/2014/main" id="{EFBA7226-1F0D-66F0-C91B-F22A3F161543}"/>
              </a:ext>
            </a:extLst>
          </p:cNvPr>
          <p:cNvSpPr txBox="1"/>
          <p:nvPr/>
        </p:nvSpPr>
        <p:spPr>
          <a:xfrm>
            <a:off x="540574" y="1699272"/>
            <a:ext cx="6094206" cy="646331"/>
          </a:xfrm>
          <a:prstGeom prst="rect">
            <a:avLst/>
          </a:prstGeom>
          <a:noFill/>
        </p:spPr>
        <p:txBody>
          <a:bodyPr wrap="square">
            <a:spAutoFit/>
          </a:bodyPr>
          <a:lstStyle/>
          <a:p>
            <a:r>
              <a:rPr lang="es-ES" dirty="0"/>
              <a:t>Similar a </a:t>
            </a:r>
            <a:r>
              <a:rPr lang="es-ES" dirty="0" err="1"/>
              <a:t>useState</a:t>
            </a:r>
            <a:r>
              <a:rPr lang="es-ES" dirty="0"/>
              <a:t>, pero más adecuado para el manejo de estados complejos.</a:t>
            </a:r>
            <a:endParaRPr lang="en-US" dirty="0"/>
          </a:p>
        </p:txBody>
      </p:sp>
      <p:sp>
        <p:nvSpPr>
          <p:cNvPr id="4" name="CuadroTexto 3">
            <a:extLst>
              <a:ext uri="{FF2B5EF4-FFF2-40B4-BE49-F238E27FC236}">
                <a16:creationId xmlns:a16="http://schemas.microsoft.com/office/drawing/2014/main" id="{CDB470DD-0930-7AC6-CE53-2F1FC73A234D}"/>
              </a:ext>
            </a:extLst>
          </p:cNvPr>
          <p:cNvSpPr txBox="1"/>
          <p:nvPr/>
        </p:nvSpPr>
        <p:spPr>
          <a:xfrm>
            <a:off x="540574" y="2515503"/>
            <a:ext cx="6094206" cy="369332"/>
          </a:xfrm>
          <a:prstGeom prst="rect">
            <a:avLst/>
          </a:prstGeom>
          <a:noFill/>
        </p:spPr>
        <p:txBody>
          <a:bodyPr wrap="square">
            <a:spAutoFit/>
          </a:bodyPr>
          <a:lstStyle/>
          <a:p>
            <a:r>
              <a:rPr lang="en-US" dirty="0"/>
              <a:t>const [state, dispatch] = </a:t>
            </a:r>
            <a:r>
              <a:rPr lang="en-US" dirty="0" err="1"/>
              <a:t>useReducer</a:t>
            </a:r>
            <a:r>
              <a:rPr lang="en-US" dirty="0"/>
              <a:t>(reducer, </a:t>
            </a:r>
            <a:r>
              <a:rPr lang="en-US" dirty="0" err="1"/>
              <a:t>initialArg</a:t>
            </a:r>
            <a:r>
              <a:rPr lang="en-US" dirty="0"/>
              <a:t>, </a:t>
            </a:r>
            <a:r>
              <a:rPr lang="en-US" dirty="0" err="1"/>
              <a:t>init</a:t>
            </a:r>
            <a:r>
              <a:rPr lang="en-US" dirty="0"/>
              <a:t>?)</a:t>
            </a:r>
          </a:p>
        </p:txBody>
      </p:sp>
      <p:sp>
        <p:nvSpPr>
          <p:cNvPr id="7" name="CuadroTexto 6">
            <a:extLst>
              <a:ext uri="{FF2B5EF4-FFF2-40B4-BE49-F238E27FC236}">
                <a16:creationId xmlns:a16="http://schemas.microsoft.com/office/drawing/2014/main" id="{DDAEFE3A-301E-F179-ED81-DDD51604B533}"/>
              </a:ext>
            </a:extLst>
          </p:cNvPr>
          <p:cNvSpPr txBox="1"/>
          <p:nvPr/>
        </p:nvSpPr>
        <p:spPr>
          <a:xfrm>
            <a:off x="540574" y="3054735"/>
            <a:ext cx="6094206" cy="923330"/>
          </a:xfrm>
          <a:prstGeom prst="rect">
            <a:avLst/>
          </a:prstGeom>
          <a:noFill/>
        </p:spPr>
        <p:txBody>
          <a:bodyPr wrap="square">
            <a:spAutoFit/>
          </a:bodyPr>
          <a:lstStyle/>
          <a:p>
            <a:r>
              <a:rPr lang="es-ES" b="1" dirty="0" err="1"/>
              <a:t>useReducer</a:t>
            </a:r>
            <a:r>
              <a:rPr lang="es-ES" b="1" dirty="0"/>
              <a:t>(</a:t>
            </a:r>
            <a:r>
              <a:rPr lang="es-ES" b="1" dirty="0" err="1"/>
              <a:t>reducer</a:t>
            </a:r>
            <a:r>
              <a:rPr lang="es-ES" b="1" dirty="0"/>
              <a:t>, </a:t>
            </a:r>
            <a:r>
              <a:rPr lang="es-ES" b="1" dirty="0" err="1"/>
              <a:t>initialArg</a:t>
            </a:r>
            <a:r>
              <a:rPr lang="es-ES" b="1" dirty="0"/>
              <a:t>, </a:t>
            </a:r>
            <a:r>
              <a:rPr lang="es-ES" b="1" dirty="0" err="1"/>
              <a:t>init</a:t>
            </a:r>
            <a:r>
              <a:rPr lang="es-ES" b="1" dirty="0"/>
              <a:t>?) </a:t>
            </a:r>
          </a:p>
          <a:p>
            <a:r>
              <a:rPr lang="es-ES" dirty="0"/>
              <a:t>Llama a </a:t>
            </a:r>
            <a:r>
              <a:rPr lang="es-ES" dirty="0" err="1"/>
              <a:t>useReducer</a:t>
            </a:r>
            <a:r>
              <a:rPr lang="es-ES" dirty="0"/>
              <a:t> en el nivel superior de tu componente para gestionar su estado con un </a:t>
            </a:r>
            <a:r>
              <a:rPr lang="es-ES" dirty="0" err="1"/>
              <a:t>reducer</a:t>
            </a:r>
            <a:r>
              <a:rPr lang="es-ES" dirty="0"/>
              <a:t>.</a:t>
            </a:r>
            <a:endParaRPr lang="en-US" dirty="0"/>
          </a:p>
        </p:txBody>
      </p:sp>
      <p:sp>
        <p:nvSpPr>
          <p:cNvPr id="10" name="CuadroTexto 9">
            <a:extLst>
              <a:ext uri="{FF2B5EF4-FFF2-40B4-BE49-F238E27FC236}">
                <a16:creationId xmlns:a16="http://schemas.microsoft.com/office/drawing/2014/main" id="{E08E82CC-07D1-6B98-9BEA-F30CA94D35A7}"/>
              </a:ext>
            </a:extLst>
          </p:cNvPr>
          <p:cNvSpPr txBox="1"/>
          <p:nvPr/>
        </p:nvSpPr>
        <p:spPr>
          <a:xfrm>
            <a:off x="540575" y="4147965"/>
            <a:ext cx="8022512" cy="2585323"/>
          </a:xfrm>
          <a:prstGeom prst="rect">
            <a:avLst/>
          </a:prstGeom>
          <a:noFill/>
        </p:spPr>
        <p:txBody>
          <a:bodyPr wrap="square">
            <a:spAutoFit/>
          </a:bodyPr>
          <a:lstStyle/>
          <a:p>
            <a:pPr algn="just"/>
            <a:r>
              <a:rPr lang="es-ES" b="1" dirty="0"/>
              <a:t>Parámetros </a:t>
            </a:r>
          </a:p>
          <a:p>
            <a:pPr algn="just"/>
            <a:r>
              <a:rPr lang="es-ES" b="1" dirty="0" err="1"/>
              <a:t>reducer</a:t>
            </a:r>
            <a:r>
              <a:rPr lang="es-ES" b="1" dirty="0"/>
              <a:t>: </a:t>
            </a:r>
            <a:r>
              <a:rPr lang="es-ES" dirty="0"/>
              <a:t>La función reductora que debe devolver el estado inicial. Debe ser pura, debe tomar el estado y la acción como argumentos, y debe devolver el siguiente estado. El estado y la acción pueden ser de cualquier tipo.</a:t>
            </a:r>
          </a:p>
          <a:p>
            <a:pPr algn="just"/>
            <a:r>
              <a:rPr lang="es-ES" b="1" dirty="0" err="1"/>
              <a:t>initialArg</a:t>
            </a:r>
            <a:r>
              <a:rPr lang="es-ES" b="1" dirty="0"/>
              <a:t>: </a:t>
            </a:r>
            <a:r>
              <a:rPr lang="es-ES" dirty="0"/>
              <a:t>El valor a partir del cual se calcula el estado inicial. Puede ser un valor de cualquier tipo. Cómo se calcula el estado inicial depende del siguiente argumento </a:t>
            </a:r>
            <a:r>
              <a:rPr lang="es-ES" dirty="0" err="1"/>
              <a:t>init</a:t>
            </a:r>
            <a:r>
              <a:rPr lang="es-ES" dirty="0"/>
              <a:t>. opcional </a:t>
            </a:r>
            <a:r>
              <a:rPr lang="es-ES" dirty="0" err="1"/>
              <a:t>init</a:t>
            </a:r>
            <a:r>
              <a:rPr lang="es-ES" dirty="0"/>
              <a:t>: La función inicializadora que especifica cómo se calcula el estado inicial. Si no se especifica, el estado inicial se establece en </a:t>
            </a:r>
            <a:r>
              <a:rPr lang="es-ES" dirty="0" err="1"/>
              <a:t>initialArg</a:t>
            </a:r>
            <a:r>
              <a:rPr lang="es-ES" dirty="0"/>
              <a:t>. En caso contrario, el estado inicial es el resultado de llamar a </a:t>
            </a:r>
            <a:r>
              <a:rPr lang="es-ES" dirty="0" err="1"/>
              <a:t>init</a:t>
            </a:r>
            <a:r>
              <a:rPr lang="es-ES" dirty="0"/>
              <a:t>(</a:t>
            </a:r>
            <a:r>
              <a:rPr lang="es-ES" dirty="0" err="1"/>
              <a:t>initialArg</a:t>
            </a:r>
            <a:r>
              <a:rPr lang="es-ES" dirty="0"/>
              <a:t>).</a:t>
            </a:r>
            <a:endParaRPr lang="en-US" dirty="0"/>
          </a:p>
        </p:txBody>
      </p:sp>
      <p:sp>
        <p:nvSpPr>
          <p:cNvPr id="14" name="CuadroTexto 13">
            <a:extLst>
              <a:ext uri="{FF2B5EF4-FFF2-40B4-BE49-F238E27FC236}">
                <a16:creationId xmlns:a16="http://schemas.microsoft.com/office/drawing/2014/main" id="{4D87435D-0A0C-8237-BCA2-D819674D1A5D}"/>
              </a:ext>
            </a:extLst>
          </p:cNvPr>
          <p:cNvSpPr txBox="1"/>
          <p:nvPr/>
        </p:nvSpPr>
        <p:spPr>
          <a:xfrm>
            <a:off x="6736977" y="1669741"/>
            <a:ext cx="5279315" cy="2308324"/>
          </a:xfrm>
          <a:prstGeom prst="rect">
            <a:avLst/>
          </a:prstGeom>
          <a:noFill/>
        </p:spPr>
        <p:txBody>
          <a:bodyPr wrap="square">
            <a:spAutoFit/>
          </a:bodyPr>
          <a:lstStyle/>
          <a:p>
            <a:r>
              <a:rPr lang="es-ES" b="1" dirty="0"/>
              <a:t>Devuelve </a:t>
            </a:r>
          </a:p>
          <a:p>
            <a:r>
              <a:rPr lang="es-ES" dirty="0" err="1"/>
              <a:t>useReducer</a:t>
            </a:r>
            <a:r>
              <a:rPr lang="es-ES" dirty="0"/>
              <a:t> devuelve un array con exactamente dos valores:</a:t>
            </a:r>
          </a:p>
          <a:p>
            <a:endParaRPr lang="es-ES" dirty="0"/>
          </a:p>
          <a:p>
            <a:r>
              <a:rPr lang="es-ES" b="1" dirty="0"/>
              <a:t>El estado actual. </a:t>
            </a:r>
            <a:r>
              <a:rPr lang="es-ES" dirty="0"/>
              <a:t>Durante el primer renderizado, se establece a </a:t>
            </a:r>
            <a:r>
              <a:rPr lang="es-ES" dirty="0" err="1"/>
              <a:t>init</a:t>
            </a:r>
            <a:r>
              <a:rPr lang="es-ES" dirty="0"/>
              <a:t>(</a:t>
            </a:r>
            <a:r>
              <a:rPr lang="es-ES" dirty="0" err="1"/>
              <a:t>initialArg</a:t>
            </a:r>
            <a:r>
              <a:rPr lang="es-ES" dirty="0"/>
              <a:t>) o </a:t>
            </a:r>
            <a:r>
              <a:rPr lang="es-ES" dirty="0" err="1"/>
              <a:t>initialArg</a:t>
            </a:r>
            <a:r>
              <a:rPr lang="es-ES" dirty="0"/>
              <a:t> (si no hay </a:t>
            </a:r>
            <a:r>
              <a:rPr lang="es-ES" dirty="0" err="1"/>
              <a:t>init</a:t>
            </a:r>
            <a:r>
              <a:rPr lang="es-ES" dirty="0"/>
              <a:t>).</a:t>
            </a:r>
          </a:p>
          <a:p>
            <a:r>
              <a:rPr lang="es-ES" dirty="0"/>
              <a:t>La función </a:t>
            </a:r>
            <a:r>
              <a:rPr lang="es-ES" dirty="0" err="1"/>
              <a:t>dispatch</a:t>
            </a:r>
            <a:r>
              <a:rPr lang="es-ES" dirty="0"/>
              <a:t> que permite actualizar el estado a un valor diferente y activar una nueva renderización.</a:t>
            </a:r>
            <a:endParaRPr lang="en-US" dirty="0"/>
          </a:p>
        </p:txBody>
      </p:sp>
    </p:spTree>
    <p:extLst>
      <p:ext uri="{BB962C8B-B14F-4D97-AF65-F5344CB8AC3E}">
        <p14:creationId xmlns:p14="http://schemas.microsoft.com/office/powerpoint/2010/main" val="3240589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useCallback</a:t>
            </a:r>
            <a:endParaRPr lang="es-CO" dirty="0">
              <a:solidFill>
                <a:schemeClr val="bg1"/>
              </a:solidFill>
              <a:latin typeface="Work Sans Medium" pitchFamily="2" charset="77"/>
            </a:endParaRPr>
          </a:p>
        </p:txBody>
      </p:sp>
      <p:sp>
        <p:nvSpPr>
          <p:cNvPr id="6" name="CuadroTexto 5">
            <a:extLst>
              <a:ext uri="{FF2B5EF4-FFF2-40B4-BE49-F238E27FC236}">
                <a16:creationId xmlns:a16="http://schemas.microsoft.com/office/drawing/2014/main" id="{EFBA7226-1F0D-66F0-C91B-F22A3F161543}"/>
              </a:ext>
            </a:extLst>
          </p:cNvPr>
          <p:cNvSpPr txBox="1"/>
          <p:nvPr/>
        </p:nvSpPr>
        <p:spPr>
          <a:xfrm>
            <a:off x="605119" y="1806848"/>
            <a:ext cx="6094206" cy="646331"/>
          </a:xfrm>
          <a:prstGeom prst="rect">
            <a:avLst/>
          </a:prstGeom>
          <a:noFill/>
        </p:spPr>
        <p:txBody>
          <a:bodyPr wrap="square">
            <a:spAutoFit/>
          </a:bodyPr>
          <a:lstStyle/>
          <a:p>
            <a:r>
              <a:rPr lang="en-US" dirty="0" err="1"/>
              <a:t>Memoriza</a:t>
            </a:r>
            <a:r>
              <a:rPr lang="en-US" dirty="0"/>
              <a:t> </a:t>
            </a:r>
            <a:r>
              <a:rPr lang="en-US" dirty="0" err="1"/>
              <a:t>funciones</a:t>
            </a:r>
            <a:r>
              <a:rPr lang="en-US" dirty="0"/>
              <a:t>, </a:t>
            </a:r>
            <a:r>
              <a:rPr lang="en-US" dirty="0" err="1"/>
              <a:t>evitando</a:t>
            </a:r>
            <a:r>
              <a:rPr lang="en-US" dirty="0"/>
              <a:t> que se </a:t>
            </a:r>
            <a:r>
              <a:rPr lang="en-US" dirty="0" err="1"/>
              <a:t>redefinan</a:t>
            </a:r>
            <a:r>
              <a:rPr lang="en-US" dirty="0"/>
              <a:t> </a:t>
            </a:r>
            <a:r>
              <a:rPr lang="en-US" dirty="0" err="1"/>
              <a:t>en</a:t>
            </a:r>
            <a:r>
              <a:rPr lang="en-US" dirty="0"/>
              <a:t> </a:t>
            </a:r>
            <a:r>
              <a:rPr lang="en-US" dirty="0" err="1"/>
              <a:t>cada</a:t>
            </a:r>
            <a:r>
              <a:rPr lang="en-US" dirty="0"/>
              <a:t> </a:t>
            </a:r>
            <a:r>
              <a:rPr lang="en-US" dirty="0" err="1"/>
              <a:t>renderizado</a:t>
            </a:r>
            <a:r>
              <a:rPr lang="en-US" dirty="0"/>
              <a:t>.</a:t>
            </a:r>
          </a:p>
        </p:txBody>
      </p:sp>
      <p:sp>
        <p:nvSpPr>
          <p:cNvPr id="7" name="CuadroTexto 6">
            <a:extLst>
              <a:ext uri="{FF2B5EF4-FFF2-40B4-BE49-F238E27FC236}">
                <a16:creationId xmlns:a16="http://schemas.microsoft.com/office/drawing/2014/main" id="{52145D91-8D57-C933-2F4A-84139A7FCA26}"/>
              </a:ext>
            </a:extLst>
          </p:cNvPr>
          <p:cNvSpPr txBox="1"/>
          <p:nvPr/>
        </p:nvSpPr>
        <p:spPr>
          <a:xfrm>
            <a:off x="605119" y="2689600"/>
            <a:ext cx="6094206" cy="369332"/>
          </a:xfrm>
          <a:prstGeom prst="rect">
            <a:avLst/>
          </a:prstGeom>
          <a:noFill/>
        </p:spPr>
        <p:txBody>
          <a:bodyPr wrap="square">
            <a:spAutoFit/>
          </a:bodyPr>
          <a:lstStyle/>
          <a:p>
            <a:r>
              <a:rPr lang="en-US" dirty="0"/>
              <a:t>const </a:t>
            </a:r>
            <a:r>
              <a:rPr lang="en-US" dirty="0" err="1"/>
              <a:t>cachedFn</a:t>
            </a:r>
            <a:r>
              <a:rPr lang="en-US" dirty="0"/>
              <a:t> = </a:t>
            </a:r>
            <a:r>
              <a:rPr lang="en-US" dirty="0" err="1"/>
              <a:t>useCallback</a:t>
            </a:r>
            <a:r>
              <a:rPr lang="en-US" dirty="0"/>
              <a:t>(</a:t>
            </a:r>
            <a:r>
              <a:rPr lang="en-US" dirty="0" err="1"/>
              <a:t>fn</a:t>
            </a:r>
            <a:r>
              <a:rPr lang="en-US" dirty="0"/>
              <a:t>, dependencies)</a:t>
            </a:r>
          </a:p>
        </p:txBody>
      </p:sp>
      <p:sp>
        <p:nvSpPr>
          <p:cNvPr id="10" name="CuadroTexto 9">
            <a:extLst>
              <a:ext uri="{FF2B5EF4-FFF2-40B4-BE49-F238E27FC236}">
                <a16:creationId xmlns:a16="http://schemas.microsoft.com/office/drawing/2014/main" id="{E9A82D3E-93AC-E3EF-C159-B7B48271651F}"/>
              </a:ext>
            </a:extLst>
          </p:cNvPr>
          <p:cNvSpPr txBox="1"/>
          <p:nvPr/>
        </p:nvSpPr>
        <p:spPr>
          <a:xfrm>
            <a:off x="605119" y="3287398"/>
            <a:ext cx="6094206" cy="1200329"/>
          </a:xfrm>
          <a:prstGeom prst="rect">
            <a:avLst/>
          </a:prstGeom>
          <a:noFill/>
        </p:spPr>
        <p:txBody>
          <a:bodyPr wrap="square">
            <a:spAutoFit/>
          </a:bodyPr>
          <a:lstStyle/>
          <a:p>
            <a:r>
              <a:rPr lang="es-ES" b="1" dirty="0" err="1"/>
              <a:t>useCallback</a:t>
            </a:r>
            <a:r>
              <a:rPr lang="es-ES" b="1" dirty="0"/>
              <a:t>(</a:t>
            </a:r>
            <a:r>
              <a:rPr lang="es-ES" b="1" dirty="0" err="1"/>
              <a:t>fn</a:t>
            </a:r>
            <a:r>
              <a:rPr lang="es-ES" b="1" dirty="0"/>
              <a:t>, dependencias) </a:t>
            </a:r>
          </a:p>
          <a:p>
            <a:r>
              <a:rPr lang="es-ES" dirty="0"/>
              <a:t>Llama a </a:t>
            </a:r>
            <a:r>
              <a:rPr lang="es-ES" dirty="0" err="1"/>
              <a:t>useCallback</a:t>
            </a:r>
            <a:r>
              <a:rPr lang="es-ES" dirty="0"/>
              <a:t> en el nivel superior de tu componente guardar en caché entre </a:t>
            </a:r>
            <a:r>
              <a:rPr lang="es-ES" dirty="0" err="1"/>
              <a:t>rerenderizados</a:t>
            </a:r>
            <a:r>
              <a:rPr lang="es-ES" dirty="0"/>
              <a:t> una definición de una función:</a:t>
            </a:r>
            <a:endParaRPr lang="en-US" dirty="0"/>
          </a:p>
        </p:txBody>
      </p:sp>
      <p:sp>
        <p:nvSpPr>
          <p:cNvPr id="13" name="CuadroTexto 12">
            <a:extLst>
              <a:ext uri="{FF2B5EF4-FFF2-40B4-BE49-F238E27FC236}">
                <a16:creationId xmlns:a16="http://schemas.microsoft.com/office/drawing/2014/main" id="{665D8E29-42AD-4092-8CAB-C830B590003C}"/>
              </a:ext>
            </a:extLst>
          </p:cNvPr>
          <p:cNvSpPr txBox="1"/>
          <p:nvPr/>
        </p:nvSpPr>
        <p:spPr>
          <a:xfrm>
            <a:off x="605119" y="4716194"/>
            <a:ext cx="6914476" cy="2031325"/>
          </a:xfrm>
          <a:prstGeom prst="rect">
            <a:avLst/>
          </a:prstGeom>
          <a:noFill/>
        </p:spPr>
        <p:txBody>
          <a:bodyPr wrap="square">
            <a:spAutoFit/>
          </a:bodyPr>
          <a:lstStyle/>
          <a:p>
            <a:r>
              <a:rPr lang="es-ES" b="1" dirty="0"/>
              <a:t>Parámetros </a:t>
            </a:r>
          </a:p>
          <a:p>
            <a:pPr algn="just"/>
            <a:r>
              <a:rPr lang="es-ES" b="1" dirty="0" err="1"/>
              <a:t>fn</a:t>
            </a:r>
            <a:r>
              <a:rPr lang="es-ES" b="1" dirty="0"/>
              <a:t>: </a:t>
            </a:r>
            <a:r>
              <a:rPr lang="es-ES" dirty="0"/>
              <a:t>La función que deseas guardar en caché. Puede recibir cualquier argumento y devolver cualquier valor. </a:t>
            </a:r>
            <a:r>
              <a:rPr lang="es-ES" dirty="0" err="1"/>
              <a:t>React</a:t>
            </a:r>
            <a:r>
              <a:rPr lang="es-ES" dirty="0"/>
              <a:t> devolverá (¡no llamará!) tu función durante el renderizado inicial. En los renderizados subsecuentes, </a:t>
            </a:r>
            <a:r>
              <a:rPr lang="es-ES" dirty="0" err="1"/>
              <a:t>React</a:t>
            </a:r>
            <a:r>
              <a:rPr lang="es-ES" dirty="0"/>
              <a:t> devolverá la misma función nuevamente si las dependencias no han cambiado desde el último renderizado. La función se devolverá para que puedas decidir si y cuándo llamarla.</a:t>
            </a:r>
            <a:endParaRPr lang="en-US" dirty="0"/>
          </a:p>
        </p:txBody>
      </p:sp>
      <p:sp>
        <p:nvSpPr>
          <p:cNvPr id="16" name="CuadroTexto 15">
            <a:extLst>
              <a:ext uri="{FF2B5EF4-FFF2-40B4-BE49-F238E27FC236}">
                <a16:creationId xmlns:a16="http://schemas.microsoft.com/office/drawing/2014/main" id="{A1FF72B3-C814-097B-0019-BD732CEAB5E6}"/>
              </a:ext>
            </a:extLst>
          </p:cNvPr>
          <p:cNvSpPr txBox="1"/>
          <p:nvPr/>
        </p:nvSpPr>
        <p:spPr>
          <a:xfrm>
            <a:off x="6622229" y="1806848"/>
            <a:ext cx="5569771" cy="3139321"/>
          </a:xfrm>
          <a:prstGeom prst="rect">
            <a:avLst/>
          </a:prstGeom>
          <a:noFill/>
        </p:spPr>
        <p:txBody>
          <a:bodyPr wrap="square">
            <a:spAutoFit/>
          </a:bodyPr>
          <a:lstStyle/>
          <a:p>
            <a:pPr algn="just"/>
            <a:r>
              <a:rPr lang="es-ES" b="1" dirty="0"/>
              <a:t>dependencias: </a:t>
            </a:r>
            <a:r>
              <a:rPr lang="es-ES" dirty="0"/>
              <a:t>La lista de todos los valores reactivos dentro de la función </a:t>
            </a:r>
            <a:r>
              <a:rPr lang="es-ES" dirty="0" err="1"/>
              <a:t>fn</a:t>
            </a:r>
            <a:r>
              <a:rPr lang="es-ES" dirty="0"/>
              <a:t>. Los valores reactivos incluyen </a:t>
            </a:r>
            <a:r>
              <a:rPr lang="es-ES" dirty="0" err="1"/>
              <a:t>props</a:t>
            </a:r>
            <a:r>
              <a:rPr lang="es-ES" dirty="0"/>
              <a:t>, estado y todas las variables y funciones declaradas directamente dentro del cuerpo de tu componente. Si tu </a:t>
            </a:r>
            <a:r>
              <a:rPr lang="es-ES" dirty="0" err="1"/>
              <a:t>linter</a:t>
            </a:r>
            <a:r>
              <a:rPr lang="es-ES" dirty="0"/>
              <a:t> está configurado para </a:t>
            </a:r>
            <a:r>
              <a:rPr lang="es-ES" dirty="0" err="1"/>
              <a:t>React</a:t>
            </a:r>
            <a:r>
              <a:rPr lang="es-ES" dirty="0"/>
              <a:t>, verificará que cada valor reactivo esté debidamente especificado como una dependencia. La lista de dependencias debe tener un número constante de elementos y estar escrita en línea, de la forma [dep1, dep2, dep3]. </a:t>
            </a:r>
            <a:r>
              <a:rPr lang="es-ES" dirty="0" err="1"/>
              <a:t>React</a:t>
            </a:r>
            <a:r>
              <a:rPr lang="es-ES" dirty="0"/>
              <a:t> comparará cada dependencia con su valor anterior usando el algoritmo de comparación Object.is.</a:t>
            </a:r>
            <a:endParaRPr lang="en-US" dirty="0"/>
          </a:p>
        </p:txBody>
      </p:sp>
    </p:spTree>
    <p:extLst>
      <p:ext uri="{BB962C8B-B14F-4D97-AF65-F5344CB8AC3E}">
        <p14:creationId xmlns:p14="http://schemas.microsoft.com/office/powerpoint/2010/main" val="126521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useMemo</a:t>
            </a:r>
            <a:endParaRPr lang="es-CO" dirty="0">
              <a:solidFill>
                <a:schemeClr val="bg1"/>
              </a:solidFill>
              <a:latin typeface="Work Sans Medium" pitchFamily="2" charset="77"/>
            </a:endParaRPr>
          </a:p>
        </p:txBody>
      </p:sp>
      <p:sp>
        <p:nvSpPr>
          <p:cNvPr id="6" name="CuadroTexto 5">
            <a:extLst>
              <a:ext uri="{FF2B5EF4-FFF2-40B4-BE49-F238E27FC236}">
                <a16:creationId xmlns:a16="http://schemas.microsoft.com/office/drawing/2014/main" id="{EFBA7226-1F0D-66F0-C91B-F22A3F161543}"/>
              </a:ext>
            </a:extLst>
          </p:cNvPr>
          <p:cNvSpPr txBox="1"/>
          <p:nvPr/>
        </p:nvSpPr>
        <p:spPr>
          <a:xfrm>
            <a:off x="605119" y="1806848"/>
            <a:ext cx="6094206" cy="646331"/>
          </a:xfrm>
          <a:prstGeom prst="rect">
            <a:avLst/>
          </a:prstGeom>
          <a:noFill/>
        </p:spPr>
        <p:txBody>
          <a:bodyPr wrap="square">
            <a:spAutoFit/>
          </a:bodyPr>
          <a:lstStyle/>
          <a:p>
            <a:r>
              <a:rPr lang="en-US" dirty="0" err="1"/>
              <a:t>Memoriza</a:t>
            </a:r>
            <a:r>
              <a:rPr lang="en-US" dirty="0"/>
              <a:t> </a:t>
            </a:r>
            <a:r>
              <a:rPr lang="en-US" dirty="0" err="1"/>
              <a:t>funciones</a:t>
            </a:r>
            <a:r>
              <a:rPr lang="en-US" dirty="0"/>
              <a:t>, </a:t>
            </a:r>
            <a:r>
              <a:rPr lang="en-US" dirty="0" err="1"/>
              <a:t>evitando</a:t>
            </a:r>
            <a:r>
              <a:rPr lang="en-US" dirty="0"/>
              <a:t> que se </a:t>
            </a:r>
            <a:r>
              <a:rPr lang="en-US" dirty="0" err="1"/>
              <a:t>redefinan</a:t>
            </a:r>
            <a:r>
              <a:rPr lang="en-US" dirty="0"/>
              <a:t> </a:t>
            </a:r>
            <a:r>
              <a:rPr lang="en-US" dirty="0" err="1"/>
              <a:t>en</a:t>
            </a:r>
            <a:r>
              <a:rPr lang="en-US" dirty="0"/>
              <a:t> </a:t>
            </a:r>
            <a:r>
              <a:rPr lang="en-US" dirty="0" err="1"/>
              <a:t>cada</a:t>
            </a:r>
            <a:r>
              <a:rPr lang="en-US" dirty="0"/>
              <a:t> </a:t>
            </a:r>
            <a:r>
              <a:rPr lang="en-US" dirty="0" err="1"/>
              <a:t>renderizado</a:t>
            </a:r>
            <a:r>
              <a:rPr lang="en-US" dirty="0"/>
              <a:t>.</a:t>
            </a:r>
          </a:p>
        </p:txBody>
      </p:sp>
      <p:sp>
        <p:nvSpPr>
          <p:cNvPr id="7" name="CuadroTexto 6">
            <a:extLst>
              <a:ext uri="{FF2B5EF4-FFF2-40B4-BE49-F238E27FC236}">
                <a16:creationId xmlns:a16="http://schemas.microsoft.com/office/drawing/2014/main" id="{52145D91-8D57-C933-2F4A-84139A7FCA26}"/>
              </a:ext>
            </a:extLst>
          </p:cNvPr>
          <p:cNvSpPr txBox="1"/>
          <p:nvPr/>
        </p:nvSpPr>
        <p:spPr>
          <a:xfrm>
            <a:off x="605119" y="2689600"/>
            <a:ext cx="6094206" cy="369332"/>
          </a:xfrm>
          <a:prstGeom prst="rect">
            <a:avLst/>
          </a:prstGeom>
          <a:noFill/>
        </p:spPr>
        <p:txBody>
          <a:bodyPr wrap="square">
            <a:spAutoFit/>
          </a:bodyPr>
          <a:lstStyle/>
          <a:p>
            <a:r>
              <a:rPr lang="en-US" dirty="0"/>
              <a:t>const </a:t>
            </a:r>
            <a:r>
              <a:rPr lang="en-US" dirty="0" err="1"/>
              <a:t>cachedFn</a:t>
            </a:r>
            <a:r>
              <a:rPr lang="en-US" dirty="0"/>
              <a:t> = </a:t>
            </a:r>
            <a:r>
              <a:rPr lang="en-US" dirty="0" err="1"/>
              <a:t>useCallback</a:t>
            </a:r>
            <a:r>
              <a:rPr lang="en-US" dirty="0"/>
              <a:t>(</a:t>
            </a:r>
            <a:r>
              <a:rPr lang="en-US" dirty="0" err="1"/>
              <a:t>fn</a:t>
            </a:r>
            <a:r>
              <a:rPr lang="en-US" dirty="0"/>
              <a:t>, dependencies)</a:t>
            </a:r>
          </a:p>
        </p:txBody>
      </p:sp>
      <p:sp>
        <p:nvSpPr>
          <p:cNvPr id="10" name="CuadroTexto 9">
            <a:extLst>
              <a:ext uri="{FF2B5EF4-FFF2-40B4-BE49-F238E27FC236}">
                <a16:creationId xmlns:a16="http://schemas.microsoft.com/office/drawing/2014/main" id="{E9A82D3E-93AC-E3EF-C159-B7B48271651F}"/>
              </a:ext>
            </a:extLst>
          </p:cNvPr>
          <p:cNvSpPr txBox="1"/>
          <p:nvPr/>
        </p:nvSpPr>
        <p:spPr>
          <a:xfrm>
            <a:off x="605119" y="3287398"/>
            <a:ext cx="6094206" cy="1200329"/>
          </a:xfrm>
          <a:prstGeom prst="rect">
            <a:avLst/>
          </a:prstGeom>
          <a:noFill/>
        </p:spPr>
        <p:txBody>
          <a:bodyPr wrap="square">
            <a:spAutoFit/>
          </a:bodyPr>
          <a:lstStyle/>
          <a:p>
            <a:r>
              <a:rPr lang="es-ES" b="1" dirty="0" err="1"/>
              <a:t>useCallback</a:t>
            </a:r>
            <a:r>
              <a:rPr lang="es-ES" b="1" dirty="0"/>
              <a:t>(</a:t>
            </a:r>
            <a:r>
              <a:rPr lang="es-ES" b="1" dirty="0" err="1"/>
              <a:t>fn</a:t>
            </a:r>
            <a:r>
              <a:rPr lang="es-ES" b="1" dirty="0"/>
              <a:t>, dependencias) </a:t>
            </a:r>
          </a:p>
          <a:p>
            <a:r>
              <a:rPr lang="es-ES" dirty="0"/>
              <a:t>Llama a </a:t>
            </a:r>
            <a:r>
              <a:rPr lang="es-ES" dirty="0" err="1"/>
              <a:t>useCallback</a:t>
            </a:r>
            <a:r>
              <a:rPr lang="es-ES" dirty="0"/>
              <a:t> en el nivel superior de tu componente guardar en caché entre </a:t>
            </a:r>
            <a:r>
              <a:rPr lang="es-ES" dirty="0" err="1"/>
              <a:t>rerenderizados</a:t>
            </a:r>
            <a:r>
              <a:rPr lang="es-ES" dirty="0"/>
              <a:t> una definición de una función:</a:t>
            </a:r>
            <a:endParaRPr lang="en-US" dirty="0"/>
          </a:p>
        </p:txBody>
      </p:sp>
      <p:sp>
        <p:nvSpPr>
          <p:cNvPr id="13" name="CuadroTexto 12">
            <a:extLst>
              <a:ext uri="{FF2B5EF4-FFF2-40B4-BE49-F238E27FC236}">
                <a16:creationId xmlns:a16="http://schemas.microsoft.com/office/drawing/2014/main" id="{665D8E29-42AD-4092-8CAB-C830B590003C}"/>
              </a:ext>
            </a:extLst>
          </p:cNvPr>
          <p:cNvSpPr txBox="1"/>
          <p:nvPr/>
        </p:nvSpPr>
        <p:spPr>
          <a:xfrm>
            <a:off x="605119" y="4716194"/>
            <a:ext cx="6914476" cy="2031325"/>
          </a:xfrm>
          <a:prstGeom prst="rect">
            <a:avLst/>
          </a:prstGeom>
          <a:noFill/>
        </p:spPr>
        <p:txBody>
          <a:bodyPr wrap="square">
            <a:spAutoFit/>
          </a:bodyPr>
          <a:lstStyle/>
          <a:p>
            <a:r>
              <a:rPr lang="es-ES" b="1" dirty="0"/>
              <a:t>Parámetros </a:t>
            </a:r>
          </a:p>
          <a:p>
            <a:pPr algn="just"/>
            <a:r>
              <a:rPr lang="es-ES" b="1" dirty="0" err="1"/>
              <a:t>fn</a:t>
            </a:r>
            <a:r>
              <a:rPr lang="es-ES" b="1" dirty="0"/>
              <a:t>: </a:t>
            </a:r>
            <a:r>
              <a:rPr lang="es-ES" dirty="0"/>
              <a:t>La función que deseas guardar en caché. Puede recibir cualquier argumento y devolver cualquier valor. </a:t>
            </a:r>
            <a:r>
              <a:rPr lang="es-ES" dirty="0" err="1"/>
              <a:t>React</a:t>
            </a:r>
            <a:r>
              <a:rPr lang="es-ES" dirty="0"/>
              <a:t> devolverá (¡no llamará!) tu función durante el renderizado inicial. En los renderizados subsecuentes, </a:t>
            </a:r>
            <a:r>
              <a:rPr lang="es-ES" dirty="0" err="1"/>
              <a:t>React</a:t>
            </a:r>
            <a:r>
              <a:rPr lang="es-ES" dirty="0"/>
              <a:t> devolverá la misma función nuevamente si las dependencias no han cambiado desde el último renderizado. La función se devolverá para que puedas decidir si y cuándo llamarla.</a:t>
            </a:r>
            <a:endParaRPr lang="en-US" dirty="0"/>
          </a:p>
        </p:txBody>
      </p:sp>
      <p:sp>
        <p:nvSpPr>
          <p:cNvPr id="16" name="CuadroTexto 15">
            <a:extLst>
              <a:ext uri="{FF2B5EF4-FFF2-40B4-BE49-F238E27FC236}">
                <a16:creationId xmlns:a16="http://schemas.microsoft.com/office/drawing/2014/main" id="{A1FF72B3-C814-097B-0019-BD732CEAB5E6}"/>
              </a:ext>
            </a:extLst>
          </p:cNvPr>
          <p:cNvSpPr txBox="1"/>
          <p:nvPr/>
        </p:nvSpPr>
        <p:spPr>
          <a:xfrm>
            <a:off x="6622229" y="1806848"/>
            <a:ext cx="5569771" cy="3139321"/>
          </a:xfrm>
          <a:prstGeom prst="rect">
            <a:avLst/>
          </a:prstGeom>
          <a:noFill/>
        </p:spPr>
        <p:txBody>
          <a:bodyPr wrap="square">
            <a:spAutoFit/>
          </a:bodyPr>
          <a:lstStyle/>
          <a:p>
            <a:pPr algn="just"/>
            <a:r>
              <a:rPr lang="es-ES" b="1" dirty="0"/>
              <a:t>dependencias: </a:t>
            </a:r>
            <a:r>
              <a:rPr lang="es-ES" dirty="0"/>
              <a:t>La lista de todos los valores reactivos dentro de la función </a:t>
            </a:r>
            <a:r>
              <a:rPr lang="es-ES" dirty="0" err="1"/>
              <a:t>fn</a:t>
            </a:r>
            <a:r>
              <a:rPr lang="es-ES" dirty="0"/>
              <a:t>. Los valores reactivos incluyen </a:t>
            </a:r>
            <a:r>
              <a:rPr lang="es-ES" dirty="0" err="1"/>
              <a:t>props</a:t>
            </a:r>
            <a:r>
              <a:rPr lang="es-ES" dirty="0"/>
              <a:t>, estado y todas las variables y funciones declaradas directamente dentro del cuerpo de tu componente. Si tu </a:t>
            </a:r>
            <a:r>
              <a:rPr lang="es-ES" dirty="0" err="1"/>
              <a:t>linter</a:t>
            </a:r>
            <a:r>
              <a:rPr lang="es-ES" dirty="0"/>
              <a:t> está configurado para </a:t>
            </a:r>
            <a:r>
              <a:rPr lang="es-ES" dirty="0" err="1"/>
              <a:t>React</a:t>
            </a:r>
            <a:r>
              <a:rPr lang="es-ES" dirty="0"/>
              <a:t>, verificará que cada valor reactivo esté debidamente especificado como una dependencia. La lista de dependencias debe tener un número constante de elementos y estar escrita en línea, de la forma [dep1, dep2, dep3]. </a:t>
            </a:r>
            <a:r>
              <a:rPr lang="es-ES" dirty="0" err="1"/>
              <a:t>React</a:t>
            </a:r>
            <a:r>
              <a:rPr lang="es-ES" dirty="0"/>
              <a:t> comparará cada dependencia con su valor anterior usando el algoritmo de comparación Object.is.</a:t>
            </a:r>
            <a:endParaRPr lang="en-US" dirty="0"/>
          </a:p>
        </p:txBody>
      </p:sp>
    </p:spTree>
    <p:extLst>
      <p:ext uri="{BB962C8B-B14F-4D97-AF65-F5344CB8AC3E}">
        <p14:creationId xmlns:p14="http://schemas.microsoft.com/office/powerpoint/2010/main" val="3712737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CustomHooks</a:t>
            </a:r>
            <a:endParaRPr lang="es-CO" dirty="0">
              <a:solidFill>
                <a:schemeClr val="bg1"/>
              </a:solidFill>
              <a:latin typeface="Work Sans Medium" pitchFamily="2" charset="77"/>
            </a:endParaRPr>
          </a:p>
        </p:txBody>
      </p:sp>
      <p:sp>
        <p:nvSpPr>
          <p:cNvPr id="4" name="CuadroTexto 3">
            <a:extLst>
              <a:ext uri="{FF2B5EF4-FFF2-40B4-BE49-F238E27FC236}">
                <a16:creationId xmlns:a16="http://schemas.microsoft.com/office/drawing/2014/main" id="{A9BAA2D8-6377-2065-429D-E8D5CB36CB91}"/>
              </a:ext>
            </a:extLst>
          </p:cNvPr>
          <p:cNvSpPr txBox="1"/>
          <p:nvPr/>
        </p:nvSpPr>
        <p:spPr>
          <a:xfrm>
            <a:off x="456236" y="1612339"/>
            <a:ext cx="6094206" cy="3139321"/>
          </a:xfrm>
          <a:prstGeom prst="rect">
            <a:avLst/>
          </a:prstGeom>
          <a:noFill/>
        </p:spPr>
        <p:txBody>
          <a:bodyPr wrap="square">
            <a:spAutoFit/>
          </a:bodyPr>
          <a:lstStyle/>
          <a:p>
            <a:pPr algn="just"/>
            <a:r>
              <a:rPr lang="es-ES" dirty="0"/>
              <a:t>Un </a:t>
            </a:r>
            <a:r>
              <a:rPr lang="es-ES" dirty="0" err="1"/>
              <a:t>Custom</a:t>
            </a:r>
            <a:r>
              <a:rPr lang="es-ES" dirty="0"/>
              <a:t> Hook es una función en </a:t>
            </a:r>
            <a:r>
              <a:rPr lang="es-ES" dirty="0" err="1"/>
              <a:t>React</a:t>
            </a:r>
            <a:r>
              <a:rPr lang="es-ES" dirty="0"/>
              <a:t> que encapsula la lógica de un componente para que pueda ser reutilizada en otros componentes. Permitiendo separar la lógica de un componente y su parte visual, promoviendo la reutilización del código y manteniendo un código más limpio.</a:t>
            </a:r>
          </a:p>
          <a:p>
            <a:pPr algn="just"/>
            <a:endParaRPr lang="es-ES" dirty="0"/>
          </a:p>
          <a:p>
            <a:pPr algn="just"/>
            <a:r>
              <a:rPr lang="es-ES" dirty="0"/>
              <a:t>Dicho de otra manera un conjunto de herramientas que puedes crear y utilizar para realizar tareas específicas en tus componentes de manera más eficiente y ordenada. En lugar de tener que escribir la misma lógica una y otra vez en diferentes componentes.</a:t>
            </a:r>
            <a:endParaRPr lang="en-US" dirty="0"/>
          </a:p>
        </p:txBody>
      </p:sp>
      <p:sp>
        <p:nvSpPr>
          <p:cNvPr id="11" name="CuadroTexto 10">
            <a:extLst>
              <a:ext uri="{FF2B5EF4-FFF2-40B4-BE49-F238E27FC236}">
                <a16:creationId xmlns:a16="http://schemas.microsoft.com/office/drawing/2014/main" id="{4DA2853F-C63D-51F5-8F41-8BB15269C8C0}"/>
              </a:ext>
            </a:extLst>
          </p:cNvPr>
          <p:cNvSpPr txBox="1"/>
          <p:nvPr/>
        </p:nvSpPr>
        <p:spPr>
          <a:xfrm>
            <a:off x="6887584" y="1612339"/>
            <a:ext cx="5053404" cy="2585323"/>
          </a:xfrm>
          <a:prstGeom prst="rect">
            <a:avLst/>
          </a:prstGeom>
          <a:noFill/>
        </p:spPr>
        <p:txBody>
          <a:bodyPr wrap="square">
            <a:spAutoFit/>
          </a:bodyPr>
          <a:lstStyle/>
          <a:p>
            <a:pPr algn="l"/>
            <a:r>
              <a:rPr lang="es-ES" b="1" i="0" dirty="0">
                <a:solidFill>
                  <a:srgbClr val="242424"/>
                </a:solidFill>
                <a:effectLst/>
                <a:highlight>
                  <a:srgbClr val="FFFFFF"/>
                </a:highlight>
                <a:latin typeface="source-serif-pro"/>
              </a:rPr>
              <a:t>Ventajas de </a:t>
            </a:r>
            <a:r>
              <a:rPr lang="es-ES" b="1" i="0" dirty="0" err="1">
                <a:solidFill>
                  <a:srgbClr val="242424"/>
                </a:solidFill>
                <a:effectLst/>
                <a:highlight>
                  <a:srgbClr val="FFFFFF"/>
                </a:highlight>
                <a:latin typeface="source-serif-pro"/>
              </a:rPr>
              <a:t>Custom</a:t>
            </a:r>
            <a:r>
              <a:rPr lang="es-ES" b="1" i="0" dirty="0">
                <a:solidFill>
                  <a:srgbClr val="242424"/>
                </a:solidFill>
                <a:effectLst/>
                <a:highlight>
                  <a:srgbClr val="FFFFFF"/>
                </a:highlight>
                <a:latin typeface="source-serif-pro"/>
              </a:rPr>
              <a:t> </a:t>
            </a:r>
            <a:r>
              <a:rPr lang="es-ES" b="1" i="0" dirty="0" err="1">
                <a:solidFill>
                  <a:srgbClr val="242424"/>
                </a:solidFill>
                <a:effectLst/>
                <a:highlight>
                  <a:srgbClr val="FFFFFF"/>
                </a:highlight>
                <a:latin typeface="source-serif-pro"/>
              </a:rPr>
              <a:t>Hooks</a:t>
            </a:r>
            <a:endParaRPr lang="es-ES" b="1" i="0" dirty="0">
              <a:solidFill>
                <a:srgbClr val="242424"/>
              </a:solidFill>
              <a:effectLst/>
              <a:highlight>
                <a:srgbClr val="FFFFFF"/>
              </a:highlight>
              <a:latin typeface="source-serif-pro"/>
            </a:endParaRPr>
          </a:p>
          <a:p>
            <a:pPr algn="l"/>
            <a:endParaRPr lang="es-ES" b="0" i="0" dirty="0">
              <a:solidFill>
                <a:srgbClr val="242424"/>
              </a:solidFill>
              <a:effectLst/>
              <a:highlight>
                <a:srgbClr val="FFFFFF"/>
              </a:highlight>
              <a:latin typeface="source-serif-pro"/>
            </a:endParaRPr>
          </a:p>
          <a:p>
            <a:pPr algn="l">
              <a:buFont typeface="Arial" panose="020B0604020202020204" pitchFamily="34" charset="0"/>
              <a:buChar char="•"/>
            </a:pPr>
            <a:r>
              <a:rPr lang="es-ES" b="1" i="0" dirty="0">
                <a:solidFill>
                  <a:srgbClr val="242424"/>
                </a:solidFill>
                <a:effectLst/>
                <a:highlight>
                  <a:srgbClr val="FFFFFF"/>
                </a:highlight>
                <a:latin typeface="source-serif-pro"/>
              </a:rPr>
              <a:t>Reutilización de código:</a:t>
            </a:r>
            <a:r>
              <a:rPr lang="es-ES" b="0" i="0" dirty="0">
                <a:solidFill>
                  <a:srgbClr val="242424"/>
                </a:solidFill>
                <a:effectLst/>
                <a:highlight>
                  <a:srgbClr val="FFFFFF"/>
                </a:highlight>
                <a:latin typeface="source-serif-pro"/>
              </a:rPr>
              <a:t> Puedes reutilizar la lógica de un </a:t>
            </a:r>
            <a:r>
              <a:rPr lang="es-ES" b="0" i="0" dirty="0" err="1">
                <a:solidFill>
                  <a:srgbClr val="242424"/>
                </a:solidFill>
                <a:effectLst/>
                <a:highlight>
                  <a:srgbClr val="FFFFFF"/>
                </a:highlight>
                <a:latin typeface="source-serif-pro"/>
              </a:rPr>
              <a:t>Custom</a:t>
            </a:r>
            <a:r>
              <a:rPr lang="es-ES" b="0" i="0" dirty="0">
                <a:solidFill>
                  <a:srgbClr val="242424"/>
                </a:solidFill>
                <a:effectLst/>
                <a:highlight>
                  <a:srgbClr val="FFFFFF"/>
                </a:highlight>
                <a:latin typeface="source-serif-pro"/>
              </a:rPr>
              <a:t> Hook en múltiples componentes.</a:t>
            </a:r>
          </a:p>
          <a:p>
            <a:pPr algn="l">
              <a:buFont typeface="Arial" panose="020B0604020202020204" pitchFamily="34" charset="0"/>
              <a:buChar char="•"/>
            </a:pPr>
            <a:r>
              <a:rPr lang="es-ES" b="1" i="0" dirty="0">
                <a:solidFill>
                  <a:srgbClr val="242424"/>
                </a:solidFill>
                <a:effectLst/>
                <a:highlight>
                  <a:srgbClr val="FFFFFF"/>
                </a:highlight>
                <a:latin typeface="source-serif-pro"/>
              </a:rPr>
              <a:t>Separación de preocupaciones:</a:t>
            </a:r>
            <a:r>
              <a:rPr lang="es-ES" b="0" i="0" dirty="0">
                <a:solidFill>
                  <a:srgbClr val="242424"/>
                </a:solidFill>
                <a:effectLst/>
                <a:highlight>
                  <a:srgbClr val="FFFFFF"/>
                </a:highlight>
                <a:latin typeface="source-serif-pro"/>
              </a:rPr>
              <a:t> Separa la lógica del componente de su representación visual, lo que facilita el mantenimiento.</a:t>
            </a:r>
          </a:p>
          <a:p>
            <a:pPr algn="l">
              <a:buFont typeface="Arial" panose="020B0604020202020204" pitchFamily="34" charset="0"/>
              <a:buChar char="•"/>
            </a:pPr>
            <a:r>
              <a:rPr lang="es-ES" b="1" i="0" dirty="0">
                <a:solidFill>
                  <a:srgbClr val="242424"/>
                </a:solidFill>
                <a:effectLst/>
                <a:highlight>
                  <a:srgbClr val="FFFFFF"/>
                </a:highlight>
                <a:latin typeface="source-serif-pro"/>
              </a:rPr>
              <a:t>Mejora la legibilidad:</a:t>
            </a:r>
            <a:r>
              <a:rPr lang="es-ES" b="0" i="0" dirty="0">
                <a:solidFill>
                  <a:srgbClr val="242424"/>
                </a:solidFill>
                <a:effectLst/>
                <a:highlight>
                  <a:srgbClr val="FFFFFF"/>
                </a:highlight>
                <a:latin typeface="source-serif-pro"/>
              </a:rPr>
              <a:t> Hace que el código de tus componentes sea más limpio y fácil de entender.</a:t>
            </a:r>
          </a:p>
        </p:txBody>
      </p:sp>
      <p:sp>
        <p:nvSpPr>
          <p:cNvPr id="14" name="CuadroTexto 13">
            <a:extLst>
              <a:ext uri="{FF2B5EF4-FFF2-40B4-BE49-F238E27FC236}">
                <a16:creationId xmlns:a16="http://schemas.microsoft.com/office/drawing/2014/main" id="{6FC9D75D-1D93-BB3D-1EDD-4905C852CDBA}"/>
              </a:ext>
            </a:extLst>
          </p:cNvPr>
          <p:cNvSpPr txBox="1"/>
          <p:nvPr/>
        </p:nvSpPr>
        <p:spPr>
          <a:xfrm>
            <a:off x="456236" y="4861500"/>
            <a:ext cx="6094206" cy="2031325"/>
          </a:xfrm>
          <a:prstGeom prst="rect">
            <a:avLst/>
          </a:prstGeom>
          <a:noFill/>
        </p:spPr>
        <p:txBody>
          <a:bodyPr wrap="square">
            <a:spAutoFit/>
          </a:bodyPr>
          <a:lstStyle/>
          <a:p>
            <a:pPr algn="just"/>
            <a:r>
              <a:rPr lang="es-ES" b="1" i="0" dirty="0">
                <a:solidFill>
                  <a:srgbClr val="242424"/>
                </a:solidFill>
                <a:effectLst/>
                <a:highlight>
                  <a:srgbClr val="FFFFFF"/>
                </a:highlight>
                <a:latin typeface="source-serif-pro"/>
              </a:rPr>
              <a:t>Cuándo Usar </a:t>
            </a:r>
            <a:r>
              <a:rPr lang="es-ES" b="1" i="0" dirty="0" err="1">
                <a:solidFill>
                  <a:srgbClr val="242424"/>
                </a:solidFill>
                <a:effectLst/>
                <a:highlight>
                  <a:srgbClr val="FFFFFF"/>
                </a:highlight>
                <a:latin typeface="source-serif-pro"/>
              </a:rPr>
              <a:t>Custom</a:t>
            </a:r>
            <a:r>
              <a:rPr lang="es-ES" b="1" i="0" dirty="0">
                <a:solidFill>
                  <a:srgbClr val="242424"/>
                </a:solidFill>
                <a:effectLst/>
                <a:highlight>
                  <a:srgbClr val="FFFFFF"/>
                </a:highlight>
                <a:latin typeface="source-serif-pro"/>
              </a:rPr>
              <a:t> </a:t>
            </a:r>
            <a:r>
              <a:rPr lang="es-ES" b="1" i="0" dirty="0" err="1">
                <a:solidFill>
                  <a:srgbClr val="242424"/>
                </a:solidFill>
                <a:effectLst/>
                <a:highlight>
                  <a:srgbClr val="FFFFFF"/>
                </a:highlight>
                <a:latin typeface="source-serif-pro"/>
              </a:rPr>
              <a:t>Hooks</a:t>
            </a:r>
            <a:endParaRPr lang="es-ES" b="0" i="0" dirty="0">
              <a:solidFill>
                <a:srgbClr val="242424"/>
              </a:solidFill>
              <a:effectLst/>
              <a:highlight>
                <a:srgbClr val="FFFFFF"/>
              </a:highlight>
              <a:latin typeface="source-serif-pro"/>
            </a:endParaRPr>
          </a:p>
          <a:p>
            <a:pPr algn="just">
              <a:buFont typeface="Arial" panose="020B0604020202020204" pitchFamily="34" charset="0"/>
              <a:buChar char="•"/>
            </a:pPr>
            <a:r>
              <a:rPr lang="es-ES" b="0" i="0" dirty="0">
                <a:solidFill>
                  <a:srgbClr val="242424"/>
                </a:solidFill>
                <a:effectLst/>
                <a:highlight>
                  <a:srgbClr val="FFFFFF"/>
                </a:highlight>
                <a:latin typeface="source-serif-pro"/>
              </a:rPr>
              <a:t>Usa </a:t>
            </a:r>
            <a:r>
              <a:rPr lang="es-ES" b="0" i="0" dirty="0" err="1">
                <a:solidFill>
                  <a:srgbClr val="242424"/>
                </a:solidFill>
                <a:effectLst/>
                <a:highlight>
                  <a:srgbClr val="FFFFFF"/>
                </a:highlight>
                <a:latin typeface="source-serif-pro"/>
              </a:rPr>
              <a:t>Custom</a:t>
            </a:r>
            <a:r>
              <a:rPr lang="es-ES" b="0" i="0" dirty="0">
                <a:solidFill>
                  <a:srgbClr val="242424"/>
                </a:solidFill>
                <a:effectLst/>
                <a:highlight>
                  <a:srgbClr val="FFFFFF"/>
                </a:highlight>
                <a:latin typeface="source-serif-pro"/>
              </a:rPr>
              <a:t> </a:t>
            </a:r>
            <a:r>
              <a:rPr lang="es-ES" b="0" i="0" dirty="0" err="1">
                <a:solidFill>
                  <a:srgbClr val="242424"/>
                </a:solidFill>
                <a:effectLst/>
                <a:highlight>
                  <a:srgbClr val="FFFFFF"/>
                </a:highlight>
                <a:latin typeface="source-serif-pro"/>
              </a:rPr>
              <a:t>Hooks</a:t>
            </a:r>
            <a:r>
              <a:rPr lang="es-ES" b="0" i="0" dirty="0">
                <a:solidFill>
                  <a:srgbClr val="242424"/>
                </a:solidFill>
                <a:effectLst/>
                <a:highlight>
                  <a:srgbClr val="FFFFFF"/>
                </a:highlight>
                <a:latin typeface="source-serif-pro"/>
              </a:rPr>
              <a:t> cuando necesites compartir lógica entre componentes. Esto evita la duplicación de código.</a:t>
            </a:r>
          </a:p>
          <a:p>
            <a:pPr algn="just">
              <a:buFont typeface="Arial" panose="020B0604020202020204" pitchFamily="34" charset="0"/>
              <a:buChar char="•"/>
            </a:pPr>
            <a:r>
              <a:rPr lang="es-ES" b="0" i="0" dirty="0">
                <a:solidFill>
                  <a:srgbClr val="242424"/>
                </a:solidFill>
                <a:effectLst/>
                <a:highlight>
                  <a:srgbClr val="FFFFFF"/>
                </a:highlight>
                <a:latin typeface="source-serif-pro"/>
              </a:rPr>
              <a:t>Utiliza </a:t>
            </a:r>
            <a:r>
              <a:rPr lang="es-ES" b="0" i="0" dirty="0" err="1">
                <a:solidFill>
                  <a:srgbClr val="242424"/>
                </a:solidFill>
                <a:effectLst/>
                <a:highlight>
                  <a:srgbClr val="FFFFFF"/>
                </a:highlight>
                <a:latin typeface="source-serif-pro"/>
              </a:rPr>
              <a:t>Custom</a:t>
            </a:r>
            <a:r>
              <a:rPr lang="es-ES" b="0" i="0" dirty="0">
                <a:solidFill>
                  <a:srgbClr val="242424"/>
                </a:solidFill>
                <a:effectLst/>
                <a:highlight>
                  <a:srgbClr val="FFFFFF"/>
                </a:highlight>
                <a:latin typeface="source-serif-pro"/>
              </a:rPr>
              <a:t> </a:t>
            </a:r>
            <a:r>
              <a:rPr lang="es-ES" b="0" i="0" dirty="0" err="1">
                <a:solidFill>
                  <a:srgbClr val="242424"/>
                </a:solidFill>
                <a:effectLst/>
                <a:highlight>
                  <a:srgbClr val="FFFFFF"/>
                </a:highlight>
                <a:latin typeface="source-serif-pro"/>
              </a:rPr>
              <a:t>Hooks</a:t>
            </a:r>
            <a:r>
              <a:rPr lang="es-ES" b="0" i="0" dirty="0">
                <a:solidFill>
                  <a:srgbClr val="242424"/>
                </a:solidFill>
                <a:effectLst/>
                <a:highlight>
                  <a:srgbClr val="FFFFFF"/>
                </a:highlight>
                <a:latin typeface="source-serif-pro"/>
              </a:rPr>
              <a:t> para abstraer la lógica compleja. Cuando una parte de tu componente se vuelve complicada, es útil encapsularla en un </a:t>
            </a:r>
            <a:r>
              <a:rPr lang="es-ES" b="0" i="0" dirty="0" err="1">
                <a:solidFill>
                  <a:srgbClr val="242424"/>
                </a:solidFill>
                <a:effectLst/>
                <a:highlight>
                  <a:srgbClr val="FFFFFF"/>
                </a:highlight>
                <a:latin typeface="source-serif-pro"/>
              </a:rPr>
              <a:t>Custom</a:t>
            </a:r>
            <a:r>
              <a:rPr lang="es-ES" b="0" i="0" dirty="0">
                <a:solidFill>
                  <a:srgbClr val="242424"/>
                </a:solidFill>
                <a:effectLst/>
                <a:highlight>
                  <a:srgbClr val="FFFFFF"/>
                </a:highlight>
                <a:latin typeface="source-serif-pro"/>
              </a:rPr>
              <a:t> Hook para mantener el componente principal limpio y legible.</a:t>
            </a:r>
          </a:p>
        </p:txBody>
      </p:sp>
    </p:spTree>
    <p:extLst>
      <p:ext uri="{BB962C8B-B14F-4D97-AF65-F5344CB8AC3E}">
        <p14:creationId xmlns:p14="http://schemas.microsoft.com/office/powerpoint/2010/main" val="1198517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n-US" dirty="0">
                <a:solidFill>
                  <a:schemeClr val="bg1"/>
                </a:solidFill>
                <a:latin typeface="Work Sans Medium" pitchFamily="2" charset="77"/>
              </a:rPr>
              <a:t>Hooks: </a:t>
            </a:r>
            <a:r>
              <a:rPr lang="en-US" dirty="0" err="1">
                <a:solidFill>
                  <a:schemeClr val="bg1"/>
                </a:solidFill>
                <a:latin typeface="Work Sans Medium" pitchFamily="2" charset="77"/>
              </a:rPr>
              <a:t>useForm</a:t>
            </a:r>
            <a:r>
              <a:rPr lang="en-US" dirty="0">
                <a:solidFill>
                  <a:schemeClr val="bg1"/>
                </a:solidFill>
                <a:latin typeface="Work Sans Medium" pitchFamily="2" charset="77"/>
              </a:rPr>
              <a:t>-hook form</a:t>
            </a:r>
            <a:endParaRPr lang="es-CO" dirty="0">
              <a:solidFill>
                <a:schemeClr val="bg1"/>
              </a:solidFill>
              <a:latin typeface="Work Sans Medium" pitchFamily="2" charset="77"/>
            </a:endParaRPr>
          </a:p>
        </p:txBody>
      </p:sp>
      <p:sp>
        <p:nvSpPr>
          <p:cNvPr id="5" name="CuadroTexto 4">
            <a:extLst>
              <a:ext uri="{FF2B5EF4-FFF2-40B4-BE49-F238E27FC236}">
                <a16:creationId xmlns:a16="http://schemas.microsoft.com/office/drawing/2014/main" id="{576458A0-3B0E-AF70-ED22-D5736C09369F}"/>
              </a:ext>
            </a:extLst>
          </p:cNvPr>
          <p:cNvSpPr txBox="1"/>
          <p:nvPr/>
        </p:nvSpPr>
        <p:spPr>
          <a:xfrm>
            <a:off x="562087" y="1913075"/>
            <a:ext cx="6094206" cy="369332"/>
          </a:xfrm>
          <a:prstGeom prst="rect">
            <a:avLst/>
          </a:prstGeom>
          <a:noFill/>
        </p:spPr>
        <p:txBody>
          <a:bodyPr wrap="square">
            <a:spAutoFit/>
          </a:bodyPr>
          <a:lstStyle/>
          <a:p>
            <a:r>
              <a:rPr lang="en-US" b="1" dirty="0" err="1"/>
              <a:t>npm</a:t>
            </a:r>
            <a:r>
              <a:rPr lang="en-US" b="1" dirty="0"/>
              <a:t> install react-hook-form</a:t>
            </a:r>
          </a:p>
        </p:txBody>
      </p:sp>
      <p:sp>
        <p:nvSpPr>
          <p:cNvPr id="7" name="CuadroTexto 6">
            <a:extLst>
              <a:ext uri="{FF2B5EF4-FFF2-40B4-BE49-F238E27FC236}">
                <a16:creationId xmlns:a16="http://schemas.microsoft.com/office/drawing/2014/main" id="{3816670D-5507-410C-4283-561CB08C9D9B}"/>
              </a:ext>
            </a:extLst>
          </p:cNvPr>
          <p:cNvSpPr txBox="1"/>
          <p:nvPr/>
        </p:nvSpPr>
        <p:spPr>
          <a:xfrm>
            <a:off x="562087" y="2484622"/>
            <a:ext cx="6094206" cy="1477328"/>
          </a:xfrm>
          <a:prstGeom prst="rect">
            <a:avLst/>
          </a:prstGeom>
          <a:noFill/>
        </p:spPr>
        <p:txBody>
          <a:bodyPr wrap="square">
            <a:spAutoFit/>
          </a:bodyPr>
          <a:lstStyle/>
          <a:p>
            <a:r>
              <a:rPr lang="es-ES" dirty="0" err="1"/>
              <a:t>React</a:t>
            </a:r>
            <a:r>
              <a:rPr lang="es-ES" dirty="0"/>
              <a:t> Hook </a:t>
            </a:r>
            <a:r>
              <a:rPr lang="es-ES" dirty="0" err="1"/>
              <a:t>Form</a:t>
            </a:r>
            <a:r>
              <a:rPr lang="es-ES" dirty="0"/>
              <a:t> es una biblioteca que te ayuda a validar formularios en </a:t>
            </a:r>
            <a:r>
              <a:rPr lang="es-ES" dirty="0" err="1"/>
              <a:t>React</a:t>
            </a:r>
            <a:r>
              <a:rPr lang="es-ES" dirty="0"/>
              <a:t>. Es una biblioteca mínima sin otras dependencias, a la vez que eficiente y fácil de usar, lo que requiere que los desarrolladores escriban menos líneas de código que otras bibliotecas de formularios.</a:t>
            </a:r>
            <a:endParaRPr lang="en-US" dirty="0"/>
          </a:p>
        </p:txBody>
      </p:sp>
      <p:sp>
        <p:nvSpPr>
          <p:cNvPr id="9" name="CuadroTexto 8">
            <a:extLst>
              <a:ext uri="{FF2B5EF4-FFF2-40B4-BE49-F238E27FC236}">
                <a16:creationId xmlns:a16="http://schemas.microsoft.com/office/drawing/2014/main" id="{2036B157-FC64-B510-B33E-89FFE4BCAABC}"/>
              </a:ext>
            </a:extLst>
          </p:cNvPr>
          <p:cNvSpPr txBox="1"/>
          <p:nvPr/>
        </p:nvSpPr>
        <p:spPr>
          <a:xfrm>
            <a:off x="562087" y="4164165"/>
            <a:ext cx="5623560" cy="2308324"/>
          </a:xfrm>
          <a:prstGeom prst="rect">
            <a:avLst/>
          </a:prstGeom>
          <a:noFill/>
        </p:spPr>
        <p:txBody>
          <a:bodyPr wrap="square">
            <a:spAutoFit/>
          </a:bodyPr>
          <a:lstStyle/>
          <a:p>
            <a:r>
              <a:rPr lang="es-ES" dirty="0" err="1"/>
              <a:t>React</a:t>
            </a:r>
            <a:r>
              <a:rPr lang="es-ES" dirty="0"/>
              <a:t> Hook </a:t>
            </a:r>
            <a:r>
              <a:rPr lang="es-ES" dirty="0" err="1"/>
              <a:t>Form</a:t>
            </a:r>
            <a:r>
              <a:rPr lang="es-ES" dirty="0"/>
              <a:t> adopta un enfoque ligeramente diferente al de otras bibliotecas de formularios del ecosistema </a:t>
            </a:r>
            <a:r>
              <a:rPr lang="es-ES" dirty="0" err="1"/>
              <a:t>React</a:t>
            </a:r>
            <a:r>
              <a:rPr lang="es-ES" dirty="0"/>
              <a:t>, ya que adopta el uso de entradas no controladas </a:t>
            </a:r>
            <a:r>
              <a:rPr lang="es-ES" dirty="0" err="1"/>
              <a:t>refen</a:t>
            </a:r>
            <a:r>
              <a:rPr lang="es-ES" dirty="0"/>
              <a:t> lugar de depender del estado para controlar las entradas. Este enfoque hace que los formularios tengan un mejor rendimiento y reduce la cantidad de repeticiones de renderizado.</a:t>
            </a:r>
          </a:p>
          <a:p>
            <a:endParaRPr lang="es-ES" dirty="0"/>
          </a:p>
        </p:txBody>
      </p:sp>
      <p:sp>
        <p:nvSpPr>
          <p:cNvPr id="12" name="CuadroTexto 11">
            <a:extLst>
              <a:ext uri="{FF2B5EF4-FFF2-40B4-BE49-F238E27FC236}">
                <a16:creationId xmlns:a16="http://schemas.microsoft.com/office/drawing/2014/main" id="{CD2BADCA-3697-5F9C-58BC-68A33A654BF4}"/>
              </a:ext>
            </a:extLst>
          </p:cNvPr>
          <p:cNvSpPr txBox="1"/>
          <p:nvPr/>
        </p:nvSpPr>
        <p:spPr>
          <a:xfrm>
            <a:off x="6092414" y="1648092"/>
            <a:ext cx="6094206" cy="2862322"/>
          </a:xfrm>
          <a:prstGeom prst="rect">
            <a:avLst/>
          </a:prstGeom>
          <a:noFill/>
        </p:spPr>
        <p:txBody>
          <a:bodyPr wrap="square">
            <a:spAutoFit/>
          </a:bodyPr>
          <a:lstStyle/>
          <a:p>
            <a:r>
              <a:rPr lang="en-US" dirty="0"/>
              <a:t>Primero, </a:t>
            </a:r>
            <a:r>
              <a:rPr lang="en-US" dirty="0" err="1"/>
              <a:t>importe</a:t>
            </a:r>
            <a:r>
              <a:rPr lang="en-US" dirty="0"/>
              <a:t> </a:t>
            </a:r>
            <a:r>
              <a:rPr lang="en-US" dirty="0" err="1"/>
              <a:t>el</a:t>
            </a:r>
            <a:r>
              <a:rPr lang="en-US" dirty="0"/>
              <a:t> </a:t>
            </a:r>
            <a:r>
              <a:rPr lang="en-US" dirty="0" err="1"/>
              <a:t>useFormHook</a:t>
            </a:r>
            <a:r>
              <a:rPr lang="en-US" dirty="0"/>
              <a:t> </a:t>
            </a:r>
            <a:r>
              <a:rPr lang="en-US" dirty="0" err="1"/>
              <a:t>desde</a:t>
            </a:r>
            <a:r>
              <a:rPr lang="en-US" dirty="0"/>
              <a:t> </a:t>
            </a:r>
            <a:r>
              <a:rPr lang="en-US" dirty="0" err="1"/>
              <a:t>el</a:t>
            </a:r>
            <a:r>
              <a:rPr lang="en-US" dirty="0"/>
              <a:t> </a:t>
            </a:r>
            <a:r>
              <a:rPr lang="en-US" dirty="0" err="1"/>
              <a:t>paquete:react-hook-form</a:t>
            </a:r>
            <a:endParaRPr lang="en-US" dirty="0"/>
          </a:p>
          <a:p>
            <a:endParaRPr lang="en-US" dirty="0"/>
          </a:p>
          <a:p>
            <a:r>
              <a:rPr lang="en-US" b="1" dirty="0"/>
              <a:t>import { </a:t>
            </a:r>
            <a:r>
              <a:rPr lang="en-US" b="1" dirty="0" err="1"/>
              <a:t>useForm</a:t>
            </a:r>
            <a:r>
              <a:rPr lang="en-US" b="1" dirty="0"/>
              <a:t> } </a:t>
            </a:r>
            <a:r>
              <a:rPr lang="en-US" b="1" dirty="0" err="1"/>
              <a:t>from"react</a:t>
            </a:r>
            <a:r>
              <a:rPr lang="en-US" b="1" dirty="0"/>
              <a:t>-hook-form" ;   </a:t>
            </a:r>
          </a:p>
          <a:p>
            <a:r>
              <a:rPr lang="en-US" dirty="0"/>
              <a:t>Luego, </a:t>
            </a:r>
            <a:r>
              <a:rPr lang="en-US" dirty="0" err="1"/>
              <a:t>dentro</a:t>
            </a:r>
            <a:r>
              <a:rPr lang="en-US" dirty="0"/>
              <a:t> de </a:t>
            </a:r>
            <a:r>
              <a:rPr lang="en-US" dirty="0" err="1"/>
              <a:t>tu</a:t>
            </a:r>
            <a:r>
              <a:rPr lang="en-US" dirty="0"/>
              <a:t> </a:t>
            </a:r>
            <a:r>
              <a:rPr lang="en-US" dirty="0" err="1"/>
              <a:t>componente</a:t>
            </a:r>
            <a:r>
              <a:rPr lang="en-US" dirty="0"/>
              <a:t>, </a:t>
            </a:r>
            <a:r>
              <a:rPr lang="en-US" dirty="0" err="1"/>
              <a:t>utiliza</a:t>
            </a:r>
            <a:r>
              <a:rPr lang="en-US" dirty="0"/>
              <a:t> </a:t>
            </a:r>
            <a:r>
              <a:rPr lang="en-US" dirty="0" err="1"/>
              <a:t>el</a:t>
            </a:r>
            <a:r>
              <a:rPr lang="en-US" dirty="0"/>
              <a:t> Hook de la </a:t>
            </a:r>
            <a:r>
              <a:rPr lang="en-US" dirty="0" err="1"/>
              <a:t>siguiente</a:t>
            </a:r>
            <a:r>
              <a:rPr lang="en-US" dirty="0"/>
              <a:t> </a:t>
            </a:r>
            <a:r>
              <a:rPr lang="en-US" dirty="0" err="1"/>
              <a:t>manera</a:t>
            </a:r>
            <a:r>
              <a:rPr lang="en-US" dirty="0"/>
              <a:t>:</a:t>
            </a:r>
          </a:p>
          <a:p>
            <a:endParaRPr lang="en-US" dirty="0"/>
          </a:p>
          <a:p>
            <a:r>
              <a:rPr lang="en-US" b="1" dirty="0"/>
              <a:t>const { </a:t>
            </a:r>
            <a:r>
              <a:rPr lang="en-US" b="1" dirty="0" err="1"/>
              <a:t>registrarse</a:t>
            </a:r>
            <a:r>
              <a:rPr lang="en-US" b="1" dirty="0"/>
              <a:t> , </a:t>
            </a:r>
            <a:r>
              <a:rPr lang="en-US" b="1" dirty="0" err="1"/>
              <a:t>manejarEnviar</a:t>
            </a:r>
            <a:r>
              <a:rPr lang="en-US" b="1" dirty="0"/>
              <a:t> } = </a:t>
            </a:r>
            <a:r>
              <a:rPr lang="en-US" b="1" dirty="0" err="1"/>
              <a:t>useForm</a:t>
            </a:r>
            <a:r>
              <a:rPr lang="en-US" b="1" dirty="0"/>
              <a:t> ();   </a:t>
            </a:r>
          </a:p>
          <a:p>
            <a:r>
              <a:rPr lang="en-US" dirty="0"/>
              <a:t>El </a:t>
            </a:r>
            <a:r>
              <a:rPr lang="en-US" dirty="0" err="1"/>
              <a:t>useFormHook</a:t>
            </a:r>
            <a:r>
              <a:rPr lang="en-US" dirty="0"/>
              <a:t> </a:t>
            </a:r>
            <a:r>
              <a:rPr lang="en-US" dirty="0" err="1"/>
              <a:t>devuelve</a:t>
            </a:r>
            <a:r>
              <a:rPr lang="en-US" dirty="0"/>
              <a:t> un </a:t>
            </a:r>
            <a:r>
              <a:rPr lang="en-US" dirty="0" err="1"/>
              <a:t>objeto</a:t>
            </a:r>
            <a:r>
              <a:rPr lang="en-US" dirty="0"/>
              <a:t> que </a:t>
            </a:r>
            <a:r>
              <a:rPr lang="en-US" dirty="0" err="1"/>
              <a:t>contiene</a:t>
            </a:r>
            <a:r>
              <a:rPr lang="en-US" dirty="0"/>
              <a:t> </a:t>
            </a:r>
            <a:r>
              <a:rPr lang="en-US" dirty="0" err="1"/>
              <a:t>algunas</a:t>
            </a:r>
            <a:r>
              <a:rPr lang="en-US" dirty="0"/>
              <a:t> </a:t>
            </a:r>
            <a:r>
              <a:rPr lang="en-US" dirty="0" err="1"/>
              <a:t>propiedades</a:t>
            </a:r>
            <a:r>
              <a:rPr lang="en-US" dirty="0"/>
              <a:t>. Por </a:t>
            </a:r>
            <a:r>
              <a:rPr lang="en-US" dirty="0" err="1"/>
              <a:t>ahora</a:t>
            </a:r>
            <a:r>
              <a:rPr lang="en-US" dirty="0"/>
              <a:t>, solo </a:t>
            </a:r>
            <a:r>
              <a:rPr lang="en-US" dirty="0" err="1"/>
              <a:t>necesitas</a:t>
            </a:r>
            <a:r>
              <a:rPr lang="en-US" dirty="0"/>
              <a:t> </a:t>
            </a:r>
            <a:r>
              <a:rPr lang="en-US" dirty="0" err="1"/>
              <a:t>registery</a:t>
            </a:r>
            <a:r>
              <a:rPr lang="en-US" dirty="0"/>
              <a:t> </a:t>
            </a:r>
            <a:r>
              <a:rPr lang="en-US" dirty="0" err="1"/>
              <a:t>handleSubmit</a:t>
            </a:r>
            <a:r>
              <a:rPr lang="en-US" dirty="0"/>
              <a:t>.</a:t>
            </a:r>
          </a:p>
        </p:txBody>
      </p:sp>
      <p:sp>
        <p:nvSpPr>
          <p:cNvPr id="16" name="CuadroTexto 15">
            <a:extLst>
              <a:ext uri="{FF2B5EF4-FFF2-40B4-BE49-F238E27FC236}">
                <a16:creationId xmlns:a16="http://schemas.microsoft.com/office/drawing/2014/main" id="{60E38878-C16F-067A-2423-15CA291F8A0D}"/>
              </a:ext>
            </a:extLst>
          </p:cNvPr>
          <p:cNvSpPr txBox="1"/>
          <p:nvPr/>
        </p:nvSpPr>
        <p:spPr>
          <a:xfrm>
            <a:off x="6090621" y="4748243"/>
            <a:ext cx="5957944" cy="923330"/>
          </a:xfrm>
          <a:prstGeom prst="rect">
            <a:avLst/>
          </a:prstGeom>
          <a:noFill/>
        </p:spPr>
        <p:txBody>
          <a:bodyPr wrap="square">
            <a:spAutoFit/>
          </a:bodyPr>
          <a:lstStyle/>
          <a:p>
            <a:r>
              <a:rPr lang="es-ES" dirty="0"/>
              <a:t>El </a:t>
            </a:r>
            <a:r>
              <a:rPr lang="es-ES" b="1" dirty="0" err="1"/>
              <a:t>registermétodo</a:t>
            </a:r>
            <a:r>
              <a:rPr lang="es-ES" b="1" dirty="0"/>
              <a:t> </a:t>
            </a:r>
            <a:r>
              <a:rPr lang="es-ES" dirty="0"/>
              <a:t>le ayuda a registrar un campo de entrada en </a:t>
            </a:r>
            <a:r>
              <a:rPr lang="es-ES" dirty="0" err="1"/>
              <a:t>React</a:t>
            </a:r>
            <a:r>
              <a:rPr lang="es-ES" dirty="0"/>
              <a:t> Hook </a:t>
            </a:r>
            <a:r>
              <a:rPr lang="es-ES" dirty="0" err="1"/>
              <a:t>Form</a:t>
            </a:r>
            <a:r>
              <a:rPr lang="es-ES" dirty="0"/>
              <a:t> para que esté disponible para la validación y se pueda rastrear su valor para detectar cambios.</a:t>
            </a:r>
            <a:endParaRPr lang="en-US" dirty="0"/>
          </a:p>
        </p:txBody>
      </p:sp>
      <p:sp>
        <p:nvSpPr>
          <p:cNvPr id="19" name="CuadroTexto 18">
            <a:extLst>
              <a:ext uri="{FF2B5EF4-FFF2-40B4-BE49-F238E27FC236}">
                <a16:creationId xmlns:a16="http://schemas.microsoft.com/office/drawing/2014/main" id="{7FA173BE-6900-9CCD-56BD-F6665523B58F}"/>
              </a:ext>
            </a:extLst>
          </p:cNvPr>
          <p:cNvSpPr txBox="1"/>
          <p:nvPr/>
        </p:nvSpPr>
        <p:spPr>
          <a:xfrm>
            <a:off x="6138134" y="5735493"/>
            <a:ext cx="5910431" cy="923330"/>
          </a:xfrm>
          <a:prstGeom prst="rect">
            <a:avLst/>
          </a:prstGeom>
          <a:noFill/>
        </p:spPr>
        <p:txBody>
          <a:bodyPr wrap="square">
            <a:spAutoFit/>
          </a:bodyPr>
          <a:lstStyle/>
          <a:p>
            <a:r>
              <a:rPr lang="es-ES" dirty="0"/>
              <a:t>El </a:t>
            </a:r>
            <a:r>
              <a:rPr lang="es-ES" b="1" dirty="0" err="1"/>
              <a:t>handleSubmitmétodo</a:t>
            </a:r>
            <a:r>
              <a:rPr lang="es-ES" dirty="0"/>
              <a:t>, como sugiere el nombre, administra el envío del formulario. Debe pasarse como valor a la </a:t>
            </a:r>
            <a:r>
              <a:rPr lang="es-ES" dirty="0" err="1"/>
              <a:t>onSubmitpropiedad</a:t>
            </a:r>
            <a:r>
              <a:rPr lang="es-ES" dirty="0"/>
              <a:t> del </a:t>
            </a:r>
            <a:r>
              <a:rPr lang="es-ES" dirty="0" err="1"/>
              <a:t>formcomponente</a:t>
            </a:r>
            <a:r>
              <a:rPr lang="es-ES" dirty="0"/>
              <a:t>.</a:t>
            </a:r>
            <a:endParaRPr lang="en-US" dirty="0"/>
          </a:p>
        </p:txBody>
      </p:sp>
    </p:spTree>
    <p:extLst>
      <p:ext uri="{BB962C8B-B14F-4D97-AF65-F5344CB8AC3E}">
        <p14:creationId xmlns:p14="http://schemas.microsoft.com/office/powerpoint/2010/main" val="1564169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20969</TotalTime>
  <Words>2146</Words>
  <Application>Microsoft Office PowerPoint</Application>
  <PresentationFormat>Panorámica</PresentationFormat>
  <Paragraphs>142</Paragraphs>
  <Slides>16</Slides>
  <Notes>15</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16</vt:i4>
      </vt:variant>
    </vt:vector>
  </HeadingPairs>
  <TitlesOfParts>
    <vt:vector size="25" baseType="lpstr">
      <vt:lpstr>Arial</vt:lpstr>
      <vt:lpstr>Calibri</vt:lpstr>
      <vt:lpstr>Calibri Light</vt:lpstr>
      <vt:lpstr>inherit</vt:lpstr>
      <vt:lpstr>source-serif-pro</vt:lpstr>
      <vt:lpstr>var(--font-serif)</vt:lpstr>
      <vt:lpstr>Work Sans</vt:lpstr>
      <vt:lpstr>Work Sans Medium</vt:lpstr>
      <vt:lpstr>Tema de Office</vt:lpstr>
      <vt:lpstr>Presentación de PowerPoint</vt:lpstr>
      <vt:lpstr>Que es un Hook</vt:lpstr>
      <vt:lpstr>Que es un Hook</vt:lpstr>
      <vt:lpstr>Ventajas de un hook</vt:lpstr>
      <vt:lpstr>Tipos de hooks</vt:lpstr>
      <vt:lpstr>Limites de hooks</vt:lpstr>
      <vt:lpstr>Hooks: useState</vt:lpstr>
      <vt:lpstr>Hooks: useEffect</vt:lpstr>
      <vt:lpstr>Hooks: useContext</vt:lpstr>
      <vt:lpstr>Hooks: useRef</vt:lpstr>
      <vt:lpstr>Hooks: useReducer</vt:lpstr>
      <vt:lpstr>Hooks: useCallback</vt:lpstr>
      <vt:lpstr>Hooks: useMemo</vt:lpstr>
      <vt:lpstr>Hooks: CustomHooks</vt:lpstr>
      <vt:lpstr>Hooks: useForm-hook form</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CARLOS DANIEL GOMEZ DAZA</cp:lastModifiedBy>
  <cp:revision>125</cp:revision>
  <dcterms:created xsi:type="dcterms:W3CDTF">2020-10-01T23:51:28Z</dcterms:created>
  <dcterms:modified xsi:type="dcterms:W3CDTF">2024-08-03T14:54:57Z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